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4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91" r:id="rId26"/>
    <p:sldId id="292" r:id="rId27"/>
    <p:sldId id="293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C219DA8-4063-456A-9331-A8DAEA866BFE}">
          <p14:sldIdLst>
            <p14:sldId id="256"/>
          </p14:sldIdLst>
        </p14:section>
        <p14:section name="İnformasiya Təhlükəsizliyi" id="{DEE931DC-F3E3-49EA-9745-2F2CADB807F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övr" id="{499CC998-BE68-41C5-BC7D-0D66D581C042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Siyasət" id="{F1AFCEF1-C9CC-4D08-AEEF-42C5236ABA54}">
          <p14:sldIdLst>
            <p14:sldId id="271"/>
            <p14:sldId id="272"/>
            <p14:sldId id="273"/>
            <p14:sldId id="274"/>
            <p14:sldId id="275"/>
          </p14:sldIdLst>
        </p14:section>
        <p14:section name="Fiziki təhlükəsizlik" id="{581D02F2-AAC0-48E5-892A-BF03A6E58E96}">
          <p14:sldIdLst>
            <p14:sldId id="276"/>
            <p14:sldId id="277"/>
            <p14:sldId id="278"/>
          </p14:sldIdLst>
        </p14:section>
        <p14:section name="Şəxsi Təcrübə" id="{553DA2FB-FD5C-478A-8176-3113862B91EA}">
          <p14:sldIdLst>
            <p14:sldId id="291"/>
            <p14:sldId id="292"/>
            <p14:sldId id="293"/>
          </p14:sldIdLst>
        </p14:section>
        <p14:section name="UNEC" id="{992D2A15-B4AA-46B4-BEA1-A0D4D89ED858}">
          <p14:sldIdLst>
            <p14:sldId id="279"/>
            <p14:sldId id="280"/>
            <p14:sldId id="281"/>
            <p14:sldId id="282"/>
            <p14:sldId id="283"/>
          </p14:sldIdLst>
        </p14:section>
        <p14:section name="Sektorlar" id="{C5C11EB1-F6CA-48FB-9264-1C6DF95FD95B}">
          <p14:sldIdLst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B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11-Oct-26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60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395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710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468880"/>
            <a:ext cx="1054303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/>
          <p:nvPr/>
        </p:nvSpPr>
        <p:spPr>
          <a:xfrm>
            <a:off x="5641848" y="731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lo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005840"/>
            <a:ext cx="365760" cy="365760"/>
          </a:xfrm>
          <a:prstGeom prst="rect">
            <a:avLst/>
          </a:prstGeom>
        </p:spPr>
      </p:pic>
      <p:sp>
        <p:nvSpPr>
          <p:cNvPr id="4" name="shape2"/>
          <p:cNvSpPr/>
          <p:nvPr/>
        </p:nvSpPr>
        <p:spPr>
          <a:xfrm>
            <a:off x="4956048" y="1874520"/>
            <a:ext cx="2286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3"/>
          <p:cNvSpPr txBox="1"/>
          <p:nvPr/>
        </p:nvSpPr>
        <p:spPr>
          <a:xfrm>
            <a:off x="4956048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 HİSSƏ: ƏSASLAR</a:t>
            </a:r>
            <a:endParaRPr lang="en-US" sz="1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46888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İnformasiya Təhlükəsizliyi</a:t>
            </a:r>
            <a:endParaRPr lang="en-US" sz="5400" dirty="0"/>
          </a:p>
        </p:txBody>
      </p:sp>
      <p:sp>
        <p:nvSpPr>
          <p:cNvPr id="7" name="text4"/>
          <p:cNvSpPr txBox="1"/>
          <p:nvPr/>
        </p:nvSpPr>
        <p:spPr>
          <a:xfrm>
            <a:off x="1371600" y="370332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2"/>
                </a:solidFill>
              </a:rPr>
              <a:t>Təhdidlər, risklər, müdafiə prinsipləri və real tətbiq</a:t>
            </a:r>
            <a:endParaRPr lang="en-US" sz="2200" dirty="0"/>
          </a:p>
        </p:txBody>
      </p:sp>
      <p:sp>
        <p:nvSpPr>
          <p:cNvPr id="8" name="text5"/>
          <p:cNvSpPr txBox="1"/>
          <p:nvPr/>
        </p:nvSpPr>
        <p:spPr>
          <a:xfrm>
            <a:off x="1371600" y="5637402"/>
            <a:ext cx="9445752" cy="489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Təqdim </a:t>
            </a:r>
            <a:r>
              <a:rPr lang="en-US" sz="1600" dirty="0" err="1">
                <a:solidFill>
                  <a:schemeClr val="bg2"/>
                </a:solidFill>
              </a:rPr>
              <a:t>edənlər</a:t>
            </a:r>
            <a:r>
              <a:rPr lang="en-US" sz="1600" dirty="0">
                <a:solidFill>
                  <a:schemeClr val="bg2"/>
                </a:solidFill>
              </a:rPr>
              <a:t>:</a:t>
            </a:r>
            <a:r>
              <a:rPr lang="az-Latn-AZ" sz="1600" dirty="0">
                <a:solidFill>
                  <a:schemeClr val="bg2"/>
                </a:solidFill>
              </a:rPr>
              <a:t> Şamil Qasımov, Xalidə Soltanova, Aysu Nəbiyevə, Aynurə ,</a:t>
            </a:r>
            <a:br>
              <a:rPr lang="az-Latn-AZ" sz="1600" dirty="0">
                <a:solidFill>
                  <a:schemeClr val="bg2"/>
                </a:solidFill>
              </a:rPr>
            </a:br>
            <a:r>
              <a:rPr lang="az-Latn-AZ" sz="1600" dirty="0">
                <a:solidFill>
                  <a:schemeClr val="bg2"/>
                </a:solidFill>
              </a:rPr>
              <a:t>	           Leyl Rüstəmova, Mehdi Vəliyev, Coşqun Nəcəfli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İnformasiya təhlükəsizliyi nədir?</a:t>
            </a:r>
            <a:endParaRPr lang="en-US" sz="3200" dirty="0"/>
          </a:p>
        </p:txBody>
      </p:sp>
      <p:sp>
        <p:nvSpPr>
          <p:cNvPr id="3" name="shape6"/>
          <p:cNvSpPr/>
          <p:nvPr/>
        </p:nvSpPr>
        <p:spPr>
          <a:xfrm>
            <a:off x="548640" y="1280160"/>
            <a:ext cx="5852160" cy="4069080"/>
          </a:xfrm>
          <a:prstGeom prst="roundRect">
            <a:avLst>
              <a:gd name="adj" fmla="val 2247"/>
            </a:avLst>
          </a:prstGeom>
          <a:solidFill>
            <a:schemeClr val="tx2"/>
          </a:solidFill>
          <a:ln/>
        </p:spPr>
      </p:sp>
      <p:sp>
        <p:nvSpPr>
          <p:cNvPr id="4" name="text7"/>
          <p:cNvSpPr txBox="1"/>
          <p:nvPr/>
        </p:nvSpPr>
        <p:spPr>
          <a:xfrm>
            <a:off x="82296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“</a:t>
            </a:r>
            <a:endParaRPr lang="en-US" sz="8000" dirty="0"/>
          </a:p>
        </p:txBody>
      </p:sp>
      <p:sp>
        <p:nvSpPr>
          <p:cNvPr id="5" name="text8"/>
          <p:cNvSpPr txBox="1"/>
          <p:nvPr/>
        </p:nvSpPr>
        <p:spPr>
          <a:xfrm>
            <a:off x="822960" y="2194560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İnformasiya təhlükəsizliyi informasiyanın və onu dəstəkləyən infrastrukturun təsadüfi və ya qərəzli təsirlərdən qorunmuşluğu vəziyyətidir.</a:t>
            </a:r>
            <a:endParaRPr lang="en-US" sz="2200" dirty="0"/>
          </a:p>
        </p:txBody>
      </p:sp>
      <p:sp>
        <p:nvSpPr>
          <p:cNvPr id="6" name="text9"/>
          <p:cNvSpPr txBox="1"/>
          <p:nvPr/>
        </p:nvSpPr>
        <p:spPr>
          <a:xfrm>
            <a:off x="822960" y="4114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Təsirlər təbii, texnogen və ya insan amilindən yarana bilər.</a:t>
            </a:r>
            <a:endParaRPr lang="en-US" sz="1500" dirty="0"/>
          </a:p>
        </p:txBody>
      </p:sp>
      <p:sp>
        <p:nvSpPr>
          <p:cNvPr id="7" name="text10"/>
          <p:cNvSpPr txBox="1"/>
          <p:nvPr/>
        </p:nvSpPr>
        <p:spPr>
          <a:xfrm>
            <a:off x="822960" y="45720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Bu, yalnız texniki məsələ deyil, hüquqi, təşkilati, prosedur və texniki tədbirlərin birgə tətbiqini tələb edən kompleks problemdir.</a:t>
            </a:r>
            <a:endParaRPr lang="en-US" sz="1400" dirty="0"/>
          </a:p>
        </p:txBody>
      </p:sp>
      <p:sp>
        <p:nvSpPr>
          <p:cNvPr id="8" name="shape11"/>
          <p:cNvSpPr/>
          <p:nvPr/>
        </p:nvSpPr>
        <p:spPr>
          <a:xfrm>
            <a:off x="6675120" y="1280160"/>
            <a:ext cx="23682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9" name="shape12"/>
          <p:cNvSpPr/>
          <p:nvPr/>
        </p:nvSpPr>
        <p:spPr>
          <a:xfrm>
            <a:off x="6903720" y="15087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13"/>
          <p:cNvSpPr txBox="1"/>
          <p:nvPr/>
        </p:nvSpPr>
        <p:spPr>
          <a:xfrm>
            <a:off x="69037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14"/>
          <p:cNvSpPr txBox="1"/>
          <p:nvPr/>
        </p:nvSpPr>
        <p:spPr>
          <a:xfrm>
            <a:off x="69037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Hüquqi</a:t>
            </a:r>
            <a:endParaRPr lang="en-US" sz="2000" dirty="0"/>
          </a:p>
        </p:txBody>
      </p:sp>
      <p:sp>
        <p:nvSpPr>
          <p:cNvPr id="12" name="text15"/>
          <p:cNvSpPr txBox="1"/>
          <p:nvPr/>
        </p:nvSpPr>
        <p:spPr>
          <a:xfrm>
            <a:off x="690372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qanun və normativ tələblər</a:t>
            </a:r>
            <a:endParaRPr lang="en-US" sz="1400" dirty="0"/>
          </a:p>
        </p:txBody>
      </p:sp>
      <p:sp>
        <p:nvSpPr>
          <p:cNvPr id="13" name="shape16"/>
          <p:cNvSpPr/>
          <p:nvPr/>
        </p:nvSpPr>
        <p:spPr>
          <a:xfrm>
            <a:off x="9272016" y="1280160"/>
            <a:ext cx="23682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shape17"/>
          <p:cNvSpPr/>
          <p:nvPr/>
        </p:nvSpPr>
        <p:spPr>
          <a:xfrm>
            <a:off x="9500616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18"/>
          <p:cNvSpPr txBox="1"/>
          <p:nvPr/>
        </p:nvSpPr>
        <p:spPr>
          <a:xfrm>
            <a:off x="9500616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19"/>
          <p:cNvSpPr txBox="1"/>
          <p:nvPr/>
        </p:nvSpPr>
        <p:spPr>
          <a:xfrm>
            <a:off x="9500616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Təşkilati</a:t>
            </a:r>
            <a:endParaRPr lang="en-US" sz="2000" dirty="0"/>
          </a:p>
        </p:txBody>
      </p:sp>
      <p:sp>
        <p:nvSpPr>
          <p:cNvPr id="17" name="text20"/>
          <p:cNvSpPr txBox="1"/>
          <p:nvPr/>
        </p:nvSpPr>
        <p:spPr>
          <a:xfrm>
            <a:off x="9500616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siyasət, rollar, məsuliyyət</a:t>
            </a:r>
            <a:endParaRPr lang="en-US" sz="1400" dirty="0"/>
          </a:p>
        </p:txBody>
      </p:sp>
      <p:sp>
        <p:nvSpPr>
          <p:cNvPr id="18" name="shape21"/>
          <p:cNvSpPr/>
          <p:nvPr/>
        </p:nvSpPr>
        <p:spPr>
          <a:xfrm>
            <a:off x="6675120" y="3429000"/>
            <a:ext cx="23682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9" name="shape22"/>
          <p:cNvSpPr/>
          <p:nvPr/>
        </p:nvSpPr>
        <p:spPr>
          <a:xfrm>
            <a:off x="6903720" y="3657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23"/>
          <p:cNvSpPr txBox="1"/>
          <p:nvPr/>
        </p:nvSpPr>
        <p:spPr>
          <a:xfrm>
            <a:off x="69037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24"/>
          <p:cNvSpPr txBox="1"/>
          <p:nvPr/>
        </p:nvSpPr>
        <p:spPr>
          <a:xfrm>
            <a:off x="690372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Prosedur</a:t>
            </a:r>
            <a:endParaRPr lang="en-US" sz="2000" dirty="0"/>
          </a:p>
        </p:txBody>
      </p:sp>
      <p:sp>
        <p:nvSpPr>
          <p:cNvPr id="22" name="text25"/>
          <p:cNvSpPr txBox="1"/>
          <p:nvPr/>
        </p:nvSpPr>
        <p:spPr>
          <a:xfrm>
            <a:off x="6903720" y="4709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təlim, planlar, qaydalar</a:t>
            </a:r>
            <a:endParaRPr lang="en-US" sz="1400" dirty="0"/>
          </a:p>
        </p:txBody>
      </p:sp>
      <p:sp>
        <p:nvSpPr>
          <p:cNvPr id="23" name="shape26"/>
          <p:cNvSpPr/>
          <p:nvPr/>
        </p:nvSpPr>
        <p:spPr>
          <a:xfrm>
            <a:off x="9272016" y="3429000"/>
            <a:ext cx="23682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4" name="shape27"/>
          <p:cNvSpPr/>
          <p:nvPr/>
        </p:nvSpPr>
        <p:spPr>
          <a:xfrm>
            <a:off x="9500616" y="36576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28"/>
          <p:cNvSpPr txBox="1"/>
          <p:nvPr/>
        </p:nvSpPr>
        <p:spPr>
          <a:xfrm>
            <a:off x="9500616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29"/>
          <p:cNvSpPr txBox="1"/>
          <p:nvPr/>
        </p:nvSpPr>
        <p:spPr>
          <a:xfrm>
            <a:off x="9500616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Texniki</a:t>
            </a:r>
            <a:endParaRPr lang="en-US" sz="2000" dirty="0"/>
          </a:p>
        </p:txBody>
      </p:sp>
      <p:sp>
        <p:nvSpPr>
          <p:cNvPr id="27" name="text30"/>
          <p:cNvSpPr txBox="1"/>
          <p:nvPr/>
        </p:nvSpPr>
        <p:spPr>
          <a:xfrm>
            <a:off x="9500616" y="4709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proqram-texniki vasitələr</a:t>
            </a:r>
            <a:endParaRPr lang="en-US" sz="1400" dirty="0"/>
          </a:p>
        </p:txBody>
      </p:sp>
      <p:sp>
        <p:nvSpPr>
          <p:cNvPr id="28" name="shape31"/>
          <p:cNvSpPr/>
          <p:nvPr/>
        </p:nvSpPr>
        <p:spPr>
          <a:xfrm>
            <a:off x="548640" y="557784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9" name="text32"/>
          <p:cNvSpPr txBox="1"/>
          <p:nvPr/>
        </p:nvSpPr>
        <p:spPr>
          <a:xfrm>
            <a:off x="777240" y="56692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Beynəlxalq baxış: </a:t>
            </a:r>
            <a:r>
              <a:rPr lang="en-US" sz="1400" dirty="0">
                <a:solidFill>
                  <a:schemeClr val="tx1"/>
                </a:solidFill>
              </a:rPr>
              <a:t>Check Point bunu informasiyanın icazəsiz giriş, istifadə və ya dəyişdirilmədən qorunması kimi izah edir. Şirkət 1993-cü ildə qurulub və ilk kommersiya firewall texnologiyalarından birini (FireWall-1) yaradıb.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Nə üçün vacibdir?</a:t>
            </a:r>
            <a:endParaRPr lang="en-US" sz="3200" dirty="0"/>
          </a:p>
        </p:txBody>
      </p:sp>
      <p:sp>
        <p:nvSpPr>
          <p:cNvPr id="3" name="shape33"/>
          <p:cNvSpPr/>
          <p:nvPr/>
        </p:nvSpPr>
        <p:spPr>
          <a:xfrm>
            <a:off x="548640" y="1280160"/>
            <a:ext cx="260146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4" name="text34"/>
          <p:cNvSpPr txBox="1"/>
          <p:nvPr/>
        </p:nvSpPr>
        <p:spPr>
          <a:xfrm>
            <a:off x="731520" y="1417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Equifax (2017)</a:t>
            </a:r>
            <a:endParaRPr lang="en-US" sz="1400" dirty="0"/>
          </a:p>
        </p:txBody>
      </p:sp>
      <p:sp>
        <p:nvSpPr>
          <p:cNvPr id="5" name="text35"/>
          <p:cNvSpPr txBox="1"/>
          <p:nvPr/>
        </p:nvSpPr>
        <p:spPr>
          <a:xfrm>
            <a:off x="731520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4"/>
                </a:solidFill>
              </a:rPr>
              <a:t>147 mln</a:t>
            </a:r>
            <a:endParaRPr lang="en-US" sz="3800" dirty="0"/>
          </a:p>
        </p:txBody>
      </p:sp>
      <p:sp>
        <p:nvSpPr>
          <p:cNvPr id="6" name="text36"/>
          <p:cNvSpPr txBox="1"/>
          <p:nvPr/>
        </p:nvSpPr>
        <p:spPr>
          <a:xfrm>
            <a:off x="731520" y="2606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istehlakçının məlumatı oğrandı; razılaşma ən azı 575 mln $ oldu</a:t>
            </a:r>
            <a:endParaRPr lang="en-US" sz="1400" dirty="0"/>
          </a:p>
        </p:txBody>
      </p:sp>
      <p:sp>
        <p:nvSpPr>
          <p:cNvPr id="7" name="shape37"/>
          <p:cNvSpPr/>
          <p:nvPr/>
        </p:nvSpPr>
        <p:spPr>
          <a:xfrm>
            <a:off x="3378708" y="1280160"/>
            <a:ext cx="260146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8" name="text38"/>
          <p:cNvSpPr txBox="1"/>
          <p:nvPr/>
        </p:nvSpPr>
        <p:spPr>
          <a:xfrm>
            <a:off x="3561588" y="1417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Colonial Pipeline (2021)</a:t>
            </a:r>
            <a:endParaRPr lang="en-US" sz="1400" dirty="0"/>
          </a:p>
        </p:txBody>
      </p:sp>
      <p:sp>
        <p:nvSpPr>
          <p:cNvPr id="9" name="text39"/>
          <p:cNvSpPr txBox="1"/>
          <p:nvPr/>
        </p:nvSpPr>
        <p:spPr>
          <a:xfrm>
            <a:off x="3561588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~6 gün</a:t>
            </a:r>
            <a:endParaRPr lang="en-US" sz="3800" dirty="0"/>
          </a:p>
        </p:txBody>
      </p:sp>
      <p:sp>
        <p:nvSpPr>
          <p:cNvPr id="10" name="text40"/>
          <p:cNvSpPr txBox="1"/>
          <p:nvPr/>
        </p:nvSpPr>
        <p:spPr>
          <a:xfrm>
            <a:off x="3561588" y="2606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dayanma: MFA-sız köhnə VPN hesabı səbəbindən</a:t>
            </a:r>
            <a:endParaRPr lang="en-US" sz="1400" dirty="0"/>
          </a:p>
        </p:txBody>
      </p:sp>
      <p:sp>
        <p:nvSpPr>
          <p:cNvPr id="11" name="shape41"/>
          <p:cNvSpPr/>
          <p:nvPr/>
        </p:nvSpPr>
        <p:spPr>
          <a:xfrm>
            <a:off x="6208776" y="1280160"/>
            <a:ext cx="260146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2" name="text42"/>
          <p:cNvSpPr txBox="1"/>
          <p:nvPr/>
        </p:nvSpPr>
        <p:spPr>
          <a:xfrm>
            <a:off x="6391656" y="1417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Colonial Pipeline (2021)</a:t>
            </a:r>
            <a:endParaRPr lang="en-US" sz="1400" dirty="0"/>
          </a:p>
        </p:txBody>
      </p:sp>
      <p:sp>
        <p:nvSpPr>
          <p:cNvPr id="13" name="text43"/>
          <p:cNvSpPr txBox="1"/>
          <p:nvPr/>
        </p:nvSpPr>
        <p:spPr>
          <a:xfrm>
            <a:off x="6391656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5"/>
                </a:solidFill>
              </a:rPr>
              <a:t>75 BTC</a:t>
            </a:r>
            <a:endParaRPr lang="en-US" sz="3800" dirty="0"/>
          </a:p>
        </p:txBody>
      </p:sp>
      <p:sp>
        <p:nvSpPr>
          <p:cNvPr id="14" name="text44"/>
          <p:cNvSpPr txBox="1"/>
          <p:nvPr/>
        </p:nvSpPr>
        <p:spPr>
          <a:xfrm>
            <a:off x="6391656" y="2606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ödənilən fidyə (75 bitcoin)</a:t>
            </a:r>
            <a:endParaRPr lang="en-US" sz="1400" dirty="0"/>
          </a:p>
        </p:txBody>
      </p:sp>
      <p:sp>
        <p:nvSpPr>
          <p:cNvPr id="15" name="shape45"/>
          <p:cNvSpPr/>
          <p:nvPr/>
        </p:nvSpPr>
        <p:spPr>
          <a:xfrm>
            <a:off x="9038844" y="1280160"/>
            <a:ext cx="260146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6" name="text46"/>
          <p:cNvSpPr txBox="1"/>
          <p:nvPr/>
        </p:nvSpPr>
        <p:spPr>
          <a:xfrm>
            <a:off x="9221724" y="1417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NotPetya (2017)</a:t>
            </a:r>
            <a:endParaRPr lang="en-US" sz="1400" dirty="0"/>
          </a:p>
        </p:txBody>
      </p:sp>
      <p:sp>
        <p:nvSpPr>
          <p:cNvPr id="17" name="text47"/>
          <p:cNvSpPr txBox="1"/>
          <p:nvPr/>
        </p:nvSpPr>
        <p:spPr>
          <a:xfrm>
            <a:off x="9221724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~300 mln $</a:t>
            </a:r>
            <a:endParaRPr lang="en-US" sz="3800" dirty="0"/>
          </a:p>
        </p:txBody>
      </p:sp>
      <p:sp>
        <p:nvSpPr>
          <p:cNvPr id="18" name="text48"/>
          <p:cNvSpPr txBox="1"/>
          <p:nvPr/>
        </p:nvSpPr>
        <p:spPr>
          <a:xfrm>
            <a:off x="9221724" y="2606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yalnız Maersk şirkətinə vurulan zərər</a:t>
            </a:r>
            <a:endParaRPr lang="en-US" sz="1400" dirty="0"/>
          </a:p>
        </p:txBody>
      </p:sp>
      <p:sp>
        <p:nvSpPr>
          <p:cNvPr id="19" name="shape49"/>
          <p:cNvSpPr/>
          <p:nvPr/>
        </p:nvSpPr>
        <p:spPr>
          <a:xfrm>
            <a:off x="548640" y="3931920"/>
            <a:ext cx="731520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20" name="text50"/>
          <p:cNvSpPr txBox="1"/>
          <p:nvPr/>
        </p:nvSpPr>
        <p:spPr>
          <a:xfrm>
            <a:off x="822960" y="39319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4,9 mln $</a:t>
            </a:r>
            <a:endParaRPr lang="en-US" sz="3600" dirty="0"/>
          </a:p>
        </p:txBody>
      </p:sp>
      <p:sp>
        <p:nvSpPr>
          <p:cNvPr id="21" name="text51"/>
          <p:cNvSpPr txBox="1"/>
          <p:nvPr/>
        </p:nvSpPr>
        <p:spPr>
          <a:xfrm>
            <a:off x="3200400" y="39319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2024-cü ildə sızmanın orta dəyəri, əvvəlki ildən təxminən 10% çox</a:t>
            </a:r>
            <a:endParaRPr lang="en-US" sz="1600" dirty="0"/>
          </a:p>
        </p:txBody>
      </p:sp>
      <p:sp>
        <p:nvSpPr>
          <p:cNvPr id="22" name="shape52"/>
          <p:cNvSpPr/>
          <p:nvPr/>
        </p:nvSpPr>
        <p:spPr>
          <a:xfrm>
            <a:off x="548640" y="5212080"/>
            <a:ext cx="731520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23" name="text53"/>
          <p:cNvSpPr txBox="1"/>
          <p:nvPr/>
        </p:nvSpPr>
        <p:spPr>
          <a:xfrm>
            <a:off x="822960" y="52120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93%</a:t>
            </a:r>
            <a:endParaRPr lang="en-US" sz="3600" dirty="0"/>
          </a:p>
        </p:txBody>
      </p:sp>
      <p:sp>
        <p:nvSpPr>
          <p:cNvPr id="24" name="text54"/>
          <p:cNvSpPr txBox="1"/>
          <p:nvPr/>
        </p:nvSpPr>
        <p:spPr>
          <a:xfrm>
            <a:off x="3200400" y="52120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IT mütəxəssisləri təhdidlərin artdığını düşünür (bir il əvvəl: 47%)</a:t>
            </a:r>
            <a:endParaRPr lang="en-US" sz="1600" dirty="0"/>
          </a:p>
        </p:txBody>
      </p:sp>
      <p:sp>
        <p:nvSpPr>
          <p:cNvPr id="25" name="text55"/>
          <p:cNvSpPr txBox="1"/>
          <p:nvPr/>
        </p:nvSpPr>
        <p:spPr>
          <a:xfrm>
            <a:off x="818388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Nəticə: dörd itki növü</a:t>
            </a:r>
            <a:endParaRPr lang="en-US" sz="1400" dirty="0"/>
          </a:p>
        </p:txBody>
      </p:sp>
      <p:sp>
        <p:nvSpPr>
          <p:cNvPr id="26" name="shape56"/>
          <p:cNvSpPr/>
          <p:nvPr/>
        </p:nvSpPr>
        <p:spPr>
          <a:xfrm>
            <a:off x="8183880" y="42976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icon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434840"/>
            <a:ext cx="274320" cy="274320"/>
          </a:xfrm>
          <a:prstGeom prst="rect">
            <a:avLst/>
          </a:prstGeom>
        </p:spPr>
      </p:pic>
      <p:sp>
        <p:nvSpPr>
          <p:cNvPr id="28" name="text57"/>
          <p:cNvSpPr txBox="1"/>
          <p:nvPr/>
        </p:nvSpPr>
        <p:spPr>
          <a:xfrm>
            <a:off x="882396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Maliyyə itkisi</a:t>
            </a:r>
            <a:endParaRPr lang="en-US" sz="1300" dirty="0"/>
          </a:p>
        </p:txBody>
      </p:sp>
      <p:sp>
        <p:nvSpPr>
          <p:cNvPr id="29" name="shape58"/>
          <p:cNvSpPr/>
          <p:nvPr/>
        </p:nvSpPr>
        <p:spPr>
          <a:xfrm>
            <a:off x="9966960" y="42976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con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4434840"/>
            <a:ext cx="274320" cy="274320"/>
          </a:xfrm>
          <a:prstGeom prst="rect">
            <a:avLst/>
          </a:prstGeom>
        </p:spPr>
      </p:pic>
      <p:sp>
        <p:nvSpPr>
          <p:cNvPr id="31" name="text59"/>
          <p:cNvSpPr txBox="1"/>
          <p:nvPr/>
        </p:nvSpPr>
        <p:spPr>
          <a:xfrm>
            <a:off x="1060704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Nüfuz itkisi</a:t>
            </a:r>
            <a:endParaRPr lang="en-US" sz="1300" dirty="0"/>
          </a:p>
        </p:txBody>
      </p:sp>
      <p:sp>
        <p:nvSpPr>
          <p:cNvPr id="32" name="shape60"/>
          <p:cNvSpPr/>
          <p:nvPr/>
        </p:nvSpPr>
        <p:spPr>
          <a:xfrm>
            <a:off x="8183880" y="534924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3" name="icon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5486400"/>
            <a:ext cx="274320" cy="274320"/>
          </a:xfrm>
          <a:prstGeom prst="rect">
            <a:avLst/>
          </a:prstGeom>
        </p:spPr>
      </p:pic>
      <p:sp>
        <p:nvSpPr>
          <p:cNvPr id="34" name="text61"/>
          <p:cNvSpPr txBox="1"/>
          <p:nvPr/>
        </p:nvSpPr>
        <p:spPr>
          <a:xfrm>
            <a:off x="8823960" y="5349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Hüquqi məsuliyyət</a:t>
            </a:r>
            <a:endParaRPr lang="en-US" sz="1300" dirty="0"/>
          </a:p>
        </p:txBody>
      </p:sp>
      <p:sp>
        <p:nvSpPr>
          <p:cNvPr id="35" name="shape62"/>
          <p:cNvSpPr/>
          <p:nvPr/>
        </p:nvSpPr>
        <p:spPr>
          <a:xfrm>
            <a:off x="9966960" y="5349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5486400"/>
            <a:ext cx="274320" cy="274320"/>
          </a:xfrm>
          <a:prstGeom prst="rect">
            <a:avLst/>
          </a:prstGeom>
        </p:spPr>
      </p:pic>
      <p:sp>
        <p:nvSpPr>
          <p:cNvPr id="37" name="text63"/>
          <p:cNvSpPr txBox="1"/>
          <p:nvPr/>
        </p:nvSpPr>
        <p:spPr>
          <a:xfrm>
            <a:off x="10607040" y="5349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Əməliyyatların dayanması</a:t>
            </a:r>
            <a:endParaRPr lang="en-US" sz="13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CIA üçlüyü</a:t>
            </a:r>
            <a:endParaRPr lang="en-US" sz="3200" dirty="0"/>
          </a:p>
        </p:txBody>
      </p:sp>
      <p:sp>
        <p:nvSpPr>
          <p:cNvPr id="3" name="shape64"/>
          <p:cNvSpPr/>
          <p:nvPr/>
        </p:nvSpPr>
        <p:spPr>
          <a:xfrm>
            <a:off x="4956048" y="1417320"/>
            <a:ext cx="2286000" cy="1371600"/>
          </a:xfrm>
          <a:prstGeom prst="triangle">
            <a:avLst/>
          </a:prstGeom>
          <a:solidFill>
            <a:schemeClr val="accent1">
              <a:alpha val="15000"/>
            </a:schemeClr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4" name="shape65"/>
          <p:cNvSpPr/>
          <p:nvPr/>
        </p:nvSpPr>
        <p:spPr>
          <a:xfrm>
            <a:off x="5824728" y="11430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66"/>
          <p:cNvSpPr txBox="1"/>
          <p:nvPr/>
        </p:nvSpPr>
        <p:spPr>
          <a:xfrm>
            <a:off x="5824728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K</a:t>
            </a:r>
            <a:endParaRPr lang="en-US" sz="2000" dirty="0"/>
          </a:p>
        </p:txBody>
      </p:sp>
      <p:sp>
        <p:nvSpPr>
          <p:cNvPr id="6" name="shape67"/>
          <p:cNvSpPr/>
          <p:nvPr/>
        </p:nvSpPr>
        <p:spPr>
          <a:xfrm>
            <a:off x="4681728" y="2514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68"/>
          <p:cNvSpPr txBox="1"/>
          <p:nvPr/>
        </p:nvSpPr>
        <p:spPr>
          <a:xfrm>
            <a:off x="468172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B</a:t>
            </a:r>
            <a:endParaRPr lang="en-US" sz="2000" dirty="0"/>
          </a:p>
        </p:txBody>
      </p:sp>
      <p:sp>
        <p:nvSpPr>
          <p:cNvPr id="8" name="shape69"/>
          <p:cNvSpPr/>
          <p:nvPr/>
        </p:nvSpPr>
        <p:spPr>
          <a:xfrm>
            <a:off x="6967728" y="2514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70"/>
          <p:cNvSpPr txBox="1"/>
          <p:nvPr/>
        </p:nvSpPr>
        <p:spPr>
          <a:xfrm>
            <a:off x="696772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Ə</a:t>
            </a:r>
            <a:endParaRPr lang="en-US" sz="2000" dirty="0"/>
          </a:p>
        </p:txBody>
      </p:sp>
      <p:sp>
        <p:nvSpPr>
          <p:cNvPr id="10" name="shape71"/>
          <p:cNvSpPr/>
          <p:nvPr/>
        </p:nvSpPr>
        <p:spPr>
          <a:xfrm>
            <a:off x="548640" y="3246120"/>
            <a:ext cx="3557016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1" name="text72"/>
          <p:cNvSpPr txBox="1"/>
          <p:nvPr/>
        </p:nvSpPr>
        <p:spPr>
          <a:xfrm>
            <a:off x="7315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Konfidensiallıq</a:t>
            </a:r>
            <a:endParaRPr lang="en-US" sz="1800" dirty="0"/>
          </a:p>
        </p:txBody>
      </p:sp>
      <p:sp>
        <p:nvSpPr>
          <p:cNvPr id="12" name="text73"/>
          <p:cNvSpPr txBox="1"/>
          <p:nvPr/>
        </p:nvSpPr>
        <p:spPr>
          <a:xfrm>
            <a:off x="73152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İnformasiyaya yalnız səlahiyyəti olanlar çıxış edir.</a:t>
            </a:r>
            <a:endParaRPr lang="en-US" sz="1400" dirty="0"/>
          </a:p>
        </p:txBody>
      </p:sp>
      <p:sp>
        <p:nvSpPr>
          <p:cNvPr id="13" name="text74"/>
          <p:cNvSpPr txBox="1"/>
          <p:nvPr/>
        </p:nvSpPr>
        <p:spPr>
          <a:xfrm>
            <a:off x="731520" y="4206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Pozulma: </a:t>
            </a:r>
            <a:r>
              <a:rPr lang="en-US" sz="1300" dirty="0">
                <a:solidFill>
                  <a:schemeClr val="tx1"/>
                </a:solidFill>
              </a:rPr>
              <a:t>Equifax.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Vasitə: </a:t>
            </a:r>
            <a:r>
              <a:rPr lang="en-US" sz="1300" dirty="0">
                <a:solidFill>
                  <a:schemeClr val="tx1"/>
                </a:solidFill>
              </a:rPr>
              <a:t>AES, BitLocker.</a:t>
            </a:r>
            <a:endParaRPr lang="en-US" sz="1300" dirty="0"/>
          </a:p>
        </p:txBody>
      </p:sp>
      <p:sp>
        <p:nvSpPr>
          <p:cNvPr id="14" name="shape75"/>
          <p:cNvSpPr/>
          <p:nvPr/>
        </p:nvSpPr>
        <p:spPr>
          <a:xfrm>
            <a:off x="4315968" y="3246120"/>
            <a:ext cx="3557016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5" name="text76"/>
          <p:cNvSpPr txBox="1"/>
          <p:nvPr/>
        </p:nvSpPr>
        <p:spPr>
          <a:xfrm>
            <a:off x="4498848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Bütövlük</a:t>
            </a:r>
            <a:endParaRPr lang="en-US" sz="1800" dirty="0"/>
          </a:p>
        </p:txBody>
      </p:sp>
      <p:sp>
        <p:nvSpPr>
          <p:cNvPr id="16" name="text77"/>
          <p:cNvSpPr txBox="1"/>
          <p:nvPr/>
        </p:nvSpPr>
        <p:spPr>
          <a:xfrm>
            <a:off x="4498848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İnformasiya dəqiqdir və icazəsiz dəyişdirilmir.</a:t>
            </a:r>
            <a:endParaRPr lang="en-US" sz="1400" dirty="0"/>
          </a:p>
        </p:txBody>
      </p:sp>
      <p:sp>
        <p:nvSpPr>
          <p:cNvPr id="17" name="text78"/>
          <p:cNvSpPr txBox="1"/>
          <p:nvPr/>
        </p:nvSpPr>
        <p:spPr>
          <a:xfrm>
            <a:off x="4498848" y="4206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Pozulma: </a:t>
            </a:r>
            <a:r>
              <a:rPr lang="en-US" sz="1300" dirty="0">
                <a:solidFill>
                  <a:schemeClr val="tx1"/>
                </a:solidFill>
              </a:rPr>
              <a:t>Bangladesh Bank (2016): SWIFT ilə saxta tapşırıqlarla təxminən 951 milyon dollarlıq köçürmə cəhdi edildi, 81 milyon dollar ötürüldü.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Vasitə: </a:t>
            </a:r>
            <a:r>
              <a:rPr lang="en-US" sz="1300" dirty="0">
                <a:solidFill>
                  <a:schemeClr val="tx1"/>
                </a:solidFill>
              </a:rPr>
              <a:t>SHA heş-funksiyaları, elektron imza.</a:t>
            </a:r>
            <a:endParaRPr lang="en-US" sz="1300" dirty="0"/>
          </a:p>
        </p:txBody>
      </p:sp>
      <p:sp>
        <p:nvSpPr>
          <p:cNvPr id="18" name="shape79"/>
          <p:cNvSpPr/>
          <p:nvPr/>
        </p:nvSpPr>
        <p:spPr>
          <a:xfrm>
            <a:off x="8083296" y="3246120"/>
            <a:ext cx="3557016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9" name="text80"/>
          <p:cNvSpPr txBox="1"/>
          <p:nvPr/>
        </p:nvSpPr>
        <p:spPr>
          <a:xfrm>
            <a:off x="8266176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Əlçatanlıq</a:t>
            </a:r>
            <a:endParaRPr lang="en-US" sz="1800" dirty="0"/>
          </a:p>
        </p:txBody>
      </p:sp>
      <p:sp>
        <p:nvSpPr>
          <p:cNvPr id="20" name="text81"/>
          <p:cNvSpPr txBox="1"/>
          <p:nvPr/>
        </p:nvSpPr>
        <p:spPr>
          <a:xfrm>
            <a:off x="8266176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Səlahiyyətli istifadəçi lazım olan anda xidmətə çıxış edir.</a:t>
            </a:r>
            <a:endParaRPr lang="en-US" sz="1400" dirty="0"/>
          </a:p>
        </p:txBody>
      </p:sp>
      <p:sp>
        <p:nvSpPr>
          <p:cNvPr id="21" name="text82"/>
          <p:cNvSpPr txBox="1"/>
          <p:nvPr/>
        </p:nvSpPr>
        <p:spPr>
          <a:xfrm>
            <a:off x="8266176" y="4206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Pozulma: </a:t>
            </a:r>
            <a:r>
              <a:rPr lang="en-US" sz="1300" dirty="0">
                <a:solidFill>
                  <a:schemeClr val="tx1"/>
                </a:solidFill>
              </a:rPr>
              <a:t>WannaCry (2017): Britaniya səhiyyə xidmətinin 236 trastından 81-nin işinə mane oldu, təxminən 19 min görüş ləğv edildi.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Vasitə: </a:t>
            </a:r>
            <a:r>
              <a:rPr lang="en-US" sz="1300" dirty="0">
                <a:solidFill>
                  <a:schemeClr val="tx1"/>
                </a:solidFill>
              </a:rPr>
              <a:t>ehtiyat surət, ehtiyat mərkəz.</a:t>
            </a:r>
            <a:endParaRPr lang="en-US" sz="1300" dirty="0"/>
          </a:p>
        </p:txBody>
      </p:sp>
      <p:sp>
        <p:nvSpPr>
          <p:cNvPr id="22" name="shape83"/>
          <p:cNvSpPr/>
          <p:nvPr/>
        </p:nvSpPr>
        <p:spPr>
          <a:xfrm>
            <a:off x="548640" y="576072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23" name="text84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Müasir yanaşmada əlavə olunur: </a:t>
            </a:r>
            <a:r>
              <a:rPr lang="en-US" sz="1300" dirty="0">
                <a:solidFill>
                  <a:schemeClr val="bg1"/>
                </a:solidFill>
              </a:rPr>
              <a:t>autentiklik, məsuliyyətlilik, inkar edilməzlik, etibarlılıq. </a:t>
            </a:r>
            <a:r>
              <a:rPr lang="en-US" sz="1300" b="1" dirty="0">
                <a:solidFill>
                  <a:schemeClr val="bg1"/>
                </a:solidFill>
              </a:rPr>
              <a:t>Prioritet təşkilatdan asılıdır: </a:t>
            </a:r>
            <a:r>
              <a:rPr lang="en-US" sz="1300" dirty="0">
                <a:solidFill>
                  <a:schemeClr val="bg1"/>
                </a:solidFill>
              </a:rPr>
              <a:t>dövlət orqanlarında konfidensiallıq, bankda bütövlük, onlayn xidmətlərdə əlçatanlıq.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Əsas terminlər zənciri</a:t>
            </a:r>
            <a:endParaRPr lang="en-US" sz="3200" dirty="0"/>
          </a:p>
        </p:txBody>
      </p:sp>
      <p:sp>
        <p:nvSpPr>
          <p:cNvPr id="3" name="shape85"/>
          <p:cNvSpPr/>
          <p:nvPr/>
        </p:nvSpPr>
        <p:spPr>
          <a:xfrm>
            <a:off x="548640" y="1280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4" name="text86"/>
          <p:cNvSpPr txBox="1"/>
          <p:nvPr/>
        </p:nvSpPr>
        <p:spPr>
          <a:xfrm>
            <a:off x="54864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Aktiv</a:t>
            </a:r>
            <a:endParaRPr lang="en-US" sz="2200" dirty="0"/>
          </a:p>
        </p:txBody>
      </p:sp>
      <p:sp>
        <p:nvSpPr>
          <p:cNvPr id="5" name="shape87"/>
          <p:cNvSpPr/>
          <p:nvPr/>
        </p:nvSpPr>
        <p:spPr>
          <a:xfrm>
            <a:off x="3035808" y="1463040"/>
            <a:ext cx="32004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6" name="text88"/>
          <p:cNvSpPr txBox="1"/>
          <p:nvPr/>
        </p:nvSpPr>
        <p:spPr>
          <a:xfrm>
            <a:off x="548640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təşkilat üçün dəyəri olan hər şey.</a:t>
            </a:r>
            <a:endParaRPr lang="en-US" sz="1400" dirty="0"/>
          </a:p>
        </p:txBody>
      </p:sp>
      <p:sp>
        <p:nvSpPr>
          <p:cNvPr id="7" name="shape89"/>
          <p:cNvSpPr/>
          <p:nvPr/>
        </p:nvSpPr>
        <p:spPr>
          <a:xfrm>
            <a:off x="3453689" y="1280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8" name="text90"/>
          <p:cNvSpPr txBox="1"/>
          <p:nvPr/>
        </p:nvSpPr>
        <p:spPr>
          <a:xfrm>
            <a:off x="3453689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Təhdid</a:t>
            </a:r>
            <a:endParaRPr lang="en-US" sz="2200" dirty="0"/>
          </a:p>
        </p:txBody>
      </p:sp>
      <p:sp>
        <p:nvSpPr>
          <p:cNvPr id="9" name="shape91"/>
          <p:cNvSpPr/>
          <p:nvPr/>
        </p:nvSpPr>
        <p:spPr>
          <a:xfrm>
            <a:off x="5940857" y="1463040"/>
            <a:ext cx="32004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text92"/>
          <p:cNvSpPr txBox="1"/>
          <p:nvPr/>
        </p:nvSpPr>
        <p:spPr>
          <a:xfrm>
            <a:off x="3453689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aktivə zərər vura biləcək potensial səbəb.</a:t>
            </a:r>
            <a:endParaRPr lang="en-US" sz="1400" dirty="0"/>
          </a:p>
        </p:txBody>
      </p:sp>
      <p:sp>
        <p:nvSpPr>
          <p:cNvPr id="11" name="shape93"/>
          <p:cNvSpPr/>
          <p:nvPr/>
        </p:nvSpPr>
        <p:spPr>
          <a:xfrm>
            <a:off x="6358738" y="1280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2" name="text94"/>
          <p:cNvSpPr txBox="1"/>
          <p:nvPr/>
        </p:nvSpPr>
        <p:spPr>
          <a:xfrm>
            <a:off x="6358738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Zəiflik</a:t>
            </a:r>
            <a:endParaRPr lang="en-US" sz="2200" dirty="0"/>
          </a:p>
        </p:txBody>
      </p:sp>
      <p:sp>
        <p:nvSpPr>
          <p:cNvPr id="13" name="shape95"/>
          <p:cNvSpPr/>
          <p:nvPr/>
        </p:nvSpPr>
        <p:spPr>
          <a:xfrm>
            <a:off x="8845906" y="1463040"/>
            <a:ext cx="32004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4" name="text96"/>
          <p:cNvSpPr txBox="1"/>
          <p:nvPr/>
        </p:nvSpPr>
        <p:spPr>
          <a:xfrm>
            <a:off x="6358738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təhdidin həyata keçməsinə imkan verən çatışmazlıq.</a:t>
            </a:r>
            <a:endParaRPr lang="en-US" sz="1400" dirty="0"/>
          </a:p>
        </p:txBody>
      </p:sp>
      <p:sp>
        <p:nvSpPr>
          <p:cNvPr id="15" name="shape97"/>
          <p:cNvSpPr/>
          <p:nvPr/>
        </p:nvSpPr>
        <p:spPr>
          <a:xfrm>
            <a:off x="9263786" y="1280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16" name="text98"/>
          <p:cNvSpPr txBox="1"/>
          <p:nvPr/>
        </p:nvSpPr>
        <p:spPr>
          <a:xfrm>
            <a:off x="9263786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Risk</a:t>
            </a:r>
            <a:endParaRPr lang="en-US" sz="2200" dirty="0"/>
          </a:p>
        </p:txBody>
      </p:sp>
      <p:sp>
        <p:nvSpPr>
          <p:cNvPr id="17" name="text99"/>
          <p:cNvSpPr txBox="1"/>
          <p:nvPr/>
        </p:nvSpPr>
        <p:spPr>
          <a:xfrm>
            <a:off x="9263786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zərər ehtimalı və miqyası.</a:t>
            </a:r>
            <a:endParaRPr lang="en-US" sz="1400" dirty="0"/>
          </a:p>
        </p:txBody>
      </p:sp>
      <p:sp>
        <p:nvSpPr>
          <p:cNvPr id="18" name="text100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Equifax-da bu zəncir</a:t>
            </a:r>
            <a:endParaRPr lang="en-US" sz="1800" dirty="0"/>
          </a:p>
        </p:txBody>
      </p:sp>
      <p:sp>
        <p:nvSpPr>
          <p:cNvPr id="19" name="shape101"/>
          <p:cNvSpPr/>
          <p:nvPr/>
        </p:nvSpPr>
        <p:spPr>
          <a:xfrm>
            <a:off x="548640" y="3657600"/>
            <a:ext cx="26974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shape102"/>
          <p:cNvSpPr/>
          <p:nvPr/>
        </p:nvSpPr>
        <p:spPr>
          <a:xfrm>
            <a:off x="731520" y="3794760"/>
            <a:ext cx="118872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21" name="text103"/>
          <p:cNvSpPr txBox="1"/>
          <p:nvPr/>
        </p:nvSpPr>
        <p:spPr>
          <a:xfrm>
            <a:off x="731520" y="3794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AKTİV</a:t>
            </a:r>
            <a:endParaRPr lang="en-US" sz="1200" dirty="0"/>
          </a:p>
        </p:txBody>
      </p:sp>
      <p:sp>
        <p:nvSpPr>
          <p:cNvPr id="22" name="text104"/>
          <p:cNvSpPr txBox="1"/>
          <p:nvPr/>
        </p:nvSpPr>
        <p:spPr>
          <a:xfrm>
            <a:off x="731520" y="4206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147 milyon şəxsin məlumatı idi.</a:t>
            </a:r>
            <a:endParaRPr lang="en-US" sz="1400" dirty="0"/>
          </a:p>
        </p:txBody>
      </p:sp>
      <p:sp>
        <p:nvSpPr>
          <p:cNvPr id="23" name="shape105"/>
          <p:cNvSpPr/>
          <p:nvPr/>
        </p:nvSpPr>
        <p:spPr>
          <a:xfrm>
            <a:off x="3453689" y="3657600"/>
            <a:ext cx="26974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4" name="shape106"/>
          <p:cNvSpPr/>
          <p:nvPr/>
        </p:nvSpPr>
        <p:spPr>
          <a:xfrm>
            <a:off x="3636569" y="3794760"/>
            <a:ext cx="118872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25" name="text107"/>
          <p:cNvSpPr txBox="1"/>
          <p:nvPr/>
        </p:nvSpPr>
        <p:spPr>
          <a:xfrm>
            <a:off x="3636569" y="3794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TƏHDİD</a:t>
            </a:r>
            <a:endParaRPr lang="en-US" sz="1200" dirty="0"/>
          </a:p>
        </p:txBody>
      </p:sp>
      <p:sp>
        <p:nvSpPr>
          <p:cNvPr id="26" name="text108"/>
          <p:cNvSpPr txBox="1"/>
          <p:nvPr/>
        </p:nvSpPr>
        <p:spPr>
          <a:xfrm>
            <a:off x="3636569" y="4206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Xarici hücumçular idi.</a:t>
            </a:r>
            <a:endParaRPr lang="en-US" sz="1400" dirty="0"/>
          </a:p>
        </p:txBody>
      </p:sp>
      <p:sp>
        <p:nvSpPr>
          <p:cNvPr id="27" name="shape109"/>
          <p:cNvSpPr/>
          <p:nvPr/>
        </p:nvSpPr>
        <p:spPr>
          <a:xfrm>
            <a:off x="6358738" y="3657600"/>
            <a:ext cx="26974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8" name="shape110"/>
          <p:cNvSpPr/>
          <p:nvPr/>
        </p:nvSpPr>
        <p:spPr>
          <a:xfrm>
            <a:off x="6541618" y="3794760"/>
            <a:ext cx="118872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29" name="text111"/>
          <p:cNvSpPr txBox="1"/>
          <p:nvPr/>
        </p:nvSpPr>
        <p:spPr>
          <a:xfrm>
            <a:off x="6541618" y="3794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ZƏİFLİK</a:t>
            </a:r>
            <a:endParaRPr lang="en-US" sz="1200" dirty="0"/>
          </a:p>
        </p:txBody>
      </p:sp>
      <p:sp>
        <p:nvSpPr>
          <p:cNvPr id="30" name="text112"/>
          <p:cNvSpPr txBox="1"/>
          <p:nvPr/>
        </p:nvSpPr>
        <p:spPr>
          <a:xfrm>
            <a:off x="6541618" y="4206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Apache Struts-dakı məlum boşluq (CVE-2017-5638). Düzəliş 2017-ci ilin martında buraxılmışdı, lakin bir sistemdə tətbiq edilməmişdi.</a:t>
            </a:r>
            <a:endParaRPr lang="en-US" sz="1400" dirty="0"/>
          </a:p>
        </p:txBody>
      </p:sp>
      <p:sp>
        <p:nvSpPr>
          <p:cNvPr id="31" name="shape113"/>
          <p:cNvSpPr/>
          <p:nvPr/>
        </p:nvSpPr>
        <p:spPr>
          <a:xfrm>
            <a:off x="9263786" y="3657600"/>
            <a:ext cx="26974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2" name="shape114"/>
          <p:cNvSpPr/>
          <p:nvPr/>
        </p:nvSpPr>
        <p:spPr>
          <a:xfrm>
            <a:off x="9446666" y="3794760"/>
            <a:ext cx="1188720" cy="310896"/>
          </a:xfrm>
          <a:prstGeom prst="roundRect">
            <a:avLst>
              <a:gd name="adj" fmla="val 29412"/>
            </a:avLst>
          </a:prstGeom>
          <a:solidFill>
            <a:schemeClr val="tx2"/>
          </a:solidFill>
          <a:ln/>
        </p:spPr>
      </p:sp>
      <p:sp>
        <p:nvSpPr>
          <p:cNvPr id="33" name="text115"/>
          <p:cNvSpPr txBox="1"/>
          <p:nvPr/>
        </p:nvSpPr>
        <p:spPr>
          <a:xfrm>
            <a:off x="9446666" y="3794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RİSK</a:t>
            </a:r>
            <a:endParaRPr lang="en-US" sz="1200" dirty="0"/>
          </a:p>
        </p:txBody>
      </p:sp>
      <p:sp>
        <p:nvSpPr>
          <p:cNvPr id="34" name="text116"/>
          <p:cNvSpPr txBox="1"/>
          <p:nvPr/>
        </p:nvSpPr>
        <p:spPr>
          <a:xfrm>
            <a:off x="9446666" y="42062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Monitorinq cihazında sertifikatın müddəti bitdiyi üçün məlumat çıxarılması iki aydan çox aşkarlanmadı.</a:t>
            </a:r>
            <a:endParaRPr lang="en-US" sz="1400" dirty="0"/>
          </a:p>
        </p:txBody>
      </p:sp>
      <p:sp>
        <p:nvSpPr>
          <p:cNvPr id="35" name="shape117"/>
          <p:cNvSpPr/>
          <p:nvPr/>
        </p:nvSpPr>
        <p:spPr>
          <a:xfrm>
            <a:off x="548640" y="576072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36" name="text118"/>
          <p:cNvSpPr txBox="1"/>
          <p:nvPr/>
        </p:nvSpPr>
        <p:spPr>
          <a:xfrm>
            <a:off x="548640" y="57607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Risk = Ehtimal × Təsir</a:t>
            </a:r>
            <a:endParaRPr lang="en-US" sz="26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Təhdidlərin təsnifatı</a:t>
            </a:r>
            <a:endParaRPr lang="en-US" sz="3200" dirty="0"/>
          </a:p>
        </p:txBody>
      </p:sp>
      <p:sp>
        <p:nvSpPr>
          <p:cNvPr id="3" name="text119"/>
          <p:cNvSpPr txBox="1"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XASSƏYƏ GÖRƏ</a:t>
            </a:r>
            <a:endParaRPr lang="en-US" sz="1200" dirty="0"/>
          </a:p>
        </p:txBody>
      </p:sp>
      <p:sp>
        <p:nvSpPr>
          <p:cNvPr id="4" name="shape120"/>
          <p:cNvSpPr/>
          <p:nvPr/>
        </p:nvSpPr>
        <p:spPr>
          <a:xfrm>
            <a:off x="548640" y="1417320"/>
            <a:ext cx="3557016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5" name="shape121"/>
          <p:cNvSpPr/>
          <p:nvPr/>
        </p:nvSpPr>
        <p:spPr>
          <a:xfrm>
            <a:off x="731520" y="155448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6" name="text122"/>
          <p:cNvSpPr txBox="1"/>
          <p:nvPr/>
        </p:nvSpPr>
        <p:spPr>
          <a:xfrm>
            <a:off x="731520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Konfidensiallığa</a:t>
            </a:r>
            <a:endParaRPr lang="en-US" sz="1200" dirty="0"/>
          </a:p>
        </p:txBody>
      </p:sp>
      <p:sp>
        <p:nvSpPr>
          <p:cNvPr id="7" name="text123"/>
          <p:cNvSpPr txBox="1"/>
          <p:nvPr/>
        </p:nvSpPr>
        <p:spPr>
          <a:xfrm>
            <a:off x="73152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icazəsiz oxuma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trafikin dinlənməsi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sosial mühəndislik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fişinq</a:t>
            </a:r>
            <a:endParaRPr lang="en-US" sz="1400" dirty="0"/>
          </a:p>
        </p:txBody>
      </p:sp>
      <p:sp>
        <p:nvSpPr>
          <p:cNvPr id="8" name="shape124"/>
          <p:cNvSpPr/>
          <p:nvPr/>
        </p:nvSpPr>
        <p:spPr>
          <a:xfrm>
            <a:off x="4315968" y="1417320"/>
            <a:ext cx="3557016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9" name="shape125"/>
          <p:cNvSpPr/>
          <p:nvPr/>
        </p:nvSpPr>
        <p:spPr>
          <a:xfrm>
            <a:off x="4498848" y="155448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10" name="text126"/>
          <p:cNvSpPr txBox="1"/>
          <p:nvPr/>
        </p:nvSpPr>
        <p:spPr>
          <a:xfrm>
            <a:off x="4498848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Bütövlüyə</a:t>
            </a:r>
            <a:endParaRPr lang="en-US" sz="1200" dirty="0"/>
          </a:p>
        </p:txBody>
      </p:sp>
      <p:sp>
        <p:nvSpPr>
          <p:cNvPr id="11" name="text127"/>
          <p:cNvSpPr txBox="1"/>
          <p:nvPr/>
        </p:nvSpPr>
        <p:spPr>
          <a:xfrm>
            <a:off x="4498848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saxtalaşdırma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“man-in-the-middle”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 injection</a:t>
            </a:r>
            <a:endParaRPr lang="en-US" sz="1400" dirty="0"/>
          </a:p>
        </p:txBody>
      </p:sp>
      <p:sp>
        <p:nvSpPr>
          <p:cNvPr id="12" name="shape128"/>
          <p:cNvSpPr/>
          <p:nvPr/>
        </p:nvSpPr>
        <p:spPr>
          <a:xfrm>
            <a:off x="8083296" y="1417320"/>
            <a:ext cx="3557016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3" name="shape129"/>
          <p:cNvSpPr/>
          <p:nvPr/>
        </p:nvSpPr>
        <p:spPr>
          <a:xfrm>
            <a:off x="8266176" y="155448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14" name="text130"/>
          <p:cNvSpPr txBox="1"/>
          <p:nvPr/>
        </p:nvSpPr>
        <p:spPr>
          <a:xfrm>
            <a:off x="8266176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Əlçatanlığa</a:t>
            </a:r>
            <a:endParaRPr lang="en-US" sz="1200" dirty="0"/>
          </a:p>
        </p:txBody>
      </p:sp>
      <p:sp>
        <p:nvSpPr>
          <p:cNvPr id="15" name="text131"/>
          <p:cNvSpPr txBox="1"/>
          <p:nvPr/>
        </p:nvSpPr>
        <p:spPr>
          <a:xfrm>
            <a:off x="8266176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DDoS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ransomware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avadanlıq nasazlığı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enerji kəsilməsi</a:t>
            </a:r>
            <a:endParaRPr lang="en-US" sz="1400" dirty="0"/>
          </a:p>
        </p:txBody>
      </p:sp>
      <p:sp>
        <p:nvSpPr>
          <p:cNvPr id="16" name="shape132"/>
          <p:cNvSpPr/>
          <p:nvPr/>
        </p:nvSpPr>
        <p:spPr>
          <a:xfrm>
            <a:off x="548640" y="3794760"/>
            <a:ext cx="3557016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/>
        </p:spPr>
      </p:sp>
      <p:sp>
        <p:nvSpPr>
          <p:cNvPr id="17" name="text133"/>
          <p:cNvSpPr txBox="1"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Mənbəyə görə</a:t>
            </a:r>
            <a:endParaRPr lang="en-US" sz="1800" dirty="0"/>
          </a:p>
        </p:txBody>
      </p:sp>
      <p:sp>
        <p:nvSpPr>
          <p:cNvPr id="18" name="text134"/>
          <p:cNvSpPr txBox="1"/>
          <p:nvPr/>
        </p:nvSpPr>
        <p:spPr>
          <a:xfrm>
            <a:off x="731520" y="43891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Təbii, texnogen, insan amili.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CrowdStrike (19 iyul 2024): </a:t>
            </a:r>
            <a:r>
              <a:rPr lang="en-US" sz="1400" dirty="0">
                <a:solidFill>
                  <a:schemeClr val="bg1"/>
                </a:solidFill>
              </a:rPr>
              <a:t>səhv yeniləmə faylı təxminən 8,5 milyon Windows cihazını çökdürdü, hücum olmadan.</a:t>
            </a:r>
            <a:endParaRPr lang="en-US" sz="1400" dirty="0"/>
          </a:p>
        </p:txBody>
      </p:sp>
      <p:sp>
        <p:nvSpPr>
          <p:cNvPr id="19" name="shape135"/>
          <p:cNvSpPr/>
          <p:nvPr/>
        </p:nvSpPr>
        <p:spPr>
          <a:xfrm>
            <a:off x="4315968" y="3794760"/>
            <a:ext cx="3557016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/>
        </p:spPr>
      </p:sp>
      <p:sp>
        <p:nvSpPr>
          <p:cNvPr id="20" name="text136"/>
          <p:cNvSpPr txBox="1"/>
          <p:nvPr/>
        </p:nvSpPr>
        <p:spPr>
          <a:xfrm>
            <a:off x="4498848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Niyyətə görə</a:t>
            </a:r>
            <a:endParaRPr lang="en-US" sz="1800" dirty="0"/>
          </a:p>
        </p:txBody>
      </p:sp>
      <p:sp>
        <p:nvSpPr>
          <p:cNvPr id="21" name="text137"/>
          <p:cNvSpPr txBox="1"/>
          <p:nvPr/>
        </p:nvSpPr>
        <p:spPr>
          <a:xfrm>
            <a:off x="4498848" y="43891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Təsadüfi: </a:t>
            </a:r>
            <a:r>
              <a:rPr lang="en-US" sz="1400" dirty="0">
                <a:solidFill>
                  <a:schemeClr val="bg1"/>
                </a:solidFill>
              </a:rPr>
              <a:t>Knight Capital, 45 dəqiqədə 460 milyon dollardan çox zərər.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Qərəzli: </a:t>
            </a:r>
            <a:r>
              <a:rPr lang="en-US" sz="1400" dirty="0">
                <a:solidFill>
                  <a:schemeClr val="bg1"/>
                </a:solidFill>
              </a:rPr>
              <a:t>Twitter (2020), işçilər telefonla aldadıldı.</a:t>
            </a:r>
            <a:endParaRPr lang="en-US" sz="1400" dirty="0"/>
          </a:p>
        </p:txBody>
      </p:sp>
      <p:sp>
        <p:nvSpPr>
          <p:cNvPr id="22" name="shape138"/>
          <p:cNvSpPr/>
          <p:nvPr/>
        </p:nvSpPr>
        <p:spPr>
          <a:xfrm>
            <a:off x="8083296" y="3794760"/>
            <a:ext cx="3557016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/>
        </p:spPr>
      </p:sp>
      <p:sp>
        <p:nvSpPr>
          <p:cNvPr id="23" name="text139"/>
          <p:cNvSpPr txBox="1"/>
          <p:nvPr/>
        </p:nvSpPr>
        <p:spPr>
          <a:xfrm>
            <a:off x="8266176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Mənşəyə görə</a:t>
            </a:r>
            <a:endParaRPr lang="en-US" sz="1800" dirty="0"/>
          </a:p>
        </p:txBody>
      </p:sp>
      <p:sp>
        <p:nvSpPr>
          <p:cNvPr id="24" name="text140"/>
          <p:cNvSpPr txBox="1"/>
          <p:nvPr/>
        </p:nvSpPr>
        <p:spPr>
          <a:xfrm>
            <a:off x="8266176" y="43891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Daxili təhdidlər sistemi yaxşı tanıdıqları üçün xüsusilə təhlükəlidir.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Target (2013): </a:t>
            </a:r>
            <a:r>
              <a:rPr lang="en-US" sz="1400" dirty="0">
                <a:solidFill>
                  <a:schemeClr val="bg1"/>
                </a:solidFill>
              </a:rPr>
              <a:t>hücumçular kondisioner podratçısının hesabı ilə daxil oldular, yəni podratçılar da faktiki daxili təhdid sahəsinə aiddir.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Güncəl statistika</a:t>
            </a:r>
            <a:endParaRPr lang="en-US" sz="3200" dirty="0"/>
          </a:p>
        </p:txBody>
      </p:sp>
      <p:sp>
        <p:nvSpPr>
          <p:cNvPr id="3" name="shape141"/>
          <p:cNvSpPr/>
          <p:nvPr/>
        </p:nvSpPr>
        <p:spPr>
          <a:xfrm>
            <a:off x="548640" y="1280160"/>
            <a:ext cx="5376672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4" name="text142"/>
          <p:cNvSpPr txBox="1"/>
          <p:nvPr/>
        </p:nvSpPr>
        <p:spPr>
          <a:xfrm>
            <a:off x="822960" y="128016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41%</a:t>
            </a:r>
            <a:endParaRPr lang="en-US" sz="5400" dirty="0"/>
          </a:p>
        </p:txBody>
      </p:sp>
      <p:sp>
        <p:nvSpPr>
          <p:cNvPr id="5" name="text143"/>
          <p:cNvSpPr txBox="1"/>
          <p:nvPr/>
        </p:nvSpPr>
        <p:spPr>
          <a:xfrm>
            <a:off x="3794760" y="1280160"/>
            <a:ext cx="1920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2024-cü ildə təşkilatların malware hücumu ilə üzləşmə payı</a:t>
            </a:r>
            <a:endParaRPr lang="en-US" sz="1500" dirty="0"/>
          </a:p>
        </p:txBody>
      </p:sp>
      <p:sp>
        <p:nvSpPr>
          <p:cNvPr id="6" name="shape144"/>
          <p:cNvSpPr/>
          <p:nvPr/>
        </p:nvSpPr>
        <p:spPr>
          <a:xfrm>
            <a:off x="6263640" y="1280160"/>
            <a:ext cx="5376672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7" name="text145"/>
          <p:cNvSpPr txBox="1"/>
          <p:nvPr/>
        </p:nvSpPr>
        <p:spPr>
          <a:xfrm>
            <a:off x="6537960" y="128016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27%+</a:t>
            </a:r>
            <a:endParaRPr lang="en-US" sz="5400" dirty="0"/>
          </a:p>
        </p:txBody>
      </p:sp>
      <p:sp>
        <p:nvSpPr>
          <p:cNvPr id="8" name="text146"/>
          <p:cNvSpPr txBox="1"/>
          <p:nvPr/>
        </p:nvSpPr>
        <p:spPr>
          <a:xfrm>
            <a:off x="9509760" y="1280160"/>
            <a:ext cx="1920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ransomware-ə məruz qalan müəssisələrin sayının artımı</a:t>
            </a:r>
            <a:endParaRPr lang="en-US" sz="1500" dirty="0"/>
          </a:p>
        </p:txBody>
      </p:sp>
      <p:sp>
        <p:nvSpPr>
          <p:cNvPr id="9" name="shape147"/>
          <p:cNvSpPr/>
          <p:nvPr/>
        </p:nvSpPr>
        <p:spPr>
          <a:xfrm>
            <a:off x="548640" y="3429000"/>
            <a:ext cx="5376672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0" name="text148"/>
          <p:cNvSpPr txBox="1"/>
          <p:nvPr/>
        </p:nvSpPr>
        <p:spPr>
          <a:xfrm>
            <a:off x="822960" y="342900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932 923</a:t>
            </a:r>
            <a:endParaRPr lang="en-US" sz="5400" dirty="0"/>
          </a:p>
        </p:txBody>
      </p:sp>
      <p:sp>
        <p:nvSpPr>
          <p:cNvPr id="11" name="text149"/>
          <p:cNvSpPr txBox="1"/>
          <p:nvPr/>
        </p:nvSpPr>
        <p:spPr>
          <a:xfrm>
            <a:off x="3794760" y="3429000"/>
            <a:ext cx="1920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2024-cü ilin 3-cü rübündə qeydə alınan fişinq hadisəsi</a:t>
            </a:r>
            <a:endParaRPr lang="en-US" sz="1500" dirty="0"/>
          </a:p>
        </p:txBody>
      </p:sp>
      <p:sp>
        <p:nvSpPr>
          <p:cNvPr id="12" name="shape150"/>
          <p:cNvSpPr/>
          <p:nvPr/>
        </p:nvSpPr>
        <p:spPr>
          <a:xfrm>
            <a:off x="6263640" y="3429000"/>
            <a:ext cx="5376672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3" name="text151"/>
          <p:cNvSpPr txBox="1"/>
          <p:nvPr/>
        </p:nvSpPr>
        <p:spPr>
          <a:xfrm>
            <a:off x="6537960" y="342900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37%</a:t>
            </a:r>
            <a:endParaRPr lang="en-US" sz="5400" dirty="0"/>
          </a:p>
        </p:txBody>
      </p:sp>
      <p:sp>
        <p:nvSpPr>
          <p:cNvPr id="14" name="text152"/>
          <p:cNvSpPr txBox="1"/>
          <p:nvPr/>
        </p:nvSpPr>
        <p:spPr>
          <a:xfrm>
            <a:off x="9509760" y="3429000"/>
            <a:ext cx="1920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daxili təhdidlərin kifayət qədər işçi təlimi olmamasından qaynaqlanan payı</a:t>
            </a:r>
            <a:endParaRPr lang="en-US" sz="1500" dirty="0"/>
          </a:p>
        </p:txBody>
      </p:sp>
      <p:sp>
        <p:nvSpPr>
          <p:cNvPr id="15" name="shape153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6" name="text154"/>
          <p:cNvSpPr txBox="1"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Təşkilatların yarısından azında formal ransomware planı var.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Təhlükəsizliyi təmin etmək şərtləri</a:t>
            </a:r>
            <a:endParaRPr lang="en-US" sz="3200" dirty="0"/>
          </a:p>
        </p:txBody>
      </p:sp>
      <p:sp>
        <p:nvSpPr>
          <p:cNvPr id="3" name="shape155"/>
          <p:cNvSpPr/>
          <p:nvPr/>
        </p:nvSpPr>
        <p:spPr>
          <a:xfrm>
            <a:off x="1051560" y="1234440"/>
            <a:ext cx="1737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4" name="text156"/>
          <p:cNvSpPr txBox="1"/>
          <p:nvPr/>
        </p:nvSpPr>
        <p:spPr>
          <a:xfrm>
            <a:off x="1051560" y="1234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Proqram-texniki</a:t>
            </a:r>
            <a:endParaRPr lang="en-US" sz="1400" dirty="0"/>
          </a:p>
        </p:txBody>
      </p:sp>
      <p:sp>
        <p:nvSpPr>
          <p:cNvPr id="5" name="text157"/>
          <p:cNvSpPr txBox="1"/>
          <p:nvPr/>
        </p:nvSpPr>
        <p:spPr>
          <a:xfrm>
            <a:off x="3566160" y="1234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MFA, giriş nəzarəti, şifrələmə, SIEM, IDS/IPS, firewall, EDR, zəifliklərin idarə edilməsi.</a:t>
            </a:r>
            <a:endParaRPr lang="en-US" sz="1300" dirty="0"/>
          </a:p>
        </p:txBody>
      </p:sp>
      <p:sp>
        <p:nvSpPr>
          <p:cNvPr id="6" name="shape158"/>
          <p:cNvSpPr/>
          <p:nvPr/>
        </p:nvSpPr>
        <p:spPr>
          <a:xfrm>
            <a:off x="868680" y="2148840"/>
            <a:ext cx="2103120" cy="132588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/>
        </p:spPr>
      </p:sp>
      <p:sp>
        <p:nvSpPr>
          <p:cNvPr id="7" name="text159"/>
          <p:cNvSpPr txBox="1"/>
          <p:nvPr/>
        </p:nvSpPr>
        <p:spPr>
          <a:xfrm>
            <a:off x="868680" y="21488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Prosedur</a:t>
            </a:r>
            <a:endParaRPr lang="en-US" sz="1400" dirty="0"/>
          </a:p>
        </p:txBody>
      </p:sp>
      <p:sp>
        <p:nvSpPr>
          <p:cNvPr id="8" name="text160"/>
          <p:cNvSpPr txBox="1"/>
          <p:nvPr/>
        </p:nvSpPr>
        <p:spPr>
          <a:xfrm>
            <a:off x="3566160" y="214884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İnsana yönəlmiş tədbirlər, çünki insan çox vaxt ən zəif halqadır. Təlim, fişinq simulyasiyaları, ehtiyat surət və bərpa planı. Maersk: bərpanı mümkün edən yeganə sağlam domen nəzarətçisi Qanadakı ofisdə enerji kəsintisi səbəbindən şəbəkədən ayrılmışdı.</a:t>
            </a:r>
            <a:endParaRPr lang="en-US" sz="1300" dirty="0"/>
          </a:p>
        </p:txBody>
      </p:sp>
      <p:sp>
        <p:nvSpPr>
          <p:cNvPr id="9" name="shape161"/>
          <p:cNvSpPr/>
          <p:nvPr/>
        </p:nvSpPr>
        <p:spPr>
          <a:xfrm>
            <a:off x="685800" y="3566160"/>
            <a:ext cx="2468880" cy="822960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/>
        </p:spPr>
      </p:sp>
      <p:sp>
        <p:nvSpPr>
          <p:cNvPr id="10" name="text162"/>
          <p:cNvSpPr txBox="1"/>
          <p:nvPr/>
        </p:nvSpPr>
        <p:spPr>
          <a:xfrm>
            <a:off x="68580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İnzibati</a:t>
            </a:r>
            <a:endParaRPr lang="en-US" sz="1400" dirty="0"/>
          </a:p>
        </p:txBody>
      </p:sp>
      <p:sp>
        <p:nvSpPr>
          <p:cNvPr id="11" name="text163"/>
          <p:cNvSpPr txBox="1"/>
          <p:nvPr/>
        </p:nvSpPr>
        <p:spPr>
          <a:xfrm>
            <a:off x="3566160" y="3566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Rəhbərlik siyasəti təsdiq edir, resurs ayırır, məsuliyyətləri bölüşdürür.</a:t>
            </a:r>
            <a:endParaRPr lang="en-US" sz="1300" dirty="0"/>
          </a:p>
        </p:txBody>
      </p:sp>
      <p:sp>
        <p:nvSpPr>
          <p:cNvPr id="12" name="shape164"/>
          <p:cNvSpPr/>
          <p:nvPr/>
        </p:nvSpPr>
        <p:spPr>
          <a:xfrm>
            <a:off x="502920" y="4480560"/>
            <a:ext cx="283464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3" name="text165"/>
          <p:cNvSpPr txBox="1"/>
          <p:nvPr/>
        </p:nvSpPr>
        <p:spPr>
          <a:xfrm>
            <a:off x="502920" y="44805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Qanunvericilik</a:t>
            </a:r>
            <a:endParaRPr lang="en-US" sz="1400" dirty="0"/>
          </a:p>
        </p:txBody>
      </p:sp>
      <p:sp>
        <p:nvSpPr>
          <p:cNvPr id="14" name="text166"/>
          <p:cNvSpPr txBox="1"/>
          <p:nvPr/>
        </p:nvSpPr>
        <p:spPr>
          <a:xfrm>
            <a:off x="3566160" y="44805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Azərbaycanda “Şəxsi məlumatlar haqqında” və “İnformasiya, informasiyalaşdırma və informasiyanın mühafizəsi haqqında” qanunlar. Beynəlxalq: ISO/IEC 27001, NIST, PCI DSS, GDPR.</a:t>
            </a:r>
            <a:endParaRPr lang="en-US" sz="1300" dirty="0"/>
          </a:p>
        </p:txBody>
      </p:sp>
      <p:sp>
        <p:nvSpPr>
          <p:cNvPr id="15" name="text167"/>
          <p:cNvSpPr txBox="1"/>
          <p:nvPr/>
        </p:nvSpPr>
        <p:spPr>
          <a:xfrm>
            <a:off x="85039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ÜÇ PRINSIP</a:t>
            </a:r>
            <a:endParaRPr lang="en-US" sz="1200" dirty="0"/>
          </a:p>
        </p:txBody>
      </p:sp>
      <p:sp>
        <p:nvSpPr>
          <p:cNvPr id="16" name="shape168"/>
          <p:cNvSpPr/>
          <p:nvPr/>
        </p:nvSpPr>
        <p:spPr>
          <a:xfrm>
            <a:off x="8503920" y="1600200"/>
            <a:ext cx="1280160" cy="1280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169"/>
          <p:cNvSpPr txBox="1"/>
          <p:nvPr/>
        </p:nvSpPr>
        <p:spPr>
          <a:xfrm>
            <a:off x="8503920" y="1600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Minimum imtiyaz</a:t>
            </a:r>
            <a:endParaRPr lang="en-US" sz="1300" dirty="0"/>
          </a:p>
        </p:txBody>
      </p:sp>
      <p:sp>
        <p:nvSpPr>
          <p:cNvPr id="18" name="shape170"/>
          <p:cNvSpPr/>
          <p:nvPr/>
        </p:nvSpPr>
        <p:spPr>
          <a:xfrm>
            <a:off x="8503920" y="297180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171"/>
          <p:cNvSpPr txBox="1"/>
          <p:nvPr/>
        </p:nvSpPr>
        <p:spPr>
          <a:xfrm>
            <a:off x="8503920" y="2971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Laylı müdafiə</a:t>
            </a:r>
            <a:endParaRPr lang="en-US" sz="1300" dirty="0"/>
          </a:p>
        </p:txBody>
      </p:sp>
      <p:sp>
        <p:nvSpPr>
          <p:cNvPr id="20" name="shape172"/>
          <p:cNvSpPr/>
          <p:nvPr/>
        </p:nvSpPr>
        <p:spPr>
          <a:xfrm>
            <a:off x="8503920" y="434340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173"/>
          <p:cNvSpPr txBox="1"/>
          <p:nvPr/>
        </p:nvSpPr>
        <p:spPr>
          <a:xfrm>
            <a:off x="8503920" y="4343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Davamlılıq</a:t>
            </a:r>
            <a:endParaRPr lang="en-US" sz="1300" dirty="0"/>
          </a:p>
        </p:txBody>
      </p:sp>
      <p:sp>
        <p:nvSpPr>
          <p:cNvPr id="22" name="text174"/>
          <p:cNvSpPr txBox="1"/>
          <p:nvPr/>
        </p:nvSpPr>
        <p:spPr>
          <a:xfrm>
            <a:off x="9921240" y="43434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planlaşdır → icra et → yoxla → təkmilləşdir</a:t>
            </a:r>
            <a:endParaRPr lang="en-US" sz="1400" dirty="0"/>
          </a:p>
        </p:txBody>
      </p:sp>
      <p:sp>
        <p:nvSpPr>
          <p:cNvPr id="23" name="shape175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24" name="text176"/>
          <p:cNvSpPr txBox="1"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Düzgün yol (yuxarıdan aşağıya): </a:t>
            </a:r>
            <a:r>
              <a:rPr lang="en-US" sz="1300" dirty="0">
                <a:solidFill>
                  <a:schemeClr val="bg1"/>
                </a:solidFill>
              </a:rPr>
              <a:t>əvvəlcə aktivlər və risk təhlili, sonra siyasət, arxitektura və reallaşdırma. Əvvəlcə alət alıb sonra ona yer axtarmaq pərakəndə təhlükəsizliyə gətirir.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Təhlükəsizlik mühiti niyə dəyişir?</a:t>
            </a:r>
            <a:endParaRPr lang="en-US" sz="3200" dirty="0"/>
          </a:p>
        </p:txBody>
      </p:sp>
      <p:sp>
        <p:nvSpPr>
          <p:cNvPr id="3" name="shape177"/>
          <p:cNvSpPr/>
          <p:nvPr/>
        </p:nvSpPr>
        <p:spPr>
          <a:xfrm>
            <a:off x="9079992" y="502920"/>
            <a:ext cx="256032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4" name="text178"/>
          <p:cNvSpPr txBox="1"/>
          <p:nvPr/>
        </p:nvSpPr>
        <p:spPr>
          <a:xfrm>
            <a:off x="9079992" y="5029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II HİSSƏ: HƏYAT DÖVRÜ</a:t>
            </a:r>
            <a:endParaRPr lang="en-US" sz="1200" dirty="0"/>
          </a:p>
        </p:txBody>
      </p:sp>
      <p:sp>
        <p:nvSpPr>
          <p:cNvPr id="5" name="text179"/>
          <p:cNvSpPr txBox="1"/>
          <p:nvPr/>
        </p:nvSpPr>
        <p:spPr>
          <a:xfrm>
            <a:off x="548640" y="1097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Təhlükəsizlik bir dəfə qurulub bitən layihə deyil. Siyasətə baxış ildə ən azı bir dəfə və ya əhəmiyyətli dəyişikliklərdən sonra aparılmalıdır.</a:t>
            </a:r>
            <a:endParaRPr lang="en-US" sz="1500" dirty="0"/>
          </a:p>
        </p:txBody>
      </p:sp>
      <p:sp>
        <p:nvSpPr>
          <p:cNvPr id="6" name="shape180"/>
          <p:cNvSpPr/>
          <p:nvPr/>
        </p:nvSpPr>
        <p:spPr>
          <a:xfrm>
            <a:off x="548640" y="17830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7" name="text181"/>
          <p:cNvSpPr txBox="1"/>
          <p:nvPr/>
        </p:nvSpPr>
        <p:spPr>
          <a:xfrm>
            <a:off x="731520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Yeni zəifliklər</a:t>
            </a:r>
            <a:endParaRPr lang="en-US" sz="1500" dirty="0"/>
          </a:p>
        </p:txBody>
      </p:sp>
      <p:sp>
        <p:nvSpPr>
          <p:cNvPr id="8" name="text182"/>
          <p:cNvSpPr txBox="1"/>
          <p:nvPr/>
        </p:nvSpPr>
        <p:spPr>
          <a:xfrm>
            <a:off x="731520" y="22128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Equifax-da bir sistemdə yamaq tətbiq edilməmişdi.</a:t>
            </a:r>
            <a:endParaRPr lang="en-US" sz="1300" dirty="0"/>
          </a:p>
        </p:txBody>
      </p:sp>
      <p:sp>
        <p:nvSpPr>
          <p:cNvPr id="9" name="shape183"/>
          <p:cNvSpPr/>
          <p:nvPr/>
        </p:nvSpPr>
        <p:spPr>
          <a:xfrm>
            <a:off x="548640" y="33832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0" name="text184"/>
          <p:cNvSpPr txBox="1"/>
          <p:nvPr/>
        </p:nvSpPr>
        <p:spPr>
          <a:xfrm>
            <a:off x="731520" y="3493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Yeni qanunlar</a:t>
            </a:r>
            <a:endParaRPr lang="en-US" sz="1500" dirty="0"/>
          </a:p>
        </p:txBody>
      </p:sp>
      <p:sp>
        <p:nvSpPr>
          <p:cNvPr id="11" name="text185"/>
          <p:cNvSpPr txBox="1"/>
          <p:nvPr/>
        </p:nvSpPr>
        <p:spPr>
          <a:xfrm>
            <a:off x="731520" y="38130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Colonial Pipeline-dan bir neçə gün sonra ABŞ-da 14028 saylı Prezident Sərəncamı imzalandı.</a:t>
            </a:r>
            <a:endParaRPr lang="en-US" sz="1300" dirty="0"/>
          </a:p>
        </p:txBody>
      </p:sp>
      <p:sp>
        <p:nvSpPr>
          <p:cNvPr id="12" name="shape186"/>
          <p:cNvSpPr/>
          <p:nvPr/>
        </p:nvSpPr>
        <p:spPr>
          <a:xfrm>
            <a:off x="548640" y="49834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3" name="text187"/>
          <p:cNvSpPr txBox="1"/>
          <p:nvPr/>
        </p:nvSpPr>
        <p:spPr>
          <a:xfrm>
            <a:off x="731520" y="5093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Yeni texnologiyalar</a:t>
            </a:r>
            <a:endParaRPr lang="en-US" sz="1500" dirty="0"/>
          </a:p>
        </p:txBody>
      </p:sp>
      <p:sp>
        <p:nvSpPr>
          <p:cNvPr id="14" name="text188"/>
          <p:cNvSpPr txBox="1"/>
          <p:nvPr/>
        </p:nvSpPr>
        <p:spPr>
          <a:xfrm>
            <a:off x="731520" y="54132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IT mütəxəssislərinin 57%-i süni intellekti böyük narahatlıq sayır, 2024-cü ilin 3-cü rübündə buluddakı təhdidlər 20% artıb.</a:t>
            </a:r>
            <a:endParaRPr lang="en-US" sz="1300" dirty="0"/>
          </a:p>
        </p:txBody>
      </p:sp>
      <p:sp>
        <p:nvSpPr>
          <p:cNvPr id="15" name="shape189"/>
          <p:cNvSpPr/>
          <p:nvPr/>
        </p:nvSpPr>
        <p:spPr>
          <a:xfrm>
            <a:off x="7891272" y="17830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6" name="text190"/>
          <p:cNvSpPr txBox="1"/>
          <p:nvPr/>
        </p:nvSpPr>
        <p:spPr>
          <a:xfrm>
            <a:off x="8074152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Tərəfdaşlar</a:t>
            </a:r>
            <a:endParaRPr lang="en-US" sz="1500" dirty="0"/>
          </a:p>
        </p:txBody>
      </p:sp>
      <p:sp>
        <p:nvSpPr>
          <p:cNvPr id="17" name="text191"/>
          <p:cNvSpPr txBox="1"/>
          <p:nvPr/>
        </p:nvSpPr>
        <p:spPr>
          <a:xfrm>
            <a:off x="8074152" y="22128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Target-də hücum podratçı hesabı ilə başladı.</a:t>
            </a:r>
            <a:endParaRPr lang="en-US" sz="1300" dirty="0"/>
          </a:p>
        </p:txBody>
      </p:sp>
      <p:sp>
        <p:nvSpPr>
          <p:cNvPr id="18" name="shape192"/>
          <p:cNvSpPr/>
          <p:nvPr/>
        </p:nvSpPr>
        <p:spPr>
          <a:xfrm>
            <a:off x="7891272" y="33832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text193"/>
          <p:cNvSpPr txBox="1"/>
          <p:nvPr/>
        </p:nvSpPr>
        <p:spPr>
          <a:xfrm>
            <a:off x="8074152" y="3493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Heyət</a:t>
            </a:r>
            <a:endParaRPr lang="en-US" sz="1500" dirty="0"/>
          </a:p>
        </p:txBody>
      </p:sp>
      <p:sp>
        <p:nvSpPr>
          <p:cNvPr id="20" name="text194"/>
          <p:cNvSpPr txBox="1"/>
          <p:nvPr/>
        </p:nvSpPr>
        <p:spPr>
          <a:xfrm>
            <a:off x="8074152" y="38130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Daxili təhdidlərin 37%-i təlimsizlikdən, 25%-i narazı işçilərdən qaynaqlanır.</a:t>
            </a:r>
            <a:endParaRPr lang="en-US" sz="1300" dirty="0"/>
          </a:p>
        </p:txBody>
      </p:sp>
      <p:sp>
        <p:nvSpPr>
          <p:cNvPr id="21" name="shape195"/>
          <p:cNvSpPr/>
          <p:nvPr/>
        </p:nvSpPr>
        <p:spPr>
          <a:xfrm>
            <a:off x="7891272" y="49834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2" name="text196"/>
          <p:cNvSpPr txBox="1"/>
          <p:nvPr/>
        </p:nvSpPr>
        <p:spPr>
          <a:xfrm>
            <a:off x="8074152" y="5093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Dəyişikliklərin idarəsi</a:t>
            </a:r>
            <a:endParaRPr lang="en-US" sz="1500" dirty="0"/>
          </a:p>
        </p:txBody>
      </p:sp>
      <p:sp>
        <p:nvSpPr>
          <p:cNvPr id="23" name="text197"/>
          <p:cNvSpPr txBox="1"/>
          <p:nvPr/>
        </p:nvSpPr>
        <p:spPr>
          <a:xfrm>
            <a:off x="8074152" y="54132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Knight Capital-da yeni proqram serverlərin yalnız bir hissəsinə yerləşdirildi, 45 dəqiqədə 460 milyon dollardan çox zərər yarandı.</a:t>
            </a:r>
            <a:endParaRPr lang="en-US" sz="1300" dirty="0"/>
          </a:p>
        </p:txBody>
      </p:sp>
      <p:sp>
        <p:nvSpPr>
          <p:cNvPr id="24" name="shape198"/>
          <p:cNvSpPr/>
          <p:nvPr/>
        </p:nvSpPr>
        <p:spPr>
          <a:xfrm>
            <a:off x="5413248" y="2286000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5" name="text199"/>
          <p:cNvSpPr txBox="1"/>
          <p:nvPr/>
        </p:nvSpPr>
        <p:spPr>
          <a:xfrm>
            <a:off x="5413248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Planlaşdır</a:t>
            </a:r>
            <a:endParaRPr lang="en-US" sz="1400" dirty="0"/>
          </a:p>
        </p:txBody>
      </p:sp>
      <p:sp>
        <p:nvSpPr>
          <p:cNvPr id="26" name="shape200"/>
          <p:cNvSpPr/>
          <p:nvPr/>
        </p:nvSpPr>
        <p:spPr>
          <a:xfrm>
            <a:off x="6309360" y="3858768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7" name="text201"/>
          <p:cNvSpPr txBox="1"/>
          <p:nvPr/>
        </p:nvSpPr>
        <p:spPr>
          <a:xfrm>
            <a:off x="6309360" y="3858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İcra et</a:t>
            </a:r>
            <a:endParaRPr lang="en-US" sz="1400" dirty="0"/>
          </a:p>
        </p:txBody>
      </p:sp>
      <p:sp>
        <p:nvSpPr>
          <p:cNvPr id="28" name="shape202"/>
          <p:cNvSpPr/>
          <p:nvPr/>
        </p:nvSpPr>
        <p:spPr>
          <a:xfrm>
            <a:off x="5413248" y="5440680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29" name="text203"/>
          <p:cNvSpPr txBox="1"/>
          <p:nvPr/>
        </p:nvSpPr>
        <p:spPr>
          <a:xfrm>
            <a:off x="5413248" y="5440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Yoxla</a:t>
            </a:r>
            <a:endParaRPr lang="en-US" sz="1400" dirty="0"/>
          </a:p>
        </p:txBody>
      </p:sp>
      <p:sp>
        <p:nvSpPr>
          <p:cNvPr id="30" name="shape204"/>
          <p:cNvSpPr/>
          <p:nvPr/>
        </p:nvSpPr>
        <p:spPr>
          <a:xfrm>
            <a:off x="4526280" y="3858768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31" name="text205"/>
          <p:cNvSpPr txBox="1"/>
          <p:nvPr/>
        </p:nvSpPr>
        <p:spPr>
          <a:xfrm>
            <a:off x="4526280" y="3858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Təkmilləşdir</a:t>
            </a:r>
            <a:endParaRPr lang="en-US" sz="1400" dirty="0"/>
          </a:p>
        </p:txBody>
      </p:sp>
      <p:sp>
        <p:nvSpPr>
          <p:cNvPr id="32" name="arrow206"/>
          <p:cNvSpPr/>
          <p:nvPr/>
        </p:nvSpPr>
        <p:spPr>
          <a:xfrm rot="2700000">
            <a:off x="6446520" y="299466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3" name="arrow207"/>
          <p:cNvSpPr/>
          <p:nvPr/>
        </p:nvSpPr>
        <p:spPr>
          <a:xfrm rot="8100000">
            <a:off x="6446520" y="486918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4" name="arrow208"/>
          <p:cNvSpPr/>
          <p:nvPr/>
        </p:nvSpPr>
        <p:spPr>
          <a:xfrm rot="13500000">
            <a:off x="5303520" y="486918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5" name="arrow209"/>
          <p:cNvSpPr/>
          <p:nvPr/>
        </p:nvSpPr>
        <p:spPr>
          <a:xfrm rot="18900000">
            <a:off x="5303520" y="299466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SDLC və Secure SDLC</a:t>
            </a:r>
            <a:endParaRPr lang="en-US" sz="3200" dirty="0"/>
          </a:p>
        </p:txBody>
      </p:sp>
      <p:sp>
        <p:nvSpPr>
          <p:cNvPr id="3" name="text210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SDLC proqram təminatının həyat dövrüdür: planlaşdırma, layihələndirmə, yazma, test və istismar.</a:t>
            </a:r>
            <a:endParaRPr lang="en-US" sz="1600" dirty="0"/>
          </a:p>
        </p:txBody>
      </p:sp>
      <p:sp>
        <p:nvSpPr>
          <p:cNvPr id="4" name="shape211"/>
          <p:cNvSpPr/>
          <p:nvPr/>
        </p:nvSpPr>
        <p:spPr>
          <a:xfrm>
            <a:off x="548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/>
        </p:spPr>
      </p:sp>
      <p:sp>
        <p:nvSpPr>
          <p:cNvPr id="5" name="text212"/>
          <p:cNvSpPr txBox="1"/>
          <p:nvPr/>
        </p:nvSpPr>
        <p:spPr>
          <a:xfrm>
            <a:off x="548640" y="1737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Adi SDLC</a:t>
            </a:r>
            <a:endParaRPr lang="en-US" sz="2000" dirty="0"/>
          </a:p>
        </p:txBody>
      </p:sp>
      <p:sp>
        <p:nvSpPr>
          <p:cNvPr id="6" name="shape213"/>
          <p:cNvSpPr/>
          <p:nvPr/>
        </p:nvSpPr>
        <p:spPr>
          <a:xfrm>
            <a:off x="2834640" y="1737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text214"/>
          <p:cNvSpPr txBox="1"/>
          <p:nvPr/>
        </p:nvSpPr>
        <p:spPr>
          <a:xfrm>
            <a:off x="283464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Planlaşdırma</a:t>
            </a:r>
            <a:endParaRPr lang="en-US" sz="1500" dirty="0"/>
          </a:p>
        </p:txBody>
      </p:sp>
      <p:sp>
        <p:nvSpPr>
          <p:cNvPr id="8" name="shape215"/>
          <p:cNvSpPr/>
          <p:nvPr/>
        </p:nvSpPr>
        <p:spPr>
          <a:xfrm>
            <a:off x="4617720" y="1737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9" name="text216"/>
          <p:cNvSpPr txBox="1"/>
          <p:nvPr/>
        </p:nvSpPr>
        <p:spPr>
          <a:xfrm>
            <a:off x="461772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Layihələndirmə</a:t>
            </a:r>
            <a:endParaRPr lang="en-US" sz="1500" dirty="0"/>
          </a:p>
        </p:txBody>
      </p:sp>
      <p:sp>
        <p:nvSpPr>
          <p:cNvPr id="10" name="shape217"/>
          <p:cNvSpPr/>
          <p:nvPr/>
        </p:nvSpPr>
        <p:spPr>
          <a:xfrm>
            <a:off x="6400800" y="1737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1" name="text218"/>
          <p:cNvSpPr txBox="1"/>
          <p:nvPr/>
        </p:nvSpPr>
        <p:spPr>
          <a:xfrm>
            <a:off x="640080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Yazma</a:t>
            </a:r>
            <a:endParaRPr lang="en-US" sz="1500" dirty="0"/>
          </a:p>
        </p:txBody>
      </p:sp>
      <p:sp>
        <p:nvSpPr>
          <p:cNvPr id="12" name="shape219"/>
          <p:cNvSpPr/>
          <p:nvPr/>
        </p:nvSpPr>
        <p:spPr>
          <a:xfrm>
            <a:off x="8183880" y="1737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pic>
        <p:nvPicPr>
          <p:cNvPr id="13" name="lock2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965960"/>
            <a:ext cx="274320" cy="274320"/>
          </a:xfrm>
          <a:prstGeom prst="rect">
            <a:avLst/>
          </a:prstGeom>
        </p:spPr>
      </p:pic>
      <p:sp>
        <p:nvSpPr>
          <p:cNvPr id="14" name="text221"/>
          <p:cNvSpPr txBox="1"/>
          <p:nvPr/>
        </p:nvSpPr>
        <p:spPr>
          <a:xfrm>
            <a:off x="818388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Test</a:t>
            </a:r>
            <a:endParaRPr lang="en-US" sz="1500" dirty="0"/>
          </a:p>
        </p:txBody>
      </p:sp>
      <p:sp>
        <p:nvSpPr>
          <p:cNvPr id="15" name="shape222"/>
          <p:cNvSpPr/>
          <p:nvPr/>
        </p:nvSpPr>
        <p:spPr>
          <a:xfrm>
            <a:off x="9966960" y="1737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6" name="text223"/>
          <p:cNvSpPr txBox="1"/>
          <p:nvPr/>
        </p:nvSpPr>
        <p:spPr>
          <a:xfrm>
            <a:off x="996696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İstismar</a:t>
            </a:r>
            <a:endParaRPr lang="en-US" sz="1500" dirty="0"/>
          </a:p>
        </p:txBody>
      </p:sp>
      <p:sp>
        <p:nvSpPr>
          <p:cNvPr id="17" name="shape224"/>
          <p:cNvSpPr/>
          <p:nvPr/>
        </p:nvSpPr>
        <p:spPr>
          <a:xfrm>
            <a:off x="548640" y="4023360"/>
            <a:ext cx="21031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8" name="text225"/>
          <p:cNvSpPr txBox="1"/>
          <p:nvPr/>
        </p:nvSpPr>
        <p:spPr>
          <a:xfrm>
            <a:off x="548640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Secure SDLC</a:t>
            </a:r>
            <a:endParaRPr lang="en-US" sz="2000" dirty="0"/>
          </a:p>
        </p:txBody>
      </p:sp>
      <p:sp>
        <p:nvSpPr>
          <p:cNvPr id="19" name="shape226"/>
          <p:cNvSpPr/>
          <p:nvPr/>
        </p:nvSpPr>
        <p:spPr>
          <a:xfrm>
            <a:off x="2834640" y="4023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20" name="lock22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251960"/>
            <a:ext cx="274320" cy="274320"/>
          </a:xfrm>
          <a:prstGeom prst="rect">
            <a:avLst/>
          </a:prstGeom>
        </p:spPr>
      </p:pic>
      <p:sp>
        <p:nvSpPr>
          <p:cNvPr id="21" name="text228"/>
          <p:cNvSpPr txBox="1"/>
          <p:nvPr/>
        </p:nvSpPr>
        <p:spPr>
          <a:xfrm>
            <a:off x="2834640" y="4663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Planlaşdırma</a:t>
            </a:r>
            <a:endParaRPr lang="en-US" sz="1500" dirty="0"/>
          </a:p>
        </p:txBody>
      </p:sp>
      <p:sp>
        <p:nvSpPr>
          <p:cNvPr id="22" name="shape229"/>
          <p:cNvSpPr/>
          <p:nvPr/>
        </p:nvSpPr>
        <p:spPr>
          <a:xfrm>
            <a:off x="4617720" y="4023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23" name="lock23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251960"/>
            <a:ext cx="274320" cy="274320"/>
          </a:xfrm>
          <a:prstGeom prst="rect">
            <a:avLst/>
          </a:prstGeom>
        </p:spPr>
      </p:pic>
      <p:sp>
        <p:nvSpPr>
          <p:cNvPr id="24" name="text231"/>
          <p:cNvSpPr txBox="1"/>
          <p:nvPr/>
        </p:nvSpPr>
        <p:spPr>
          <a:xfrm>
            <a:off x="4617720" y="4663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Layihələndirmə</a:t>
            </a:r>
            <a:endParaRPr lang="en-US" sz="1500" dirty="0"/>
          </a:p>
        </p:txBody>
      </p:sp>
      <p:sp>
        <p:nvSpPr>
          <p:cNvPr id="25" name="shape232"/>
          <p:cNvSpPr/>
          <p:nvPr/>
        </p:nvSpPr>
        <p:spPr>
          <a:xfrm>
            <a:off x="6400800" y="4023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26" name="lock23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251960"/>
            <a:ext cx="274320" cy="274320"/>
          </a:xfrm>
          <a:prstGeom prst="rect">
            <a:avLst/>
          </a:prstGeom>
        </p:spPr>
      </p:pic>
      <p:sp>
        <p:nvSpPr>
          <p:cNvPr id="27" name="text234"/>
          <p:cNvSpPr txBox="1"/>
          <p:nvPr/>
        </p:nvSpPr>
        <p:spPr>
          <a:xfrm>
            <a:off x="6400800" y="4663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Yazma</a:t>
            </a:r>
            <a:endParaRPr lang="en-US" sz="1500" dirty="0"/>
          </a:p>
        </p:txBody>
      </p:sp>
      <p:sp>
        <p:nvSpPr>
          <p:cNvPr id="28" name="shape235"/>
          <p:cNvSpPr/>
          <p:nvPr/>
        </p:nvSpPr>
        <p:spPr>
          <a:xfrm>
            <a:off x="8183880" y="4023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29" name="lock23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251960"/>
            <a:ext cx="274320" cy="274320"/>
          </a:xfrm>
          <a:prstGeom prst="rect">
            <a:avLst/>
          </a:prstGeom>
        </p:spPr>
      </p:pic>
      <p:sp>
        <p:nvSpPr>
          <p:cNvPr id="30" name="text237"/>
          <p:cNvSpPr txBox="1"/>
          <p:nvPr/>
        </p:nvSpPr>
        <p:spPr>
          <a:xfrm>
            <a:off x="8183880" y="4663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Test</a:t>
            </a:r>
            <a:endParaRPr lang="en-US" sz="1500" dirty="0"/>
          </a:p>
        </p:txBody>
      </p:sp>
      <p:sp>
        <p:nvSpPr>
          <p:cNvPr id="31" name="shape238"/>
          <p:cNvSpPr/>
          <p:nvPr/>
        </p:nvSpPr>
        <p:spPr>
          <a:xfrm>
            <a:off x="9966960" y="4023360"/>
            <a:ext cx="16459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32" name="lock23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4251960"/>
            <a:ext cx="274320" cy="274320"/>
          </a:xfrm>
          <a:prstGeom prst="rect">
            <a:avLst/>
          </a:prstGeom>
        </p:spPr>
      </p:pic>
      <p:sp>
        <p:nvSpPr>
          <p:cNvPr id="33" name="text240"/>
          <p:cNvSpPr txBox="1"/>
          <p:nvPr/>
        </p:nvSpPr>
        <p:spPr>
          <a:xfrm>
            <a:off x="9966960" y="4663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İstismar</a:t>
            </a:r>
            <a:endParaRPr lang="en-US" sz="1500" dirty="0"/>
          </a:p>
        </p:txBody>
      </p:sp>
      <p:sp>
        <p:nvSpPr>
          <p:cNvPr id="34" name="text24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Adi SDLC: </a:t>
            </a:r>
            <a:r>
              <a:rPr lang="en-US" sz="1600" dirty="0">
                <a:solidFill>
                  <a:schemeClr val="tx1"/>
                </a:solidFill>
              </a:rPr>
              <a:t>təhlükəsizlik çox vaxt yalnız test mərhələsində yoxlanır.</a:t>
            </a:r>
            <a:endParaRPr lang="en-US" sz="1600" dirty="0"/>
          </a:p>
        </p:txBody>
      </p:sp>
      <p:sp>
        <p:nvSpPr>
          <p:cNvPr id="35" name="text242"/>
          <p:cNvSpPr txBox="1"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Secure SDLC: </a:t>
            </a:r>
            <a:r>
              <a:rPr lang="en-US" sz="1600" dirty="0">
                <a:solidFill>
                  <a:schemeClr val="tx1"/>
                </a:solidFill>
              </a:rPr>
              <a:t>təhlükəsizlik hər mərhələyə daxil edilir, hər mərhələdə təhlükəsizlik fəaliyyəti var.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Hər mərhələdə nə edilir?</a:t>
            </a:r>
            <a:endParaRPr lang="en-US" sz="3200" dirty="0"/>
          </a:p>
        </p:txBody>
      </p:sp>
      <p:sp>
        <p:nvSpPr>
          <p:cNvPr id="3" name="shape243"/>
          <p:cNvSpPr/>
          <p:nvPr/>
        </p:nvSpPr>
        <p:spPr>
          <a:xfrm>
            <a:off x="548640" y="1280160"/>
            <a:ext cx="546811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4" name="shape244"/>
          <p:cNvSpPr/>
          <p:nvPr/>
        </p:nvSpPr>
        <p:spPr>
          <a:xfrm>
            <a:off x="777240" y="146304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5" name="text245"/>
          <p:cNvSpPr txBox="1"/>
          <p:nvPr/>
        </p:nvSpPr>
        <p:spPr>
          <a:xfrm>
            <a:off x="777240" y="14630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246"/>
          <p:cNvSpPr txBox="1"/>
          <p:nvPr/>
        </p:nvSpPr>
        <p:spPr>
          <a:xfrm>
            <a:off x="1371600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Tələblər və layihələndirmə</a:t>
            </a:r>
            <a:endParaRPr lang="en-US" sz="2000" dirty="0"/>
          </a:p>
        </p:txBody>
      </p:sp>
      <p:sp>
        <p:nvSpPr>
          <p:cNvPr id="7" name="text247"/>
          <p:cNvSpPr txBox="1"/>
          <p:nvPr/>
        </p:nvSpPr>
        <p:spPr>
          <a:xfrm>
            <a:off x="777240" y="1965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Təhlükəsizlik tələbləri funksional tələblərlə birlikdə yazılır, təhdid modelləşdirilir.</a:t>
            </a:r>
            <a:endParaRPr lang="en-US" sz="1400" dirty="0"/>
          </a:p>
        </p:txBody>
      </p:sp>
      <p:sp>
        <p:nvSpPr>
          <p:cNvPr id="8" name="shape248"/>
          <p:cNvSpPr/>
          <p:nvPr/>
        </p:nvSpPr>
        <p:spPr>
          <a:xfrm>
            <a:off x="777240" y="2743200"/>
            <a:ext cx="501091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9" name="text249"/>
          <p:cNvSpPr txBox="1"/>
          <p:nvPr/>
        </p:nvSpPr>
        <p:spPr>
          <a:xfrm>
            <a:off x="960120" y="2743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Alətlər: </a:t>
            </a:r>
            <a:r>
              <a:rPr lang="en-US" sz="1300" dirty="0">
                <a:solidFill>
                  <a:schemeClr val="bg1"/>
                </a:solidFill>
              </a:rPr>
              <a:t>Microsoft Threat Modeling Tool, OWASP Threat Dragon.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Dizayn prinsipləri: </a:t>
            </a:r>
            <a:r>
              <a:rPr lang="en-US" sz="1300" dirty="0">
                <a:solidFill>
                  <a:schemeClr val="bg1"/>
                </a:solidFill>
              </a:rPr>
              <a:t>minimum imtiyaz, laylı müdafiə.</a:t>
            </a:r>
            <a:endParaRPr lang="en-US" sz="1300" dirty="0"/>
          </a:p>
        </p:txBody>
      </p:sp>
      <p:sp>
        <p:nvSpPr>
          <p:cNvPr id="10" name="shape250"/>
          <p:cNvSpPr/>
          <p:nvPr/>
        </p:nvSpPr>
        <p:spPr>
          <a:xfrm>
            <a:off x="6172200" y="1280160"/>
            <a:ext cx="546811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1" name="shape251"/>
          <p:cNvSpPr/>
          <p:nvPr/>
        </p:nvSpPr>
        <p:spPr>
          <a:xfrm>
            <a:off x="6400800" y="146304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12" name="text252"/>
          <p:cNvSpPr txBox="1"/>
          <p:nvPr/>
        </p:nvSpPr>
        <p:spPr>
          <a:xfrm>
            <a:off x="6400800" y="14630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253"/>
          <p:cNvSpPr txBox="1"/>
          <p:nvPr/>
        </p:nvSpPr>
        <p:spPr>
          <a:xfrm>
            <a:off x="6995160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Yazma</a:t>
            </a:r>
            <a:endParaRPr lang="en-US" sz="2000" dirty="0"/>
          </a:p>
        </p:txBody>
      </p:sp>
      <p:sp>
        <p:nvSpPr>
          <p:cNvPr id="14" name="text254"/>
          <p:cNvSpPr txBox="1"/>
          <p:nvPr/>
        </p:nvSpPr>
        <p:spPr>
          <a:xfrm>
            <a:off x="6400800" y="1965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SAST alətləri mənbə kodunu işə salmadan boşluqlara görə analiz edir.</a:t>
            </a:r>
            <a:endParaRPr lang="en-US" sz="1400" dirty="0"/>
          </a:p>
        </p:txBody>
      </p:sp>
      <p:sp>
        <p:nvSpPr>
          <p:cNvPr id="15" name="shape255"/>
          <p:cNvSpPr/>
          <p:nvPr/>
        </p:nvSpPr>
        <p:spPr>
          <a:xfrm>
            <a:off x="6400800" y="2743200"/>
            <a:ext cx="501091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16" name="text256"/>
          <p:cNvSpPr txBox="1"/>
          <p:nvPr/>
        </p:nvSpPr>
        <p:spPr>
          <a:xfrm>
            <a:off x="6583680" y="2743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SAST: </a:t>
            </a:r>
            <a:r>
              <a:rPr lang="en-US" sz="1300" dirty="0">
                <a:solidFill>
                  <a:schemeClr val="bg1"/>
                </a:solidFill>
              </a:rPr>
              <a:t>mənbə kodunun statik analizi.</a:t>
            </a:r>
            <a:endParaRPr lang="en-US" sz="1300" dirty="0"/>
          </a:p>
        </p:txBody>
      </p:sp>
      <p:sp>
        <p:nvSpPr>
          <p:cNvPr id="17" name="shape257"/>
          <p:cNvSpPr/>
          <p:nvPr/>
        </p:nvSpPr>
        <p:spPr>
          <a:xfrm>
            <a:off x="548640" y="3886200"/>
            <a:ext cx="546811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8" name="shape258"/>
          <p:cNvSpPr/>
          <p:nvPr/>
        </p:nvSpPr>
        <p:spPr>
          <a:xfrm>
            <a:off x="777240" y="406908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19" name="text259"/>
          <p:cNvSpPr txBox="1"/>
          <p:nvPr/>
        </p:nvSpPr>
        <p:spPr>
          <a:xfrm>
            <a:off x="777240" y="4069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260"/>
          <p:cNvSpPr txBox="1"/>
          <p:nvPr/>
        </p:nvSpPr>
        <p:spPr>
          <a:xfrm>
            <a:off x="1371600" y="4023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Test</a:t>
            </a:r>
            <a:endParaRPr lang="en-US" sz="2000" dirty="0"/>
          </a:p>
        </p:txBody>
      </p:sp>
      <p:sp>
        <p:nvSpPr>
          <p:cNvPr id="21" name="text261"/>
          <p:cNvSpPr txBox="1"/>
          <p:nvPr/>
        </p:nvSpPr>
        <p:spPr>
          <a:xfrm>
            <a:off x="777240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DAST işləyən tətbiqi yoxlayır. Nüfuzetmə testi real hücumu simulyasiya edir.</a:t>
            </a:r>
            <a:endParaRPr lang="en-US" sz="1400" dirty="0"/>
          </a:p>
        </p:txBody>
      </p:sp>
      <p:sp>
        <p:nvSpPr>
          <p:cNvPr id="22" name="shape262"/>
          <p:cNvSpPr/>
          <p:nvPr/>
        </p:nvSpPr>
        <p:spPr>
          <a:xfrm>
            <a:off x="777240" y="5349240"/>
            <a:ext cx="501091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3" name="text263"/>
          <p:cNvSpPr txBox="1"/>
          <p:nvPr/>
        </p:nvSpPr>
        <p:spPr>
          <a:xfrm>
            <a:off x="960120" y="5349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DAST: </a:t>
            </a:r>
            <a:r>
              <a:rPr lang="en-US" sz="1300" dirty="0">
                <a:solidFill>
                  <a:schemeClr val="bg1"/>
                </a:solidFill>
              </a:rPr>
              <a:t>işləyən tətbiqin yoxlanması.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Nüfuzetmə testi: </a:t>
            </a:r>
            <a:r>
              <a:rPr lang="en-US" sz="1300" dirty="0">
                <a:solidFill>
                  <a:schemeClr val="bg1"/>
                </a:solidFill>
              </a:rPr>
              <a:t>real hücum simulyasiyası.</a:t>
            </a:r>
            <a:endParaRPr lang="en-US" sz="1300" dirty="0"/>
          </a:p>
        </p:txBody>
      </p:sp>
      <p:sp>
        <p:nvSpPr>
          <p:cNvPr id="24" name="shape264"/>
          <p:cNvSpPr/>
          <p:nvPr/>
        </p:nvSpPr>
        <p:spPr>
          <a:xfrm>
            <a:off x="6172200" y="3886200"/>
            <a:ext cx="546811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25" name="shape265"/>
          <p:cNvSpPr/>
          <p:nvPr/>
        </p:nvSpPr>
        <p:spPr>
          <a:xfrm>
            <a:off x="6400800" y="406908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6"/>
          </a:solidFill>
          <a:ln/>
        </p:spPr>
      </p:sp>
      <p:sp>
        <p:nvSpPr>
          <p:cNvPr id="26" name="text266"/>
          <p:cNvSpPr txBox="1"/>
          <p:nvPr/>
        </p:nvSpPr>
        <p:spPr>
          <a:xfrm>
            <a:off x="6400800" y="4069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267"/>
          <p:cNvSpPr txBox="1"/>
          <p:nvPr/>
        </p:nvSpPr>
        <p:spPr>
          <a:xfrm>
            <a:off x="6995160" y="4023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İstismar</a:t>
            </a:r>
            <a:endParaRPr lang="en-US" sz="2000" dirty="0"/>
          </a:p>
        </p:txBody>
      </p:sp>
      <p:sp>
        <p:nvSpPr>
          <p:cNvPr id="28" name="text268"/>
          <p:cNvSpPr txBox="1"/>
          <p:nvPr/>
        </p:nvSpPr>
        <p:spPr>
          <a:xfrm>
            <a:off x="6400800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Yamaqların vaxtında tətbiqi, loglara nəzarət və dəyişikliklərin idarəsi: kim, nəyi, nə vaxt dəyişib.</a:t>
            </a:r>
            <a:endParaRPr lang="en-US" sz="1400" dirty="0"/>
          </a:p>
        </p:txBody>
      </p:sp>
      <p:sp>
        <p:nvSpPr>
          <p:cNvPr id="29" name="shape269"/>
          <p:cNvSpPr/>
          <p:nvPr/>
        </p:nvSpPr>
        <p:spPr>
          <a:xfrm>
            <a:off x="6400800" y="5349240"/>
            <a:ext cx="501091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30" name="text270"/>
          <p:cNvSpPr txBox="1"/>
          <p:nvPr/>
        </p:nvSpPr>
        <p:spPr>
          <a:xfrm>
            <a:off x="6583680" y="5349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Dəyişikliklərin idarəsi: </a:t>
            </a:r>
            <a:r>
              <a:rPr lang="en-US" sz="1300" dirty="0">
                <a:solidFill>
                  <a:schemeClr val="bg1"/>
                </a:solidFill>
              </a:rPr>
              <a:t>kim · nəyi · nə vaxt.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Menecerin davamlı öhdəlikləri</a:t>
            </a:r>
            <a:endParaRPr lang="en-US" sz="3200" dirty="0"/>
          </a:p>
        </p:txBody>
      </p:sp>
      <p:sp>
        <p:nvSpPr>
          <p:cNvPr id="3" name="shape271"/>
          <p:cNvSpPr/>
          <p:nvPr/>
        </p:nvSpPr>
        <p:spPr>
          <a:xfrm>
            <a:off x="5184648" y="2514600"/>
            <a:ext cx="1828800" cy="1828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272"/>
          <p:cNvSpPr txBox="1"/>
          <p:nvPr/>
        </p:nvSpPr>
        <p:spPr>
          <a:xfrm>
            <a:off x="5184648" y="2514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Menecer</a:t>
            </a:r>
            <a:endParaRPr lang="en-US" sz="2200" dirty="0"/>
          </a:p>
        </p:txBody>
      </p:sp>
      <p:sp>
        <p:nvSpPr>
          <p:cNvPr id="5" name="shape273"/>
          <p:cNvSpPr/>
          <p:nvPr/>
        </p:nvSpPr>
        <p:spPr>
          <a:xfrm>
            <a:off x="548640" y="1371600"/>
            <a:ext cx="39319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6" name="shape274"/>
          <p:cNvSpPr/>
          <p:nvPr/>
        </p:nvSpPr>
        <p:spPr>
          <a:xfrm>
            <a:off x="777240" y="1600200"/>
            <a:ext cx="173736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7" name="text275"/>
          <p:cNvSpPr txBox="1"/>
          <p:nvPr/>
        </p:nvSpPr>
        <p:spPr>
          <a:xfrm>
            <a:off x="777240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Nəzarət</a:t>
            </a:r>
            <a:endParaRPr lang="en-US" sz="1200" dirty="0"/>
          </a:p>
        </p:txBody>
      </p:sp>
      <p:sp>
        <p:nvSpPr>
          <p:cNvPr id="8" name="text276"/>
          <p:cNvSpPr txBox="1"/>
          <p:nvPr/>
        </p:nvSpPr>
        <p:spPr>
          <a:xfrm>
            <a:off x="777240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hər mərhələdə təhlükəsizlik fəaliyyətinin icra olunmasına.</a:t>
            </a:r>
            <a:endParaRPr lang="en-US" sz="1600" dirty="0"/>
          </a:p>
        </p:txBody>
      </p:sp>
      <p:sp>
        <p:nvSpPr>
          <p:cNvPr id="9" name="shape277"/>
          <p:cNvSpPr/>
          <p:nvPr/>
        </p:nvSpPr>
        <p:spPr>
          <a:xfrm>
            <a:off x="7708392" y="1371600"/>
            <a:ext cx="39319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0" name="shape278"/>
          <p:cNvSpPr/>
          <p:nvPr/>
        </p:nvSpPr>
        <p:spPr>
          <a:xfrm>
            <a:off x="7936992" y="1600200"/>
            <a:ext cx="173736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11" name="text279"/>
          <p:cNvSpPr txBox="1"/>
          <p:nvPr/>
        </p:nvSpPr>
        <p:spPr>
          <a:xfrm>
            <a:off x="7936992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Rollar</a:t>
            </a:r>
            <a:endParaRPr lang="en-US" sz="1200" dirty="0"/>
          </a:p>
        </p:txBody>
      </p:sp>
      <p:sp>
        <p:nvSpPr>
          <p:cNvPr id="12" name="text280"/>
          <p:cNvSpPr txBox="1"/>
          <p:nvPr/>
        </p:nvSpPr>
        <p:spPr>
          <a:xfrm>
            <a:off x="7936992" y="2057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kim təhdid modelləşdirməsini aparır, kim zəifliklərə baxır.</a:t>
            </a:r>
            <a:endParaRPr lang="en-US" sz="1600" dirty="0"/>
          </a:p>
        </p:txBody>
      </p:sp>
      <p:sp>
        <p:nvSpPr>
          <p:cNvPr id="13" name="shape281"/>
          <p:cNvSpPr/>
          <p:nvPr/>
        </p:nvSpPr>
        <p:spPr>
          <a:xfrm>
            <a:off x="548640" y="3840480"/>
            <a:ext cx="39319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4" name="shape282"/>
          <p:cNvSpPr/>
          <p:nvPr/>
        </p:nvSpPr>
        <p:spPr>
          <a:xfrm>
            <a:off x="777240" y="4069080"/>
            <a:ext cx="173736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15" name="text283"/>
          <p:cNvSpPr txBox="1"/>
          <p:nvPr/>
        </p:nvSpPr>
        <p:spPr>
          <a:xfrm>
            <a:off x="777240" y="4069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Ölçmə</a:t>
            </a:r>
            <a:endParaRPr lang="en-US" sz="1200" dirty="0"/>
          </a:p>
        </p:txBody>
      </p:sp>
      <p:sp>
        <p:nvSpPr>
          <p:cNvPr id="16" name="text284"/>
          <p:cNvSpPr txBox="1"/>
          <p:nvPr/>
        </p:nvSpPr>
        <p:spPr>
          <a:xfrm>
            <a:off x="777240" y="4526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metriklərlə.</a:t>
            </a:r>
            <a:endParaRPr lang="en-US" sz="1600" dirty="0"/>
          </a:p>
        </p:txBody>
      </p:sp>
      <p:sp>
        <p:nvSpPr>
          <p:cNvPr id="17" name="shape285"/>
          <p:cNvSpPr/>
          <p:nvPr/>
        </p:nvSpPr>
        <p:spPr>
          <a:xfrm>
            <a:off x="7708392" y="3840480"/>
            <a:ext cx="39319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8" name="shape286"/>
          <p:cNvSpPr/>
          <p:nvPr/>
        </p:nvSpPr>
        <p:spPr>
          <a:xfrm>
            <a:off x="7936992" y="4069080"/>
            <a:ext cx="1737360" cy="310896"/>
          </a:xfrm>
          <a:prstGeom prst="roundRect">
            <a:avLst>
              <a:gd name="adj" fmla="val 29412"/>
            </a:avLst>
          </a:prstGeom>
          <a:solidFill>
            <a:schemeClr val="accent6"/>
          </a:solidFill>
          <a:ln/>
        </p:spPr>
      </p:sp>
      <p:sp>
        <p:nvSpPr>
          <p:cNvPr id="19" name="text287"/>
          <p:cNvSpPr txBox="1"/>
          <p:nvPr/>
        </p:nvSpPr>
        <p:spPr>
          <a:xfrm>
            <a:off x="7936992" y="4069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Uyğunlaşma</a:t>
            </a:r>
            <a:endParaRPr lang="en-US" sz="1200" dirty="0"/>
          </a:p>
        </p:txBody>
      </p:sp>
      <p:sp>
        <p:nvSpPr>
          <p:cNvPr id="20" name="text288"/>
          <p:cNvSpPr txBox="1"/>
          <p:nvPr/>
        </p:nvSpPr>
        <p:spPr>
          <a:xfrm>
            <a:off x="7936992" y="4526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yeniliklərə.</a:t>
            </a:r>
            <a:endParaRPr lang="en-US" sz="1600" dirty="0"/>
          </a:p>
        </p:txBody>
      </p:sp>
      <p:sp>
        <p:nvSpPr>
          <p:cNvPr id="21" name="arrow289"/>
          <p:cNvSpPr/>
          <p:nvPr/>
        </p:nvSpPr>
        <p:spPr>
          <a:xfrm rot="13500000">
            <a:off x="4599432" y="272034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2" name="arrow290"/>
          <p:cNvSpPr/>
          <p:nvPr/>
        </p:nvSpPr>
        <p:spPr>
          <a:xfrm rot="18900000">
            <a:off x="7141464" y="272034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3" name="arrow291"/>
          <p:cNvSpPr/>
          <p:nvPr/>
        </p:nvSpPr>
        <p:spPr>
          <a:xfrm rot="8100000">
            <a:off x="4599432" y="381762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4" name="arrow292"/>
          <p:cNvSpPr/>
          <p:nvPr/>
        </p:nvSpPr>
        <p:spPr>
          <a:xfrm rot="2700000">
            <a:off x="7141464" y="381762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5" name="text293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Mənbə: Whitman-Mattord kitabında bu, NIST SP 800-100-ə əsaslanan cədvəldə göstərilir.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Nüfuzetmə testi</a:t>
            </a:r>
            <a:endParaRPr lang="en-US" sz="3200" dirty="0"/>
          </a:p>
        </p:txBody>
      </p:sp>
      <p:sp>
        <p:nvSpPr>
          <p:cNvPr id="3" name="shape294"/>
          <p:cNvSpPr/>
          <p:nvPr/>
        </p:nvSpPr>
        <p:spPr>
          <a:xfrm>
            <a:off x="548640" y="1280160"/>
            <a:ext cx="3383280" cy="256032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/>
        </p:spPr>
      </p:sp>
      <p:sp>
        <p:nvSpPr>
          <p:cNvPr id="4" name="text295"/>
          <p:cNvSpPr txBox="1"/>
          <p:nvPr/>
        </p:nvSpPr>
        <p:spPr>
          <a:xfrm>
            <a:off x="731520" y="1417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Nüfuzetmə (penetrasiya) testi nəzarət olunan şəraitdə real hücumun simulyasiyasıdır.</a:t>
            </a:r>
            <a:endParaRPr lang="en-US" sz="1400" dirty="0"/>
          </a:p>
        </p:txBody>
      </p:sp>
      <p:sp>
        <p:nvSpPr>
          <p:cNvPr id="5" name="shape296"/>
          <p:cNvSpPr/>
          <p:nvPr/>
        </p:nvSpPr>
        <p:spPr>
          <a:xfrm>
            <a:off x="731520" y="2514600"/>
            <a:ext cx="301752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</p:sp>
      <p:sp>
        <p:nvSpPr>
          <p:cNvPr id="6" name="text297"/>
          <p:cNvSpPr txBox="1"/>
          <p:nvPr/>
        </p:nvSpPr>
        <p:spPr>
          <a:xfrm>
            <a:off x="868680" y="2560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İcazə sənədi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Onu cinayətdən fərqləndirən iki tərəfin imzaladığı razılaşma sənədidir.</a:t>
            </a:r>
            <a:endParaRPr lang="en-US" sz="1400" dirty="0"/>
          </a:p>
        </p:txBody>
      </p:sp>
      <p:sp>
        <p:nvSpPr>
          <p:cNvPr id="7" name="shape298"/>
          <p:cNvSpPr/>
          <p:nvPr/>
        </p:nvSpPr>
        <p:spPr>
          <a:xfrm>
            <a:off x="4160520" y="1280160"/>
            <a:ext cx="2359152" cy="2560320"/>
          </a:xfrm>
          <a:prstGeom prst="roundRect">
            <a:avLst>
              <a:gd name="adj" fmla="val 3876"/>
            </a:avLst>
          </a:prstGeom>
          <a:solidFill>
            <a:schemeClr val="bg2"/>
          </a:solidFill>
          <a:ln/>
        </p:spPr>
      </p:sp>
      <p:sp>
        <p:nvSpPr>
          <p:cNvPr id="8" name="gauge299"/>
          <p:cNvSpPr/>
          <p:nvPr/>
        </p:nvSpPr>
        <p:spPr>
          <a:xfrm>
            <a:off x="4343400" y="1463040"/>
            <a:ext cx="347472" cy="2194560"/>
          </a:xfrm>
          <a:prstGeom prst="rect">
            <a:avLst/>
          </a:prstGeom>
          <a:solidFill>
            <a:srgbClr val="D5DEE7"/>
          </a:solidFill>
          <a:ln/>
        </p:spPr>
      </p:sp>
      <p:sp>
        <p:nvSpPr>
          <p:cNvPr id="9" name="level300"/>
          <p:cNvSpPr/>
          <p:nvPr/>
        </p:nvSpPr>
        <p:spPr>
          <a:xfrm>
            <a:off x="4343400" y="3438144"/>
            <a:ext cx="347472" cy="219456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text301"/>
          <p:cNvSpPr txBox="1"/>
          <p:nvPr/>
        </p:nvSpPr>
        <p:spPr>
          <a:xfrm>
            <a:off x="4846320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Black box</a:t>
            </a:r>
            <a:endParaRPr lang="en-US" sz="1600" dirty="0"/>
          </a:p>
        </p:txBody>
      </p:sp>
      <p:sp>
        <p:nvSpPr>
          <p:cNvPr id="11" name="text302"/>
          <p:cNvSpPr txBox="1"/>
          <p:nvPr/>
        </p:nvSpPr>
        <p:spPr>
          <a:xfrm>
            <a:off x="4846320" y="187452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Test edən heç nə bilmir, kənar hücumçunu modelləşdirir.</a:t>
            </a:r>
            <a:endParaRPr lang="en-US" sz="1300" dirty="0"/>
          </a:p>
        </p:txBody>
      </p:sp>
      <p:sp>
        <p:nvSpPr>
          <p:cNvPr id="12" name="shape303"/>
          <p:cNvSpPr/>
          <p:nvPr/>
        </p:nvSpPr>
        <p:spPr>
          <a:xfrm>
            <a:off x="6702552" y="1280160"/>
            <a:ext cx="2359152" cy="2560320"/>
          </a:xfrm>
          <a:prstGeom prst="roundRect">
            <a:avLst>
              <a:gd name="adj" fmla="val 3876"/>
            </a:avLst>
          </a:prstGeom>
          <a:solidFill>
            <a:schemeClr val="bg2"/>
          </a:solidFill>
          <a:ln/>
        </p:spPr>
      </p:sp>
      <p:sp>
        <p:nvSpPr>
          <p:cNvPr id="13" name="gauge304"/>
          <p:cNvSpPr/>
          <p:nvPr/>
        </p:nvSpPr>
        <p:spPr>
          <a:xfrm>
            <a:off x="6885432" y="1463040"/>
            <a:ext cx="347472" cy="2194560"/>
          </a:xfrm>
          <a:prstGeom prst="rect">
            <a:avLst/>
          </a:prstGeom>
          <a:solidFill>
            <a:srgbClr val="D5DEE7"/>
          </a:solidFill>
          <a:ln/>
        </p:spPr>
      </p:sp>
      <p:sp>
        <p:nvSpPr>
          <p:cNvPr id="14" name="level305"/>
          <p:cNvSpPr/>
          <p:nvPr/>
        </p:nvSpPr>
        <p:spPr>
          <a:xfrm>
            <a:off x="6885432" y="2450592"/>
            <a:ext cx="347472" cy="1207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5" name="text306"/>
          <p:cNvSpPr txBox="1"/>
          <p:nvPr/>
        </p:nvSpPr>
        <p:spPr>
          <a:xfrm>
            <a:off x="7388352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Gray box</a:t>
            </a:r>
            <a:endParaRPr lang="en-US" sz="1600" dirty="0"/>
          </a:p>
        </p:txBody>
      </p:sp>
      <p:sp>
        <p:nvSpPr>
          <p:cNvPr id="16" name="text307"/>
          <p:cNvSpPr txBox="1"/>
          <p:nvPr/>
        </p:nvSpPr>
        <p:spPr>
          <a:xfrm>
            <a:off x="7388352" y="187452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Qismən məlumat var (məsələn, adi istifadəçi hesabı). Ən çox istifadə olunanıdır, çünki real olmağı sürətlə birləşdirir.</a:t>
            </a:r>
            <a:endParaRPr lang="en-US" sz="1300" dirty="0"/>
          </a:p>
        </p:txBody>
      </p:sp>
      <p:sp>
        <p:nvSpPr>
          <p:cNvPr id="17" name="shape308"/>
          <p:cNvSpPr/>
          <p:nvPr/>
        </p:nvSpPr>
        <p:spPr>
          <a:xfrm>
            <a:off x="9244584" y="1280160"/>
            <a:ext cx="2359152" cy="2560320"/>
          </a:xfrm>
          <a:prstGeom prst="roundRect">
            <a:avLst>
              <a:gd name="adj" fmla="val 3876"/>
            </a:avLst>
          </a:prstGeom>
          <a:solidFill>
            <a:schemeClr val="bg2"/>
          </a:solidFill>
          <a:ln/>
        </p:spPr>
      </p:sp>
      <p:sp>
        <p:nvSpPr>
          <p:cNvPr id="18" name="gauge309"/>
          <p:cNvSpPr/>
          <p:nvPr/>
        </p:nvSpPr>
        <p:spPr>
          <a:xfrm>
            <a:off x="9427464" y="1463040"/>
            <a:ext cx="347472" cy="2194560"/>
          </a:xfrm>
          <a:prstGeom prst="rect">
            <a:avLst/>
          </a:prstGeom>
          <a:solidFill>
            <a:srgbClr val="D5DEE7"/>
          </a:solidFill>
          <a:ln/>
        </p:spPr>
      </p:sp>
      <p:sp>
        <p:nvSpPr>
          <p:cNvPr id="19" name="level310"/>
          <p:cNvSpPr/>
          <p:nvPr/>
        </p:nvSpPr>
        <p:spPr>
          <a:xfrm>
            <a:off x="9427464" y="1463040"/>
            <a:ext cx="34747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E6F82"/>
            </a:solidFill>
            <a:prstDash val="solid"/>
          </a:ln>
        </p:spPr>
      </p:sp>
      <p:sp>
        <p:nvSpPr>
          <p:cNvPr id="20" name="text311"/>
          <p:cNvSpPr txBox="1"/>
          <p:nvPr/>
        </p:nvSpPr>
        <p:spPr>
          <a:xfrm>
            <a:off x="9930384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White box</a:t>
            </a:r>
            <a:endParaRPr lang="en-US" sz="1600" dirty="0"/>
          </a:p>
        </p:txBody>
      </p:sp>
      <p:sp>
        <p:nvSpPr>
          <p:cNvPr id="21" name="text312"/>
          <p:cNvSpPr txBox="1"/>
          <p:nvPr/>
        </p:nvSpPr>
        <p:spPr>
          <a:xfrm>
            <a:off x="9930384" y="187452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Mənbə kodu və arxitektura da məlumdur.</a:t>
            </a:r>
            <a:endParaRPr lang="en-US" sz="1300" dirty="0"/>
          </a:p>
        </p:txBody>
      </p:sp>
      <p:sp>
        <p:nvSpPr>
          <p:cNvPr id="22" name="text313"/>
          <p:cNvSpPr txBox="1"/>
          <p:nvPr/>
        </p:nvSpPr>
        <p:spPr>
          <a:xfrm>
            <a:off x="5486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PTES, 7 mərhələ</a:t>
            </a:r>
            <a:endParaRPr lang="en-US" sz="1400" dirty="0"/>
          </a:p>
        </p:txBody>
      </p:sp>
      <p:sp>
        <p:nvSpPr>
          <p:cNvPr id="23" name="tline"/>
          <p:cNvSpPr/>
          <p:nvPr/>
        </p:nvSpPr>
        <p:spPr>
          <a:xfrm>
            <a:off x="548640" y="4553712"/>
            <a:ext cx="11091672" cy="0"/>
          </a:xfrm>
          <a:prstGeom prst="line">
            <a:avLst/>
          </a:prstGeom>
          <a:noFill/>
          <a:ln w="19050">
            <a:solidFill>
              <a:srgbClr val="5E6F82"/>
            </a:solidFill>
            <a:prstDash val="solid"/>
          </a:ln>
        </p:spPr>
      </p:sp>
      <p:sp>
        <p:nvSpPr>
          <p:cNvPr id="24" name="shape314"/>
          <p:cNvSpPr/>
          <p:nvPr/>
        </p:nvSpPr>
        <p:spPr>
          <a:xfrm>
            <a:off x="1097280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315"/>
          <p:cNvSpPr txBox="1"/>
          <p:nvPr/>
        </p:nvSpPr>
        <p:spPr>
          <a:xfrm>
            <a:off x="10972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shape316"/>
          <p:cNvSpPr/>
          <p:nvPr/>
        </p:nvSpPr>
        <p:spPr>
          <a:xfrm>
            <a:off x="548640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7" name="text317"/>
          <p:cNvSpPr txBox="1"/>
          <p:nvPr/>
        </p:nvSpPr>
        <p:spPr>
          <a:xfrm>
            <a:off x="621792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razılaşma</a:t>
            </a:r>
            <a:endParaRPr lang="en-US" sz="1300" dirty="0"/>
          </a:p>
        </p:txBody>
      </p:sp>
      <p:sp>
        <p:nvSpPr>
          <p:cNvPr id="28" name="shape318"/>
          <p:cNvSpPr/>
          <p:nvPr/>
        </p:nvSpPr>
        <p:spPr>
          <a:xfrm>
            <a:off x="2702052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319"/>
          <p:cNvSpPr txBox="1"/>
          <p:nvPr/>
        </p:nvSpPr>
        <p:spPr>
          <a:xfrm>
            <a:off x="2702052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shape320"/>
          <p:cNvSpPr/>
          <p:nvPr/>
        </p:nvSpPr>
        <p:spPr>
          <a:xfrm>
            <a:off x="2153412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1" name="text321"/>
          <p:cNvSpPr txBox="1"/>
          <p:nvPr/>
        </p:nvSpPr>
        <p:spPr>
          <a:xfrm>
            <a:off x="2226564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məlumat toplama</a:t>
            </a:r>
            <a:endParaRPr lang="en-US" sz="1300" dirty="0"/>
          </a:p>
        </p:txBody>
      </p:sp>
      <p:sp>
        <p:nvSpPr>
          <p:cNvPr id="32" name="shape322"/>
          <p:cNvSpPr/>
          <p:nvPr/>
        </p:nvSpPr>
        <p:spPr>
          <a:xfrm>
            <a:off x="4306824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323"/>
          <p:cNvSpPr txBox="1"/>
          <p:nvPr/>
        </p:nvSpPr>
        <p:spPr>
          <a:xfrm>
            <a:off x="4306824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4" name="shape324"/>
          <p:cNvSpPr/>
          <p:nvPr/>
        </p:nvSpPr>
        <p:spPr>
          <a:xfrm>
            <a:off x="3758184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5" name="text325"/>
          <p:cNvSpPr txBox="1"/>
          <p:nvPr/>
        </p:nvSpPr>
        <p:spPr>
          <a:xfrm>
            <a:off x="3831336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zəifliklərin analizi</a:t>
            </a:r>
            <a:endParaRPr lang="en-US" sz="1300" dirty="0"/>
          </a:p>
        </p:txBody>
      </p:sp>
      <p:sp>
        <p:nvSpPr>
          <p:cNvPr id="36" name="shape326"/>
          <p:cNvSpPr/>
          <p:nvPr/>
        </p:nvSpPr>
        <p:spPr>
          <a:xfrm>
            <a:off x="5911596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327"/>
          <p:cNvSpPr txBox="1"/>
          <p:nvPr/>
        </p:nvSpPr>
        <p:spPr>
          <a:xfrm>
            <a:off x="5911596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8" name="shape328"/>
          <p:cNvSpPr/>
          <p:nvPr/>
        </p:nvSpPr>
        <p:spPr>
          <a:xfrm>
            <a:off x="5362956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9" name="text329"/>
          <p:cNvSpPr txBox="1"/>
          <p:nvPr/>
        </p:nvSpPr>
        <p:spPr>
          <a:xfrm>
            <a:off x="5436108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təhdid modelləşdirilməsi</a:t>
            </a:r>
            <a:endParaRPr lang="en-US" sz="1300" dirty="0"/>
          </a:p>
        </p:txBody>
      </p:sp>
      <p:sp>
        <p:nvSpPr>
          <p:cNvPr id="40" name="shape330"/>
          <p:cNvSpPr/>
          <p:nvPr/>
        </p:nvSpPr>
        <p:spPr>
          <a:xfrm>
            <a:off x="7516368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331"/>
          <p:cNvSpPr txBox="1"/>
          <p:nvPr/>
        </p:nvSpPr>
        <p:spPr>
          <a:xfrm>
            <a:off x="7516368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shape332"/>
          <p:cNvSpPr/>
          <p:nvPr/>
        </p:nvSpPr>
        <p:spPr>
          <a:xfrm>
            <a:off x="6967728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3" name="text333"/>
          <p:cNvSpPr txBox="1"/>
          <p:nvPr/>
        </p:nvSpPr>
        <p:spPr>
          <a:xfrm>
            <a:off x="7040880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istismar</a:t>
            </a:r>
            <a:endParaRPr lang="en-US" sz="1300" dirty="0"/>
          </a:p>
        </p:txBody>
      </p:sp>
      <p:sp>
        <p:nvSpPr>
          <p:cNvPr id="44" name="shape334"/>
          <p:cNvSpPr/>
          <p:nvPr/>
        </p:nvSpPr>
        <p:spPr>
          <a:xfrm>
            <a:off x="9121140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ext335"/>
          <p:cNvSpPr txBox="1"/>
          <p:nvPr/>
        </p:nvSpPr>
        <p:spPr>
          <a:xfrm>
            <a:off x="91211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6" name="shape336"/>
          <p:cNvSpPr/>
          <p:nvPr/>
        </p:nvSpPr>
        <p:spPr>
          <a:xfrm>
            <a:off x="8572500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7" name="text337"/>
          <p:cNvSpPr txBox="1"/>
          <p:nvPr/>
        </p:nvSpPr>
        <p:spPr>
          <a:xfrm>
            <a:off x="8645652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istismardan sonrakı mərhələ</a:t>
            </a:r>
            <a:endParaRPr lang="en-US" sz="1300" dirty="0"/>
          </a:p>
        </p:txBody>
      </p:sp>
      <p:sp>
        <p:nvSpPr>
          <p:cNvPr id="48" name="shape338"/>
          <p:cNvSpPr/>
          <p:nvPr/>
        </p:nvSpPr>
        <p:spPr>
          <a:xfrm>
            <a:off x="10725912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9" name="text339"/>
          <p:cNvSpPr txBox="1"/>
          <p:nvPr/>
        </p:nvSpPr>
        <p:spPr>
          <a:xfrm>
            <a:off x="10725912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0" name="shape340"/>
          <p:cNvSpPr/>
          <p:nvPr/>
        </p:nvSpPr>
        <p:spPr>
          <a:xfrm>
            <a:off x="10177272" y="480060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51" name="text341"/>
          <p:cNvSpPr txBox="1"/>
          <p:nvPr/>
        </p:nvSpPr>
        <p:spPr>
          <a:xfrm>
            <a:off x="10250424" y="48006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hesabat</a:t>
            </a:r>
            <a:endParaRPr lang="en-US" sz="1300" dirty="0"/>
          </a:p>
        </p:txBody>
      </p:sp>
      <p:sp>
        <p:nvSpPr>
          <p:cNvPr id="52" name="text342"/>
          <p:cNvSpPr txBox="1"/>
          <p:nvPr/>
        </p:nvSpPr>
        <p:spPr>
          <a:xfrm>
            <a:off x="548640" y="5596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Başqa mənbələr 5 və ya 6 mərhələ göstərir, çünki bölgü fərqlidir.</a:t>
            </a:r>
            <a:endParaRPr lang="en-US" sz="1300" dirty="0"/>
          </a:p>
        </p:txBody>
      </p:sp>
      <p:sp>
        <p:nvSpPr>
          <p:cNvPr id="53" name="text343"/>
          <p:cNvSpPr txBox="1"/>
          <p:nvPr/>
        </p:nvSpPr>
        <p:spPr>
          <a:xfrm>
            <a:off x="548640" y="5943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Alətlər:</a:t>
            </a:r>
            <a:endParaRPr lang="en-US" sz="1400" dirty="0"/>
          </a:p>
        </p:txBody>
      </p:sp>
      <p:sp>
        <p:nvSpPr>
          <p:cNvPr id="54" name="shape344"/>
          <p:cNvSpPr/>
          <p:nvPr/>
        </p:nvSpPr>
        <p:spPr>
          <a:xfrm>
            <a:off x="1737360" y="5943600"/>
            <a:ext cx="182880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55" name="text345"/>
          <p:cNvSpPr txBox="1"/>
          <p:nvPr/>
        </p:nvSpPr>
        <p:spPr>
          <a:xfrm>
            <a:off x="1737360" y="5943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Nmap</a:t>
            </a:r>
            <a:r>
              <a:rPr lang="en-US" sz="1300" dirty="0">
                <a:solidFill>
                  <a:schemeClr val="bg1"/>
                </a:solidFill>
              </a:rPr>
              <a:t> (port skanı)</a:t>
            </a:r>
            <a:endParaRPr lang="en-US" sz="1300" dirty="0"/>
          </a:p>
        </p:txBody>
      </p:sp>
      <p:sp>
        <p:nvSpPr>
          <p:cNvPr id="56" name="shape346"/>
          <p:cNvSpPr/>
          <p:nvPr/>
        </p:nvSpPr>
        <p:spPr>
          <a:xfrm>
            <a:off x="3703320" y="5943600"/>
            <a:ext cx="210312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57" name="text347"/>
          <p:cNvSpPr txBox="1"/>
          <p:nvPr/>
        </p:nvSpPr>
        <p:spPr>
          <a:xfrm>
            <a:off x="3703320" y="5943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Metasploit</a:t>
            </a:r>
            <a:r>
              <a:rPr lang="en-US" sz="1300" dirty="0">
                <a:solidFill>
                  <a:schemeClr val="bg1"/>
                </a:solidFill>
              </a:rPr>
              <a:t> (istismar)</a:t>
            </a:r>
            <a:endParaRPr lang="en-US" sz="1300" dirty="0"/>
          </a:p>
        </p:txBody>
      </p:sp>
      <p:sp>
        <p:nvSpPr>
          <p:cNvPr id="58" name="shape348"/>
          <p:cNvSpPr/>
          <p:nvPr/>
        </p:nvSpPr>
        <p:spPr>
          <a:xfrm>
            <a:off x="5943600" y="5943600"/>
            <a:ext cx="173736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59" name="text349"/>
          <p:cNvSpPr txBox="1"/>
          <p:nvPr/>
        </p:nvSpPr>
        <p:spPr>
          <a:xfrm>
            <a:off x="5943600" y="5943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Burp Suite</a:t>
            </a:r>
            <a:r>
              <a:rPr lang="en-US" sz="1300" dirty="0">
                <a:solidFill>
                  <a:schemeClr val="bg1"/>
                </a:solidFill>
              </a:rPr>
              <a:t> (veb)</a:t>
            </a:r>
            <a:endParaRPr lang="en-US" sz="1300" dirty="0"/>
          </a:p>
        </p:txBody>
      </p:sp>
      <p:sp>
        <p:nvSpPr>
          <p:cNvPr id="60" name="shape350"/>
          <p:cNvSpPr/>
          <p:nvPr/>
        </p:nvSpPr>
        <p:spPr>
          <a:xfrm>
            <a:off x="7818120" y="5943600"/>
            <a:ext cx="338328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1" name="text351"/>
          <p:cNvSpPr txBox="1"/>
          <p:nvPr/>
        </p:nvSpPr>
        <p:spPr>
          <a:xfrm>
            <a:off x="7818120" y="5943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Nessus və OpenVAS</a:t>
            </a:r>
            <a:r>
              <a:rPr lang="en-US" sz="1300" dirty="0">
                <a:solidFill>
                  <a:schemeClr val="bg1"/>
                </a:solidFill>
              </a:rPr>
              <a:t> (zəiflik skanerləri)</a:t>
            </a:r>
            <a:endParaRPr lang="en-US" sz="13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CERT-in tarixçəsi</a:t>
            </a:r>
            <a:endParaRPr lang="en-US" sz="3200" dirty="0"/>
          </a:p>
        </p:txBody>
      </p:sp>
      <p:sp>
        <p:nvSpPr>
          <p:cNvPr id="3" name="tl14"/>
          <p:cNvSpPr/>
          <p:nvPr/>
        </p:nvSpPr>
        <p:spPr>
          <a:xfrm>
            <a:off x="1097280" y="2377440"/>
            <a:ext cx="9966960" cy="0"/>
          </a:xfrm>
          <a:prstGeom prst="line">
            <a:avLst/>
          </a:prstGeom>
          <a:noFill/>
          <a:ln w="25400">
            <a:solidFill>
              <a:srgbClr val="5E6F82"/>
            </a:solidFill>
            <a:prstDash val="solid"/>
          </a:ln>
        </p:spPr>
      </p:sp>
      <p:sp>
        <p:nvSpPr>
          <p:cNvPr id="4" name="shape352"/>
          <p:cNvSpPr/>
          <p:nvPr/>
        </p:nvSpPr>
        <p:spPr>
          <a:xfrm>
            <a:off x="3931920" y="2221992"/>
            <a:ext cx="91440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5" name="text353"/>
          <p:cNvSpPr txBox="1"/>
          <p:nvPr/>
        </p:nvSpPr>
        <p:spPr>
          <a:xfrm>
            <a:off x="3931920" y="2221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12 gün</a:t>
            </a:r>
            <a:endParaRPr lang="en-US" sz="1200" dirty="0"/>
          </a:p>
        </p:txBody>
      </p:sp>
      <p:sp>
        <p:nvSpPr>
          <p:cNvPr id="6" name="text354"/>
          <p:cNvSpPr txBox="1"/>
          <p:nvPr/>
        </p:nvSpPr>
        <p:spPr>
          <a:xfrm>
            <a:off x="4114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 noyabr 1988</a:t>
            </a:r>
            <a:endParaRPr lang="en-US" sz="2000" dirty="0"/>
          </a:p>
        </p:txBody>
      </p:sp>
      <p:sp>
        <p:nvSpPr>
          <p:cNvPr id="7" name="shape355"/>
          <p:cNvSpPr/>
          <p:nvPr/>
        </p:nvSpPr>
        <p:spPr>
          <a:xfrm>
            <a:off x="1874520" y="21488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shape356"/>
          <p:cNvSpPr/>
          <p:nvPr/>
        </p:nvSpPr>
        <p:spPr>
          <a:xfrm>
            <a:off x="411480" y="2834640"/>
            <a:ext cx="33832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9" name="text357"/>
          <p:cNvSpPr txBox="1"/>
          <p:nvPr/>
        </p:nvSpPr>
        <p:spPr>
          <a:xfrm>
            <a:off x="594360" y="29260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Morris qurdu internetin xeyli hissəsini iflic etdi, təxminən 6000 kompüter təsirləndi. İnternetdə insidentləri əlaqələndirən heç bir qurum yox idi.</a:t>
            </a:r>
            <a:endParaRPr lang="en-US" sz="1400" dirty="0"/>
          </a:p>
        </p:txBody>
      </p:sp>
      <p:sp>
        <p:nvSpPr>
          <p:cNvPr id="10" name="text358"/>
          <p:cNvSpPr txBox="1"/>
          <p:nvPr/>
        </p:nvSpPr>
        <p:spPr>
          <a:xfrm>
            <a:off x="4407408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14 noyabr 1988</a:t>
            </a:r>
            <a:endParaRPr lang="en-US" sz="2000" dirty="0"/>
          </a:p>
        </p:txBody>
      </p:sp>
      <p:sp>
        <p:nvSpPr>
          <p:cNvPr id="11" name="shape359"/>
          <p:cNvSpPr/>
          <p:nvPr/>
        </p:nvSpPr>
        <p:spPr>
          <a:xfrm>
            <a:off x="5870448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hape360"/>
          <p:cNvSpPr/>
          <p:nvPr/>
        </p:nvSpPr>
        <p:spPr>
          <a:xfrm>
            <a:off x="4407408" y="2834640"/>
            <a:ext cx="33832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3" name="text361"/>
          <p:cNvSpPr txBox="1"/>
          <p:nvPr/>
        </p:nvSpPr>
        <p:spPr>
          <a:xfrm>
            <a:off x="4590288" y="29260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 gün sonra DARPA-nın göstərişi ilə ilk CERT yaradıldı (Carnegie Mellon Universiteti, CERT Koordinasiya Mərkəzi).</a:t>
            </a:r>
            <a:endParaRPr lang="en-US" sz="1400" dirty="0"/>
          </a:p>
        </p:txBody>
      </p:sp>
      <p:sp>
        <p:nvSpPr>
          <p:cNvPr id="14" name="text362"/>
          <p:cNvSpPr txBox="1"/>
          <p:nvPr/>
        </p:nvSpPr>
        <p:spPr>
          <a:xfrm>
            <a:off x="83667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Bu gün</a:t>
            </a:r>
            <a:endParaRPr lang="en-US" sz="2000" dirty="0"/>
          </a:p>
        </p:txBody>
      </p:sp>
      <p:sp>
        <p:nvSpPr>
          <p:cNvPr id="15" name="shape363"/>
          <p:cNvSpPr/>
          <p:nvPr/>
        </p:nvSpPr>
        <p:spPr>
          <a:xfrm>
            <a:off x="9829800" y="21488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shape364"/>
          <p:cNvSpPr/>
          <p:nvPr/>
        </p:nvSpPr>
        <p:spPr>
          <a:xfrm>
            <a:off x="8366760" y="2834640"/>
            <a:ext cx="33832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7" name="text365"/>
          <p:cNvSpPr txBox="1"/>
          <p:nvPr/>
        </p:nvSpPr>
        <p:spPr>
          <a:xfrm>
            <a:off x="8549640" y="29260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Daha müasir termin CSIRT-dir (Cyber Security Incident Response Team).</a:t>
            </a:r>
            <a:endParaRPr lang="en-US" sz="1400" dirty="0"/>
          </a:p>
        </p:txBody>
      </p:sp>
      <p:sp>
        <p:nvSpPr>
          <p:cNvPr id="18" name="shape366"/>
          <p:cNvSpPr/>
          <p:nvPr/>
        </p:nvSpPr>
        <p:spPr>
          <a:xfrm>
            <a:off x="548640" y="4617720"/>
            <a:ext cx="5431536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9" name="text367"/>
          <p:cNvSpPr txBox="1"/>
          <p:nvPr/>
        </p:nvSpPr>
        <p:spPr>
          <a:xfrm>
            <a:off x="777240" y="470916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CERT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Carnegie Mellon-un qeydiyyatlı ticarət nişanıdır, istifadəsi üçün rəsmi icazə lazımdır.</a:t>
            </a:r>
            <a:endParaRPr lang="en-US" sz="1400" dirty="0"/>
          </a:p>
        </p:txBody>
      </p:sp>
      <p:sp>
        <p:nvSpPr>
          <p:cNvPr id="20" name="shape368"/>
          <p:cNvSpPr/>
          <p:nvPr/>
        </p:nvSpPr>
        <p:spPr>
          <a:xfrm>
            <a:off x="6208776" y="4617720"/>
            <a:ext cx="5431536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21" name="text369"/>
          <p:cNvSpPr txBox="1"/>
          <p:nvPr/>
        </p:nvSpPr>
        <p:spPr>
          <a:xfrm>
            <a:off x="6437376" y="470916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CSIRT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İstənilən qurum öz CSIRT komandasını yarada bilər.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Azərbaycanın dövlət CERT-i: CERT.gov.az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CERT necə işləyir?</a:t>
            </a:r>
            <a:endParaRPr lang="en-US" sz="3200" dirty="0"/>
          </a:p>
        </p:txBody>
      </p:sp>
      <p:sp>
        <p:nvSpPr>
          <p:cNvPr id="3" name="shape370"/>
          <p:cNvSpPr/>
          <p:nvPr/>
        </p:nvSpPr>
        <p:spPr>
          <a:xfrm>
            <a:off x="548640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</p:sp>
      <p:sp>
        <p:nvSpPr>
          <p:cNvPr id="4" name="text371"/>
          <p:cNvSpPr txBox="1"/>
          <p:nvPr/>
        </p:nvSpPr>
        <p:spPr>
          <a:xfrm>
            <a:off x="64008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Aşkarlama</a:t>
            </a:r>
            <a:endParaRPr lang="en-US" sz="1800" dirty="0"/>
          </a:p>
        </p:txBody>
      </p:sp>
      <p:sp>
        <p:nvSpPr>
          <p:cNvPr id="5" name="arr372"/>
          <p:cNvSpPr/>
          <p:nvPr/>
        </p:nvSpPr>
        <p:spPr>
          <a:xfrm>
            <a:off x="2596896" y="1920240"/>
            <a:ext cx="18288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6" name="shape373"/>
          <p:cNvSpPr/>
          <p:nvPr/>
        </p:nvSpPr>
        <p:spPr>
          <a:xfrm>
            <a:off x="2816352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7" name="text374"/>
          <p:cNvSpPr txBox="1"/>
          <p:nvPr/>
        </p:nvSpPr>
        <p:spPr>
          <a:xfrm>
            <a:off x="2907792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Lokallaşdırma</a:t>
            </a:r>
            <a:endParaRPr lang="en-US" sz="1800" dirty="0"/>
          </a:p>
        </p:txBody>
      </p:sp>
      <p:sp>
        <p:nvSpPr>
          <p:cNvPr id="8" name="arr375"/>
          <p:cNvSpPr/>
          <p:nvPr/>
        </p:nvSpPr>
        <p:spPr>
          <a:xfrm>
            <a:off x="4864608" y="1920240"/>
            <a:ext cx="18288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9" name="shape376"/>
          <p:cNvSpPr/>
          <p:nvPr/>
        </p:nvSpPr>
        <p:spPr>
          <a:xfrm>
            <a:off x="5084064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</p:sp>
      <p:sp>
        <p:nvSpPr>
          <p:cNvPr id="10" name="text377"/>
          <p:cNvSpPr txBox="1"/>
          <p:nvPr/>
        </p:nvSpPr>
        <p:spPr>
          <a:xfrm>
            <a:off x="5175504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Aradan qaldırma</a:t>
            </a:r>
            <a:endParaRPr lang="en-US" sz="1800" dirty="0"/>
          </a:p>
        </p:txBody>
      </p:sp>
      <p:sp>
        <p:nvSpPr>
          <p:cNvPr id="11" name="arr378"/>
          <p:cNvSpPr/>
          <p:nvPr/>
        </p:nvSpPr>
        <p:spPr>
          <a:xfrm>
            <a:off x="7132320" y="1920240"/>
            <a:ext cx="18288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2" name="shape379"/>
          <p:cNvSpPr/>
          <p:nvPr/>
        </p:nvSpPr>
        <p:spPr>
          <a:xfrm>
            <a:off x="7351776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13" name="text380"/>
          <p:cNvSpPr txBox="1"/>
          <p:nvPr/>
        </p:nvSpPr>
        <p:spPr>
          <a:xfrm>
            <a:off x="7443216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Bərpa</a:t>
            </a:r>
            <a:endParaRPr lang="en-US" sz="1800" dirty="0"/>
          </a:p>
        </p:txBody>
      </p:sp>
      <p:sp>
        <p:nvSpPr>
          <p:cNvPr id="14" name="arr381"/>
          <p:cNvSpPr/>
          <p:nvPr/>
        </p:nvSpPr>
        <p:spPr>
          <a:xfrm>
            <a:off x="9400032" y="1920240"/>
            <a:ext cx="18288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5" name="shape382"/>
          <p:cNvSpPr/>
          <p:nvPr/>
        </p:nvSpPr>
        <p:spPr>
          <a:xfrm>
            <a:off x="9619488" y="1371600"/>
            <a:ext cx="2011680" cy="137160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sp>
        <p:nvSpPr>
          <p:cNvPr id="16" name="text383"/>
          <p:cNvSpPr txBox="1"/>
          <p:nvPr/>
        </p:nvSpPr>
        <p:spPr>
          <a:xfrm>
            <a:off x="9710928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Təhlil</a:t>
            </a:r>
            <a:endParaRPr lang="en-US" sz="1800" dirty="0"/>
          </a:p>
        </p:txBody>
      </p:sp>
      <p:sp>
        <p:nvSpPr>
          <p:cNvPr id="17" name="text384"/>
          <p:cNvSpPr txBox="1"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Praktikada əlavə olunur</a:t>
            </a:r>
            <a:endParaRPr lang="en-US" sz="2200" dirty="0"/>
          </a:p>
        </p:txBody>
      </p:sp>
      <p:sp>
        <p:nvSpPr>
          <p:cNvPr id="18" name="shape385"/>
          <p:cNvSpPr/>
          <p:nvPr/>
        </p:nvSpPr>
        <p:spPr>
          <a:xfrm>
            <a:off x="548640" y="3703320"/>
            <a:ext cx="355701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9" name="shape386"/>
          <p:cNvSpPr/>
          <p:nvPr/>
        </p:nvSpPr>
        <p:spPr>
          <a:xfrm>
            <a:off x="777240" y="406908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5"/>
          </a:solidFill>
          <a:ln/>
        </p:spPr>
      </p:sp>
      <p:sp>
        <p:nvSpPr>
          <p:cNvPr id="20" name="text387"/>
          <p:cNvSpPr txBox="1"/>
          <p:nvPr/>
        </p:nvSpPr>
        <p:spPr>
          <a:xfrm>
            <a:off x="777240" y="4069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388"/>
          <p:cNvSpPr txBox="1"/>
          <p:nvPr/>
        </p:nvSpPr>
        <p:spPr>
          <a:xfrm>
            <a:off x="1417320" y="3703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Hadisənin bildirilməsi</a:t>
            </a:r>
            <a:endParaRPr lang="en-US" sz="1800" dirty="0"/>
          </a:p>
        </p:txBody>
      </p:sp>
      <p:sp>
        <p:nvSpPr>
          <p:cNvPr id="22" name="shape389"/>
          <p:cNvSpPr/>
          <p:nvPr/>
        </p:nvSpPr>
        <p:spPr>
          <a:xfrm>
            <a:off x="4315968" y="3703320"/>
            <a:ext cx="355701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3" name="shape390"/>
          <p:cNvSpPr/>
          <p:nvPr/>
        </p:nvSpPr>
        <p:spPr>
          <a:xfrm>
            <a:off x="4544568" y="406908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5"/>
          </a:solidFill>
          <a:ln/>
        </p:spPr>
      </p:sp>
      <p:sp>
        <p:nvSpPr>
          <p:cNvPr id="24" name="text391"/>
          <p:cNvSpPr txBox="1"/>
          <p:nvPr/>
        </p:nvSpPr>
        <p:spPr>
          <a:xfrm>
            <a:off x="4544568" y="4069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392"/>
          <p:cNvSpPr txBox="1"/>
          <p:nvPr/>
        </p:nvSpPr>
        <p:spPr>
          <a:xfrm>
            <a:off x="5184648" y="3703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Araşdırma</a:t>
            </a:r>
            <a:endParaRPr lang="en-US" sz="1800" dirty="0"/>
          </a:p>
        </p:txBody>
      </p:sp>
      <p:sp>
        <p:nvSpPr>
          <p:cNvPr id="26" name="shape393"/>
          <p:cNvSpPr/>
          <p:nvPr/>
        </p:nvSpPr>
        <p:spPr>
          <a:xfrm>
            <a:off x="8083296" y="3703320"/>
            <a:ext cx="355701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7" name="shape394"/>
          <p:cNvSpPr/>
          <p:nvPr/>
        </p:nvSpPr>
        <p:spPr>
          <a:xfrm>
            <a:off x="8311896" y="4069080"/>
            <a:ext cx="457200" cy="310896"/>
          </a:xfrm>
          <a:prstGeom prst="roundRect">
            <a:avLst>
              <a:gd name="adj" fmla="val 29412"/>
            </a:avLst>
          </a:prstGeom>
          <a:solidFill>
            <a:schemeClr val="accent5"/>
          </a:solidFill>
          <a:ln/>
        </p:spPr>
      </p:sp>
      <p:sp>
        <p:nvSpPr>
          <p:cNvPr id="28" name="text395"/>
          <p:cNvSpPr txBox="1"/>
          <p:nvPr/>
        </p:nvSpPr>
        <p:spPr>
          <a:xfrm>
            <a:off x="8311896" y="4069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396"/>
          <p:cNvSpPr txBox="1"/>
          <p:nvPr/>
        </p:nvSpPr>
        <p:spPr>
          <a:xfrm>
            <a:off x="8951976" y="3703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Sübutların qorunması</a:t>
            </a:r>
            <a:endParaRPr lang="en-US" sz="1800" dirty="0"/>
          </a:p>
        </p:txBody>
      </p:sp>
      <p:sp>
        <p:nvSpPr>
          <p:cNvPr id="30" name="shape397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31" name="text398"/>
          <p:cNvSpPr txBox="1"/>
          <p:nvPr/>
        </p:nvSpPr>
        <p:spPr>
          <a:xfrm>
            <a:off x="914400" y="51663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Hücumu tam əngəlləmək mümkün olmadığı üçün insidentə cavab strukturu lazımdır.</a:t>
            </a:r>
            <a:endParaRPr lang="en-US" sz="2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Fiziki, informasiya və kibertəhlükəsizlik</a:t>
            </a:r>
            <a:endParaRPr lang="en-US" sz="3200" dirty="0"/>
          </a:p>
        </p:txBody>
      </p:sp>
      <p:sp>
        <p:nvSpPr>
          <p:cNvPr id="3" name="shape399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4" name="text400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III HİSSƏ: TƏHLÜKƏSİZLİK NÖVLƏRİ VƏ SİYASƏT</a:t>
            </a:r>
            <a:endParaRPr lang="en-US" sz="1200" dirty="0"/>
          </a:p>
        </p:txBody>
      </p:sp>
      <p:sp>
        <p:nvSpPr>
          <p:cNvPr id="5" name="shape401"/>
          <p:cNvSpPr/>
          <p:nvPr/>
        </p:nvSpPr>
        <p:spPr>
          <a:xfrm>
            <a:off x="731520" y="1188720"/>
            <a:ext cx="2926080" cy="2926080"/>
          </a:xfrm>
          <a:prstGeom prst="ellipse">
            <a:avLst/>
          </a:prstGeom>
          <a:solidFill>
            <a:schemeClr val="accent4">
              <a:alpha val="22000"/>
            </a:schemeClr>
          </a:solidFill>
          <a:ln/>
        </p:spPr>
      </p:sp>
      <p:sp>
        <p:nvSpPr>
          <p:cNvPr id="6" name="shape402"/>
          <p:cNvSpPr/>
          <p:nvPr/>
        </p:nvSpPr>
        <p:spPr>
          <a:xfrm>
            <a:off x="1828800" y="2194560"/>
            <a:ext cx="1645920" cy="1645920"/>
          </a:xfrm>
          <a:prstGeom prst="ellipse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7" name="shape403"/>
          <p:cNvSpPr/>
          <p:nvPr/>
        </p:nvSpPr>
        <p:spPr>
          <a:xfrm>
            <a:off x="3108960" y="1828800"/>
            <a:ext cx="1828800" cy="1828800"/>
          </a:xfrm>
          <a:prstGeom prst="ellipse">
            <a:avLst/>
          </a:prstGeom>
          <a:solidFill>
            <a:schemeClr val="accent2">
              <a:alpha val="55000"/>
            </a:schemeClr>
          </a:solidFill>
          <a:ln/>
        </p:spPr>
      </p:sp>
      <p:sp>
        <p:nvSpPr>
          <p:cNvPr id="8" name="text404"/>
          <p:cNvSpPr txBox="1"/>
          <p:nvPr/>
        </p:nvSpPr>
        <p:spPr>
          <a:xfrm>
            <a:off x="91440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</a:rPr>
              <a:t>İnformasiya</a:t>
            </a:r>
            <a:endParaRPr lang="en-US" sz="1800" dirty="0"/>
          </a:p>
        </p:txBody>
      </p:sp>
      <p:sp>
        <p:nvSpPr>
          <p:cNvPr id="9" name="text405"/>
          <p:cNvSpPr txBox="1"/>
          <p:nvPr/>
        </p:nvSpPr>
        <p:spPr>
          <a:xfrm>
            <a:off x="182880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Kiber</a:t>
            </a:r>
            <a:endParaRPr lang="en-US" sz="1600" dirty="0"/>
          </a:p>
        </p:txBody>
      </p:sp>
      <p:sp>
        <p:nvSpPr>
          <p:cNvPr id="10" name="text406"/>
          <p:cNvSpPr txBox="1"/>
          <p:nvPr/>
        </p:nvSpPr>
        <p:spPr>
          <a:xfrm>
            <a:off x="365760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Fiziki</a:t>
            </a:r>
            <a:endParaRPr lang="en-US" sz="1600" dirty="0"/>
          </a:p>
        </p:txBody>
      </p:sp>
      <p:sp>
        <p:nvSpPr>
          <p:cNvPr id="11" name="text407"/>
          <p:cNvSpPr txBox="1"/>
          <p:nvPr/>
        </p:nvSpPr>
        <p:spPr>
          <a:xfrm>
            <a:off x="5486400" y="1280160"/>
            <a:ext cx="61539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İnformasiya təhlükəsizliyi </a:t>
            </a:r>
            <a:r>
              <a:rPr lang="en-US" sz="1500" dirty="0">
                <a:solidFill>
                  <a:schemeClr val="tx1"/>
                </a:solidFill>
              </a:rPr>
              <a:t>informasiyanı hansı formada olmasından asılı olmayaraq qoruyur: elektron, kağız üzərində, insanın bildiyi şəkildə.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Kibertəhlükəsizlik </a:t>
            </a:r>
            <a:r>
              <a:rPr lang="en-US" sz="1500" dirty="0">
                <a:solidFill>
                  <a:schemeClr val="tx1"/>
                </a:solidFill>
              </a:rPr>
              <a:t>daha dar sahədir: elektron sistemləri, şəbəkələri və rəqəmsal məlumatı qoruyur.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Fiziki təhlükəsizlik </a:t>
            </a:r>
            <a:r>
              <a:rPr lang="en-US" sz="1500" dirty="0">
                <a:solidFill>
                  <a:schemeClr val="tx1"/>
                </a:solidFill>
              </a:rPr>
              <a:t>binaları, otaqları, avadanlığı və daşıyıcıları qoruyur.</a:t>
            </a:r>
            <a:endParaRPr lang="en-US" sz="1500" dirty="0"/>
          </a:p>
        </p:txBody>
      </p:sp>
      <p:sp>
        <p:nvSpPr>
          <p:cNvPr id="12" name="shape408"/>
          <p:cNvSpPr/>
          <p:nvPr/>
        </p:nvSpPr>
        <p:spPr>
          <a:xfrm>
            <a:off x="548640" y="4251960"/>
            <a:ext cx="3557016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3" name="shape409"/>
          <p:cNvSpPr/>
          <p:nvPr/>
        </p:nvSpPr>
        <p:spPr>
          <a:xfrm>
            <a:off x="731520" y="4370832"/>
            <a:ext cx="146304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14" name="text410"/>
          <p:cNvSpPr txBox="1"/>
          <p:nvPr/>
        </p:nvSpPr>
        <p:spPr>
          <a:xfrm>
            <a:off x="731520" y="43708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Fiziki</a:t>
            </a:r>
            <a:endParaRPr lang="en-US" sz="1200" dirty="0"/>
          </a:p>
        </p:txBody>
      </p:sp>
      <p:sp>
        <p:nvSpPr>
          <p:cNvPr id="15" name="text411"/>
          <p:cNvSpPr txBox="1"/>
          <p:nvPr/>
        </p:nvSpPr>
        <p:spPr>
          <a:xfrm>
            <a:off x="731520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Aspektlər: </a:t>
            </a:r>
            <a:r>
              <a:rPr lang="en-US" sz="1300" dirty="0">
                <a:solidFill>
                  <a:schemeClr val="tx1"/>
                </a:solidFill>
              </a:rPr>
              <a:t>giriş nəzarəti, video müşahidə, daşıyıcıların məhvi.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Təhdidlər: </a:t>
            </a:r>
            <a:r>
              <a:rPr lang="en-US" sz="1300" dirty="0">
                <a:solidFill>
                  <a:schemeClr val="tx1"/>
                </a:solidFill>
              </a:rPr>
              <a:t>yanğın, daşqın, zəlzələ, oğurluq, serverə icazəsiz giriş.</a:t>
            </a:r>
            <a:endParaRPr lang="en-US" sz="1300" dirty="0"/>
          </a:p>
        </p:txBody>
      </p:sp>
      <p:sp>
        <p:nvSpPr>
          <p:cNvPr id="16" name="shape412"/>
          <p:cNvSpPr/>
          <p:nvPr/>
        </p:nvSpPr>
        <p:spPr>
          <a:xfrm>
            <a:off x="4315968" y="4251960"/>
            <a:ext cx="3557016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7" name="shape413"/>
          <p:cNvSpPr/>
          <p:nvPr/>
        </p:nvSpPr>
        <p:spPr>
          <a:xfrm>
            <a:off x="4498848" y="4370832"/>
            <a:ext cx="146304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18" name="text414"/>
          <p:cNvSpPr txBox="1"/>
          <p:nvPr/>
        </p:nvSpPr>
        <p:spPr>
          <a:xfrm>
            <a:off x="4498848" y="43708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İnformasiya</a:t>
            </a:r>
            <a:endParaRPr lang="en-US" sz="1200" dirty="0"/>
          </a:p>
        </p:txBody>
      </p:sp>
      <p:sp>
        <p:nvSpPr>
          <p:cNvPr id="19" name="text415"/>
          <p:cNvSpPr txBox="1"/>
          <p:nvPr/>
        </p:nvSpPr>
        <p:spPr>
          <a:xfrm>
            <a:off x="4498848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Aspektlər: </a:t>
            </a:r>
            <a:r>
              <a:rPr lang="en-US" sz="1300" dirty="0">
                <a:solidFill>
                  <a:schemeClr val="tx1"/>
                </a:solidFill>
              </a:rPr>
              <a:t>təsnifat, siyasətlər, kadr idarəetməsi, audit, hüquqi uyğunluq.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Təhdidlər: </a:t>
            </a:r>
            <a:r>
              <a:rPr lang="en-US" sz="1300" dirty="0">
                <a:solidFill>
                  <a:schemeClr val="tx1"/>
                </a:solidFill>
              </a:rPr>
              <a:t>daxili sızma, işçi səhvləri, sosial mühəndislik.</a:t>
            </a:r>
            <a:endParaRPr lang="en-US" sz="1300" dirty="0"/>
          </a:p>
        </p:txBody>
      </p:sp>
      <p:sp>
        <p:nvSpPr>
          <p:cNvPr id="20" name="shape416"/>
          <p:cNvSpPr/>
          <p:nvPr/>
        </p:nvSpPr>
        <p:spPr>
          <a:xfrm>
            <a:off x="8083296" y="4251960"/>
            <a:ext cx="3557016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1" name="shape417"/>
          <p:cNvSpPr/>
          <p:nvPr/>
        </p:nvSpPr>
        <p:spPr>
          <a:xfrm>
            <a:off x="8266176" y="4370832"/>
            <a:ext cx="146304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22" name="text418"/>
          <p:cNvSpPr txBox="1"/>
          <p:nvPr/>
        </p:nvSpPr>
        <p:spPr>
          <a:xfrm>
            <a:off x="8266176" y="43708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Kiber</a:t>
            </a:r>
            <a:endParaRPr lang="en-US" sz="1200" dirty="0"/>
          </a:p>
        </p:txBody>
      </p:sp>
      <p:sp>
        <p:nvSpPr>
          <p:cNvPr id="23" name="text419"/>
          <p:cNvSpPr txBox="1"/>
          <p:nvPr/>
        </p:nvSpPr>
        <p:spPr>
          <a:xfrm>
            <a:off x="8266176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Aspektlər: </a:t>
            </a:r>
            <a:r>
              <a:rPr lang="en-US" sz="1300" dirty="0">
                <a:solidFill>
                  <a:schemeClr val="tx1"/>
                </a:solidFill>
              </a:rPr>
              <a:t>şəbəkə, tətbiq, cihaz təhlükəsizliyi, MFA, monitorinq.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Təhdidlər: </a:t>
            </a:r>
            <a:r>
              <a:rPr lang="en-US" sz="1300" dirty="0">
                <a:solidFill>
                  <a:schemeClr val="tx1"/>
                </a:solidFill>
              </a:rPr>
              <a:t>malware, ransomware, fişinq, DDoS, SQL injection.</a:t>
            </a:r>
            <a:endParaRPr lang="en-US" sz="1300" dirty="0"/>
          </a:p>
        </p:txBody>
      </p:sp>
      <p:sp>
        <p:nvSpPr>
          <p:cNvPr id="24" name="shape420"/>
          <p:cNvSpPr/>
          <p:nvPr/>
        </p:nvSpPr>
        <p:spPr>
          <a:xfrm>
            <a:off x="548640" y="5989320"/>
            <a:ext cx="11091672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25" name="text421"/>
          <p:cNvSpPr txBox="1"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Kağız sənədlər üçün kilidli seyf informasiya təhlükəsizliyinə aiddir, kibertəhlükəsizliyə yox.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Üç sahə bir-birini tamamlayır</a:t>
            </a:r>
            <a:endParaRPr lang="en-US" sz="3200" dirty="0"/>
          </a:p>
        </p:txBody>
      </p:sp>
      <p:sp>
        <p:nvSpPr>
          <p:cNvPr id="3" name="shape422"/>
          <p:cNvSpPr/>
          <p:nvPr/>
        </p:nvSpPr>
        <p:spPr>
          <a:xfrm>
            <a:off x="548640" y="1280160"/>
            <a:ext cx="5120640" cy="3749040"/>
          </a:xfrm>
          <a:prstGeom prst="roundRect">
            <a:avLst>
              <a:gd name="adj" fmla="val 2439"/>
            </a:avLst>
          </a:prstGeom>
          <a:solidFill>
            <a:schemeClr val="bg2"/>
          </a:solidFill>
          <a:ln/>
        </p:spPr>
      </p:sp>
      <p:sp>
        <p:nvSpPr>
          <p:cNvPr id="4" name="text423"/>
          <p:cNvSpPr txBox="1"/>
          <p:nvPr/>
        </p:nvSpPr>
        <p:spPr>
          <a:xfrm>
            <a:off x="82296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Target</a:t>
            </a:r>
            <a:endParaRPr lang="en-US" sz="2800" dirty="0"/>
          </a:p>
        </p:txBody>
      </p:sp>
      <p:sp>
        <p:nvSpPr>
          <p:cNvPr id="5" name="shape424"/>
          <p:cNvSpPr/>
          <p:nvPr/>
        </p:nvSpPr>
        <p:spPr>
          <a:xfrm>
            <a:off x="4389120" y="1536192"/>
            <a:ext cx="100584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6" name="text425"/>
          <p:cNvSpPr txBox="1"/>
          <p:nvPr/>
        </p:nvSpPr>
        <p:spPr>
          <a:xfrm>
            <a:off x="4389120" y="15361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2013</a:t>
            </a:r>
            <a:endParaRPr lang="en-US" sz="1200" dirty="0"/>
          </a:p>
        </p:txBody>
      </p:sp>
      <p:sp>
        <p:nvSpPr>
          <p:cNvPr id="7" name="shape426"/>
          <p:cNvSpPr/>
          <p:nvPr/>
        </p:nvSpPr>
        <p:spPr>
          <a:xfrm>
            <a:off x="822960" y="2240280"/>
            <a:ext cx="132588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8" name="text427"/>
          <p:cNvSpPr txBox="1"/>
          <p:nvPr/>
        </p:nvSpPr>
        <p:spPr>
          <a:xfrm>
            <a:off x="822960" y="2240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Təşkilati</a:t>
            </a:r>
            <a:endParaRPr lang="en-US" sz="1200" dirty="0"/>
          </a:p>
        </p:txBody>
      </p:sp>
      <p:sp>
        <p:nvSpPr>
          <p:cNvPr id="9" name="text428"/>
          <p:cNvSpPr txBox="1"/>
          <p:nvPr/>
        </p:nvSpPr>
        <p:spPr>
          <a:xfrm>
            <a:off x="233172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Hücum podratçının ələ keçirilmiş hesabı ilə başladı.</a:t>
            </a:r>
            <a:endParaRPr lang="en-US" sz="1400" dirty="0"/>
          </a:p>
        </p:txBody>
      </p:sp>
      <p:sp>
        <p:nvSpPr>
          <p:cNvPr id="10" name="shape429"/>
          <p:cNvSpPr/>
          <p:nvPr/>
        </p:nvSpPr>
        <p:spPr>
          <a:xfrm>
            <a:off x="822960" y="3154680"/>
            <a:ext cx="13258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11" name="text430"/>
          <p:cNvSpPr txBox="1"/>
          <p:nvPr/>
        </p:nvSpPr>
        <p:spPr>
          <a:xfrm>
            <a:off x="822960" y="31546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Kiber</a:t>
            </a:r>
            <a:endParaRPr lang="en-US" sz="1200" dirty="0"/>
          </a:p>
        </p:txBody>
      </p:sp>
      <p:sp>
        <p:nvSpPr>
          <p:cNvPr id="12" name="text431"/>
          <p:cNvSpPr txBox="1"/>
          <p:nvPr/>
        </p:nvSpPr>
        <p:spPr>
          <a:xfrm>
            <a:off x="2331720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Şəbəkəyə daxil oldu.</a:t>
            </a:r>
            <a:endParaRPr lang="en-US" sz="1400" dirty="0"/>
          </a:p>
        </p:txBody>
      </p:sp>
      <p:sp>
        <p:nvSpPr>
          <p:cNvPr id="13" name="shape432"/>
          <p:cNvSpPr/>
          <p:nvPr/>
        </p:nvSpPr>
        <p:spPr>
          <a:xfrm>
            <a:off x="822960" y="4069080"/>
            <a:ext cx="132588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14" name="text433"/>
          <p:cNvSpPr txBox="1"/>
          <p:nvPr/>
        </p:nvSpPr>
        <p:spPr>
          <a:xfrm>
            <a:off x="822960" y="40690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İnformasiya</a:t>
            </a:r>
            <a:endParaRPr lang="en-US" sz="1200" dirty="0"/>
          </a:p>
        </p:txBody>
      </p:sp>
      <p:sp>
        <p:nvSpPr>
          <p:cNvPr id="15" name="text434"/>
          <p:cNvSpPr txBox="1"/>
          <p:nvPr/>
        </p:nvSpPr>
        <p:spPr>
          <a:xfrm>
            <a:off x="2331720" y="4023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Ödəniş terminallarına zərərli proqram yerləşdirildi.</a:t>
            </a:r>
            <a:endParaRPr lang="en-US" sz="1400" dirty="0"/>
          </a:p>
        </p:txBody>
      </p:sp>
      <p:sp>
        <p:nvSpPr>
          <p:cNvPr id="16" name="shape435"/>
          <p:cNvSpPr/>
          <p:nvPr/>
        </p:nvSpPr>
        <p:spPr>
          <a:xfrm>
            <a:off x="6519672" y="1280160"/>
            <a:ext cx="5120640" cy="3749040"/>
          </a:xfrm>
          <a:prstGeom prst="roundRect">
            <a:avLst>
              <a:gd name="adj" fmla="val 2439"/>
            </a:avLst>
          </a:prstGeom>
          <a:solidFill>
            <a:schemeClr val="bg2"/>
          </a:solidFill>
          <a:ln/>
        </p:spPr>
      </p:sp>
      <p:sp>
        <p:nvSpPr>
          <p:cNvPr id="17" name="text436"/>
          <p:cNvSpPr txBox="1"/>
          <p:nvPr/>
        </p:nvSpPr>
        <p:spPr>
          <a:xfrm>
            <a:off x="6793992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Stuxnet</a:t>
            </a:r>
            <a:endParaRPr lang="en-US" sz="2800" dirty="0"/>
          </a:p>
        </p:txBody>
      </p:sp>
      <p:sp>
        <p:nvSpPr>
          <p:cNvPr id="18" name="shape437"/>
          <p:cNvSpPr/>
          <p:nvPr/>
        </p:nvSpPr>
        <p:spPr>
          <a:xfrm>
            <a:off x="10360152" y="1536192"/>
            <a:ext cx="100584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19" name="text438"/>
          <p:cNvSpPr txBox="1"/>
          <p:nvPr/>
        </p:nvSpPr>
        <p:spPr>
          <a:xfrm>
            <a:off x="10360152" y="15361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2010</a:t>
            </a:r>
            <a:endParaRPr lang="en-US" sz="1200" dirty="0"/>
          </a:p>
        </p:txBody>
      </p:sp>
      <p:sp>
        <p:nvSpPr>
          <p:cNvPr id="20" name="shape439"/>
          <p:cNvSpPr/>
          <p:nvPr/>
        </p:nvSpPr>
        <p:spPr>
          <a:xfrm>
            <a:off x="6793992" y="2240280"/>
            <a:ext cx="132588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21" name="text440"/>
          <p:cNvSpPr txBox="1"/>
          <p:nvPr/>
        </p:nvSpPr>
        <p:spPr>
          <a:xfrm>
            <a:off x="6793992" y="2240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Fiziki</a:t>
            </a:r>
            <a:endParaRPr lang="en-US" sz="1200" dirty="0"/>
          </a:p>
        </p:txBody>
      </p:sp>
      <p:sp>
        <p:nvSpPr>
          <p:cNvPr id="22" name="text441"/>
          <p:cNvSpPr txBox="1"/>
          <p:nvPr/>
        </p:nvSpPr>
        <p:spPr>
          <a:xfrm>
            <a:off x="8302752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Natanz zavodunun şəbəkəsi internetdən təcrid edilmişdi.</a:t>
            </a:r>
            <a:endParaRPr lang="en-US" sz="1400" dirty="0"/>
          </a:p>
        </p:txBody>
      </p:sp>
      <p:sp>
        <p:nvSpPr>
          <p:cNvPr id="23" name="shape442"/>
          <p:cNvSpPr/>
          <p:nvPr/>
        </p:nvSpPr>
        <p:spPr>
          <a:xfrm>
            <a:off x="6793992" y="3154680"/>
            <a:ext cx="132588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24" name="text443"/>
          <p:cNvSpPr txBox="1"/>
          <p:nvPr/>
        </p:nvSpPr>
        <p:spPr>
          <a:xfrm>
            <a:off x="6793992" y="31546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Daşıyıcılar</a:t>
            </a:r>
            <a:endParaRPr lang="en-US" sz="1200" dirty="0"/>
          </a:p>
        </p:txBody>
      </p:sp>
      <p:sp>
        <p:nvSpPr>
          <p:cNvPr id="25" name="text444"/>
          <p:cNvSpPr txBox="1"/>
          <p:nvPr/>
        </p:nvSpPr>
        <p:spPr>
          <a:xfrm>
            <a:off x="8302752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Zərərli proqramın kənar daşıyıcılar vasitəsilə daxil olduğu hesab edilir.</a:t>
            </a:r>
            <a:endParaRPr lang="en-US" sz="1400" dirty="0"/>
          </a:p>
        </p:txBody>
      </p:sp>
      <p:sp>
        <p:nvSpPr>
          <p:cNvPr id="26" name="text445"/>
          <p:cNvSpPr txBox="1"/>
          <p:nvPr/>
        </p:nvSpPr>
        <p:spPr>
          <a:xfrm>
            <a:off x="5669280" y="2468880"/>
            <a:ext cx="850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</a:rPr>
              <a:t>+</a:t>
            </a:r>
            <a:endParaRPr lang="en-US" sz="6600" dirty="0"/>
          </a:p>
        </p:txBody>
      </p:sp>
      <p:sp>
        <p:nvSpPr>
          <p:cNvPr id="27" name="shape446"/>
          <p:cNvSpPr/>
          <p:nvPr/>
        </p:nvSpPr>
        <p:spPr>
          <a:xfrm>
            <a:off x="548640" y="530352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8" name="text447"/>
          <p:cNvSpPr txBox="1"/>
          <p:nvPr/>
        </p:nvSpPr>
        <p:spPr>
          <a:xfrm>
            <a:off x="548640" y="5303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Fiziki təcrid tək başına qoruma təmin etmədi.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Məqsəd və predmet</a:t>
            </a:r>
            <a:endParaRPr lang="en-US" sz="3200" dirty="0"/>
          </a:p>
        </p:txBody>
      </p:sp>
      <p:sp>
        <p:nvSpPr>
          <p:cNvPr id="3" name="shape448"/>
          <p:cNvSpPr/>
          <p:nvPr/>
        </p:nvSpPr>
        <p:spPr>
          <a:xfrm>
            <a:off x="548640" y="1280160"/>
            <a:ext cx="5431536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sp>
        <p:nvSpPr>
          <p:cNvPr id="4" name="shape449"/>
          <p:cNvSpPr/>
          <p:nvPr/>
        </p:nvSpPr>
        <p:spPr>
          <a:xfrm>
            <a:off x="777240" y="1463040"/>
            <a:ext cx="292608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5" name="text450"/>
          <p:cNvSpPr txBox="1"/>
          <p:nvPr/>
        </p:nvSpPr>
        <p:spPr>
          <a:xfrm>
            <a:off x="777240" y="1463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İnformasiya təhlükəsizliyi</a:t>
            </a:r>
            <a:endParaRPr lang="en-US" sz="1200" dirty="0"/>
          </a:p>
        </p:txBody>
      </p:sp>
      <p:sp>
        <p:nvSpPr>
          <p:cNvPr id="6" name="text451"/>
          <p:cNvSpPr txBox="1"/>
          <p:nvPr/>
        </p:nvSpPr>
        <p:spPr>
          <a:xfrm>
            <a:off x="7772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PREDMET</a:t>
            </a:r>
            <a:endParaRPr lang="en-US" sz="1200" dirty="0"/>
          </a:p>
        </p:txBody>
      </p:sp>
      <p:sp>
        <p:nvSpPr>
          <p:cNvPr id="7" name="text452"/>
          <p:cNvSpPr txBox="1"/>
          <p:nvPr/>
        </p:nvSpPr>
        <p:spPr>
          <a:xfrm>
            <a:off x="77724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informasiya və onu dəstəkləyən infrastruktur.</a:t>
            </a:r>
            <a:endParaRPr lang="en-US" sz="1600" dirty="0"/>
          </a:p>
        </p:txBody>
      </p:sp>
      <p:sp>
        <p:nvSpPr>
          <p:cNvPr id="8" name="text453"/>
          <p:cNvSpPr txBox="1"/>
          <p:nvPr/>
        </p:nvSpPr>
        <p:spPr>
          <a:xfrm>
            <a:off x="7772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MƏQSƏD</a:t>
            </a:r>
            <a:endParaRPr lang="en-US" sz="1200" dirty="0"/>
          </a:p>
        </p:txBody>
      </p:sp>
      <p:sp>
        <p:nvSpPr>
          <p:cNvPr id="9" name="text454"/>
          <p:cNvSpPr txBox="1"/>
          <p:nvPr/>
        </p:nvSpPr>
        <p:spPr>
          <a:xfrm>
            <a:off x="777240" y="3291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CIA üçlüyünü qorumaq (+ autentiklik, məsuliyyətlilik, inkar edilməzlik, etibarlılıq).</a:t>
            </a:r>
            <a:endParaRPr lang="en-US" sz="1600" dirty="0"/>
          </a:p>
        </p:txBody>
      </p:sp>
      <p:sp>
        <p:nvSpPr>
          <p:cNvPr id="10" name="shape455"/>
          <p:cNvSpPr/>
          <p:nvPr/>
        </p:nvSpPr>
        <p:spPr>
          <a:xfrm>
            <a:off x="6208776" y="1280160"/>
            <a:ext cx="5431536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sp>
        <p:nvSpPr>
          <p:cNvPr id="11" name="shape456"/>
          <p:cNvSpPr/>
          <p:nvPr/>
        </p:nvSpPr>
        <p:spPr>
          <a:xfrm>
            <a:off x="6437376" y="1463040"/>
            <a:ext cx="29260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12" name="text457"/>
          <p:cNvSpPr txBox="1"/>
          <p:nvPr/>
        </p:nvSpPr>
        <p:spPr>
          <a:xfrm>
            <a:off x="6437376" y="1463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Kibertəhlükəsizlik</a:t>
            </a:r>
            <a:endParaRPr lang="en-US" sz="1200" dirty="0"/>
          </a:p>
        </p:txBody>
      </p:sp>
      <p:sp>
        <p:nvSpPr>
          <p:cNvPr id="13" name="text458"/>
          <p:cNvSpPr txBox="1"/>
          <p:nvPr/>
        </p:nvSpPr>
        <p:spPr>
          <a:xfrm>
            <a:off x="6437376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PREDMET</a:t>
            </a:r>
            <a:endParaRPr lang="en-US" sz="1200" dirty="0"/>
          </a:p>
        </p:txBody>
      </p:sp>
      <p:sp>
        <p:nvSpPr>
          <p:cNvPr id="14" name="text459"/>
          <p:cNvSpPr txBox="1"/>
          <p:nvPr/>
        </p:nvSpPr>
        <p:spPr>
          <a:xfrm>
            <a:off x="6437376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kiberməkan (kompüter sistemləri, şəbəkələr, rəqəmsal məlumat).</a:t>
            </a:r>
            <a:endParaRPr lang="en-US" sz="1600" dirty="0"/>
          </a:p>
        </p:txBody>
      </p:sp>
      <p:sp>
        <p:nvSpPr>
          <p:cNvPr id="15" name="text460"/>
          <p:cNvSpPr txBox="1"/>
          <p:nvPr/>
        </p:nvSpPr>
        <p:spPr>
          <a:xfrm>
            <a:off x="6437376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MƏQSƏD</a:t>
            </a:r>
            <a:endParaRPr lang="en-US" sz="1200" dirty="0"/>
          </a:p>
        </p:txBody>
      </p:sp>
      <p:sp>
        <p:nvSpPr>
          <p:cNvPr id="16" name="text461"/>
          <p:cNvSpPr txBox="1"/>
          <p:nvPr/>
        </p:nvSpPr>
        <p:spPr>
          <a:xfrm>
            <a:off x="6437376" y="3291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bunları kibertəhdidlərdən qorumaq.</a:t>
            </a:r>
            <a:endParaRPr lang="en-US" sz="1600" dirty="0"/>
          </a:p>
        </p:txBody>
      </p:sp>
      <p:sp>
        <p:nvSpPr>
          <p:cNvPr id="17" name="shape462"/>
          <p:cNvSpPr/>
          <p:nvPr/>
        </p:nvSpPr>
        <p:spPr>
          <a:xfrm>
            <a:off x="548640" y="4343400"/>
            <a:ext cx="5431536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8" name="shape463"/>
          <p:cNvSpPr/>
          <p:nvPr/>
        </p:nvSpPr>
        <p:spPr>
          <a:xfrm>
            <a:off x="731520" y="4526280"/>
            <a:ext cx="1737360" cy="822960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/>
        </p:spPr>
      </p:sp>
      <p:sp>
        <p:nvSpPr>
          <p:cNvPr id="19" name="text464"/>
          <p:cNvSpPr txBox="1"/>
          <p:nvPr/>
        </p:nvSpPr>
        <p:spPr>
          <a:xfrm>
            <a:off x="731520" y="4526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ISO/IEC 27001</a:t>
            </a:r>
            <a:endParaRPr lang="en-US" sz="1500" dirty="0"/>
          </a:p>
        </p:txBody>
      </p:sp>
      <p:sp>
        <p:nvSpPr>
          <p:cNvPr id="20" name="text465"/>
          <p:cNvSpPr txBox="1"/>
          <p:nvPr/>
        </p:nvSpPr>
        <p:spPr>
          <a:xfrm>
            <a:off x="265176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informasiya təhlükəsizliyinin idarəetmə sistemini müəyyən edir.</a:t>
            </a:r>
            <a:endParaRPr lang="en-US" sz="1300" dirty="0"/>
          </a:p>
        </p:txBody>
      </p:sp>
      <p:sp>
        <p:nvSpPr>
          <p:cNvPr id="21" name="shape466"/>
          <p:cNvSpPr/>
          <p:nvPr/>
        </p:nvSpPr>
        <p:spPr>
          <a:xfrm>
            <a:off x="6208776" y="4343400"/>
            <a:ext cx="5431536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22" name="shape467"/>
          <p:cNvSpPr/>
          <p:nvPr/>
        </p:nvSpPr>
        <p:spPr>
          <a:xfrm>
            <a:off x="6391656" y="4526280"/>
            <a:ext cx="1737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23" name="text468"/>
          <p:cNvSpPr txBox="1"/>
          <p:nvPr/>
        </p:nvSpPr>
        <p:spPr>
          <a:xfrm>
            <a:off x="6391656" y="4526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ISO/IEC 27032</a:t>
            </a:r>
            <a:endParaRPr lang="en-US" sz="1500" dirty="0"/>
          </a:p>
        </p:txBody>
      </p:sp>
      <p:sp>
        <p:nvSpPr>
          <p:cNvPr id="24" name="text469"/>
          <p:cNvSpPr txBox="1"/>
          <p:nvPr/>
        </p:nvSpPr>
        <p:spPr>
          <a:xfrm>
            <a:off x="8311896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kibertəhlükəsizliyi Internet təhlükəsizliyi kontekstində izah edir, sertifikatlaşdırıla bilən standart yox, tövsiyə təlimatdır.</a:t>
            </a:r>
            <a:endParaRPr lang="en-US" sz="1300" dirty="0"/>
          </a:p>
        </p:txBody>
      </p:sp>
      <p:sp>
        <p:nvSpPr>
          <p:cNvPr id="25" name="shape470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6" name="text471"/>
          <p:cNvSpPr txBox="1"/>
          <p:nvPr/>
        </p:nvSpPr>
        <p:spPr>
          <a:xfrm>
            <a:off x="777240" y="57150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Fikir ayrılığı: </a:t>
            </a:r>
            <a:r>
              <a:rPr lang="en-US" sz="1400" dirty="0">
                <a:solidFill>
                  <a:schemeClr val="tx1"/>
                </a:solidFill>
              </a:rPr>
              <a:t>kibertəhlükəsizliyin dəqiq sərhədi mübahisəlidir. “Alt çoxluq” ən geniş yayılmış, lakin yeganə baxış deyil.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Təhlükəsizlik siyasəti</a:t>
            </a:r>
            <a:endParaRPr lang="en-US" sz="3200" dirty="0"/>
          </a:p>
        </p:txBody>
      </p:sp>
      <p:sp>
        <p:nvSpPr>
          <p:cNvPr id="3" name="shape472"/>
          <p:cNvSpPr/>
          <p:nvPr/>
        </p:nvSpPr>
        <p:spPr>
          <a:xfrm>
            <a:off x="548640" y="118872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text473"/>
          <p:cNvSpPr txBox="1"/>
          <p:nvPr/>
        </p:nvSpPr>
        <p:spPr>
          <a:xfrm>
            <a:off x="777240" y="1188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Təhlükəsizlik siyasəti təşkilatın informasiya aktivlərini qorumaq üçün rəhbərlik tərəfindən təsdiq edilmiş məqsəd, prinsip, qayda və tələblər toplusudur.</a:t>
            </a:r>
            <a:endParaRPr lang="en-US" sz="1600" dirty="0"/>
          </a:p>
        </p:txBody>
      </p:sp>
      <p:sp>
        <p:nvSpPr>
          <p:cNvPr id="5" name="shape474"/>
          <p:cNvSpPr/>
          <p:nvPr/>
        </p:nvSpPr>
        <p:spPr>
          <a:xfrm>
            <a:off x="548640" y="2286000"/>
            <a:ext cx="905256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6" name="text475"/>
          <p:cNvSpPr txBox="1"/>
          <p:nvPr/>
        </p:nvSpPr>
        <p:spPr>
          <a:xfrm>
            <a:off x="822960" y="22860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Yuxarı səviyyə</a:t>
            </a:r>
            <a:endParaRPr lang="en-US" sz="1800" dirty="0"/>
          </a:p>
        </p:txBody>
      </p:sp>
      <p:sp>
        <p:nvSpPr>
          <p:cNvPr id="7" name="text476"/>
          <p:cNvSpPr txBox="1"/>
          <p:nvPr/>
        </p:nvSpPr>
        <p:spPr>
          <a:xfrm>
            <a:off x="2834640" y="228600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Təşkilatın məqsədləri, rəhbərliyin öhdəliyi, məsuliyyətlər.</a:t>
            </a:r>
            <a:endParaRPr lang="en-US" sz="1400" dirty="0"/>
          </a:p>
        </p:txBody>
      </p:sp>
      <p:sp>
        <p:nvSpPr>
          <p:cNvPr id="8" name="shape477"/>
          <p:cNvSpPr/>
          <p:nvPr/>
        </p:nvSpPr>
        <p:spPr>
          <a:xfrm>
            <a:off x="1325880" y="3383280"/>
            <a:ext cx="9052560" cy="960120"/>
          </a:xfrm>
          <a:prstGeom prst="roundRect">
            <a:avLst>
              <a:gd name="adj" fmla="val 9524"/>
            </a:avLst>
          </a:prstGeom>
          <a:solidFill>
            <a:schemeClr val="accent4"/>
          </a:solidFill>
          <a:ln/>
        </p:spPr>
      </p:sp>
      <p:sp>
        <p:nvSpPr>
          <p:cNvPr id="9" name="text478"/>
          <p:cNvSpPr txBox="1"/>
          <p:nvPr/>
        </p:nvSpPr>
        <p:spPr>
          <a:xfrm>
            <a:off x="1600200" y="33832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Orta səviyyə</a:t>
            </a:r>
            <a:endParaRPr lang="en-US" sz="1800" dirty="0"/>
          </a:p>
        </p:txBody>
      </p:sp>
      <p:sp>
        <p:nvSpPr>
          <p:cNvPr id="10" name="text479"/>
          <p:cNvSpPr txBox="1"/>
          <p:nvPr/>
        </p:nvSpPr>
        <p:spPr>
          <a:xfrm>
            <a:off x="3611880" y="338328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Konkret sahələr üzrə siyasətlər (internet və e-poçt, parol, uzaqdan giriş, mobil cihazlar, ehtiyat surət, məlumatın təsnifatı).</a:t>
            </a:r>
            <a:endParaRPr lang="en-US" sz="1400" dirty="0"/>
          </a:p>
        </p:txBody>
      </p:sp>
      <p:sp>
        <p:nvSpPr>
          <p:cNvPr id="11" name="shape480"/>
          <p:cNvSpPr/>
          <p:nvPr/>
        </p:nvSpPr>
        <p:spPr>
          <a:xfrm>
            <a:off x="2103120" y="4480560"/>
            <a:ext cx="905256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12" name="text481"/>
          <p:cNvSpPr txBox="1"/>
          <p:nvPr/>
        </p:nvSpPr>
        <p:spPr>
          <a:xfrm>
            <a:off x="2377440" y="44805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Aşağı səviyyə</a:t>
            </a:r>
            <a:endParaRPr lang="en-US" sz="1800" dirty="0"/>
          </a:p>
        </p:txBody>
      </p:sp>
      <p:sp>
        <p:nvSpPr>
          <p:cNvPr id="13" name="text482"/>
          <p:cNvSpPr txBox="1"/>
          <p:nvPr/>
        </p:nvSpPr>
        <p:spPr>
          <a:xfrm>
            <a:off x="4389120" y="448056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Konkret serverin, bazanın, firewall-un konfiqurasiya qaydaları.</a:t>
            </a:r>
            <a:endParaRPr lang="en-US" sz="1400" dirty="0"/>
          </a:p>
        </p:txBody>
      </p:sp>
      <p:sp>
        <p:nvSpPr>
          <p:cNvPr id="14" name="shape483"/>
          <p:cNvSpPr/>
          <p:nvPr/>
        </p:nvSpPr>
        <p:spPr>
          <a:xfrm>
            <a:off x="548640" y="5897880"/>
            <a:ext cx="91440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15" name="text484"/>
          <p:cNvSpPr txBox="1"/>
          <p:nvPr/>
        </p:nvSpPr>
        <p:spPr>
          <a:xfrm>
            <a:off x="548640" y="5897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Nə</a:t>
            </a:r>
            <a:endParaRPr lang="en-US" sz="1200" dirty="0"/>
          </a:p>
        </p:txBody>
      </p:sp>
      <p:sp>
        <p:nvSpPr>
          <p:cNvPr id="16" name="shape485"/>
          <p:cNvSpPr/>
          <p:nvPr/>
        </p:nvSpPr>
        <p:spPr>
          <a:xfrm>
            <a:off x="1600200" y="5897880"/>
            <a:ext cx="914400" cy="310896"/>
          </a:xfrm>
          <a:prstGeom prst="roundRect">
            <a:avLst>
              <a:gd name="adj" fmla="val 29412"/>
            </a:avLst>
          </a:prstGeom>
          <a:solidFill>
            <a:schemeClr val="accent2"/>
          </a:solidFill>
          <a:ln/>
        </p:spPr>
      </p:sp>
      <p:sp>
        <p:nvSpPr>
          <p:cNvPr id="17" name="text486"/>
          <p:cNvSpPr txBox="1"/>
          <p:nvPr/>
        </p:nvSpPr>
        <p:spPr>
          <a:xfrm>
            <a:off x="1600200" y="5897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Niyə</a:t>
            </a:r>
            <a:endParaRPr lang="en-US" sz="1200" dirty="0"/>
          </a:p>
        </p:txBody>
      </p:sp>
      <p:sp>
        <p:nvSpPr>
          <p:cNvPr id="18" name="text487"/>
          <p:cNvSpPr txBox="1"/>
          <p:nvPr/>
        </p:nvSpPr>
        <p:spPr>
          <a:xfrm>
            <a:off x="2697480" y="5897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Siyasət “nə” və “niyə” suallarına cavab verir.</a:t>
            </a:r>
            <a:endParaRPr lang="en-US" sz="1300" dirty="0"/>
          </a:p>
        </p:txBody>
      </p:sp>
      <p:sp>
        <p:nvSpPr>
          <p:cNvPr id="19" name="shape488"/>
          <p:cNvSpPr/>
          <p:nvPr/>
        </p:nvSpPr>
        <p:spPr>
          <a:xfrm>
            <a:off x="6492240" y="5897880"/>
            <a:ext cx="91440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20" name="text489"/>
          <p:cNvSpPr txBox="1"/>
          <p:nvPr/>
        </p:nvSpPr>
        <p:spPr>
          <a:xfrm>
            <a:off x="6492240" y="5897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Necə</a:t>
            </a:r>
            <a:endParaRPr lang="en-US" sz="1200" dirty="0"/>
          </a:p>
        </p:txBody>
      </p:sp>
      <p:sp>
        <p:nvSpPr>
          <p:cNvPr id="21" name="text490"/>
          <p:cNvSpPr txBox="1"/>
          <p:nvPr/>
        </p:nvSpPr>
        <p:spPr>
          <a:xfrm>
            <a:off x="7589520" y="5897880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“Necə” sualına təlimatlar və prosedurlar cavab verir.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Yaxşı siyasət necə hazırlanır?</a:t>
            </a:r>
            <a:endParaRPr lang="en-US" sz="3200" dirty="0"/>
          </a:p>
        </p:txBody>
      </p:sp>
      <p:sp>
        <p:nvSpPr>
          <p:cNvPr id="3" name="vline"/>
          <p:cNvSpPr/>
          <p:nvPr/>
        </p:nvSpPr>
        <p:spPr>
          <a:xfrm>
            <a:off x="777240" y="1508760"/>
            <a:ext cx="0" cy="3840480"/>
          </a:xfrm>
          <a:prstGeom prst="line">
            <a:avLst/>
          </a:prstGeom>
          <a:noFill/>
          <a:ln w="25400">
            <a:solidFill>
              <a:srgbClr val="5E6F82"/>
            </a:solidFill>
            <a:prstDash val="solid"/>
          </a:ln>
        </p:spPr>
      </p:sp>
      <p:sp>
        <p:nvSpPr>
          <p:cNvPr id="4" name="shape49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49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493"/>
          <p:cNvSpPr txBox="1"/>
          <p:nvPr/>
        </p:nvSpPr>
        <p:spPr>
          <a:xfrm>
            <a:off x="118872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Rəhbərliyin dəstəyi</a:t>
            </a:r>
            <a:endParaRPr lang="en-US" sz="1500" dirty="0"/>
          </a:p>
        </p:txBody>
      </p:sp>
      <p:sp>
        <p:nvSpPr>
          <p:cNvPr id="7" name="shape494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495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496"/>
          <p:cNvSpPr txBox="1"/>
          <p:nvPr/>
        </p:nvSpPr>
        <p:spPr>
          <a:xfrm>
            <a:off x="118872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Aktiv və risk təhlili</a:t>
            </a:r>
            <a:endParaRPr lang="en-US" sz="1500" dirty="0"/>
          </a:p>
        </p:txBody>
      </p:sp>
      <p:sp>
        <p:nvSpPr>
          <p:cNvPr id="10" name="shape497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498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499"/>
          <p:cNvSpPr txBox="1"/>
          <p:nvPr/>
        </p:nvSpPr>
        <p:spPr>
          <a:xfrm>
            <a:off x="118872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Layihənin hazırlanması</a:t>
            </a:r>
            <a:endParaRPr lang="en-US" sz="1500" dirty="0"/>
          </a:p>
        </p:txBody>
      </p:sp>
      <p:sp>
        <p:nvSpPr>
          <p:cNvPr id="13" name="shape500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501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502"/>
          <p:cNvSpPr txBox="1"/>
          <p:nvPr/>
        </p:nvSpPr>
        <p:spPr>
          <a:xfrm>
            <a:off x="1188720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Təsdiq</a:t>
            </a:r>
            <a:endParaRPr lang="en-US" sz="1500" dirty="0"/>
          </a:p>
        </p:txBody>
      </p:sp>
      <p:sp>
        <p:nvSpPr>
          <p:cNvPr id="16" name="shape503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504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505"/>
          <p:cNvSpPr txBox="1"/>
          <p:nvPr/>
        </p:nvSpPr>
        <p:spPr>
          <a:xfrm>
            <a:off x="118872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Çatdırılma və təlim</a:t>
            </a:r>
            <a:endParaRPr lang="en-US" sz="1500" dirty="0"/>
          </a:p>
        </p:txBody>
      </p:sp>
      <p:sp>
        <p:nvSpPr>
          <p:cNvPr id="19" name="shape506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507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508"/>
          <p:cNvSpPr txBox="1"/>
          <p:nvPr/>
        </p:nvSpPr>
        <p:spPr>
          <a:xfrm>
            <a:off x="118872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Tətbiq və nəzarət</a:t>
            </a:r>
            <a:endParaRPr lang="en-US" sz="1500" dirty="0"/>
          </a:p>
        </p:txBody>
      </p:sp>
      <p:sp>
        <p:nvSpPr>
          <p:cNvPr id="22" name="shape509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510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511"/>
          <p:cNvSpPr txBox="1"/>
          <p:nvPr/>
        </p:nvSpPr>
        <p:spPr>
          <a:xfrm>
            <a:off x="118872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Dövri baxış (ildə ən azı bir dəfə)</a:t>
            </a:r>
            <a:endParaRPr lang="en-US" sz="1500" dirty="0"/>
          </a:p>
        </p:txBody>
      </p:sp>
      <p:sp>
        <p:nvSpPr>
          <p:cNvPr id="25" name="text512"/>
          <p:cNvSpPr txBox="1"/>
          <p:nvPr/>
        </p:nvSpPr>
        <p:spPr>
          <a:xfrm>
            <a:off x="539496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Yaxşı siyasət</a:t>
            </a:r>
            <a:endParaRPr lang="en-US" sz="2200" dirty="0"/>
          </a:p>
        </p:txBody>
      </p:sp>
      <p:sp>
        <p:nvSpPr>
          <p:cNvPr id="26" name="shape513"/>
          <p:cNvSpPr/>
          <p:nvPr/>
        </p:nvSpPr>
        <p:spPr>
          <a:xfrm>
            <a:off x="5394960" y="1874520"/>
            <a:ext cx="137160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7" name="text514"/>
          <p:cNvSpPr txBox="1"/>
          <p:nvPr/>
        </p:nvSpPr>
        <p:spPr>
          <a:xfrm>
            <a:off x="539496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aydın</a:t>
            </a:r>
            <a:endParaRPr lang="en-US" sz="1600" dirty="0"/>
          </a:p>
        </p:txBody>
      </p:sp>
      <p:sp>
        <p:nvSpPr>
          <p:cNvPr id="28" name="shape515"/>
          <p:cNvSpPr/>
          <p:nvPr/>
        </p:nvSpPr>
        <p:spPr>
          <a:xfrm>
            <a:off x="6903720" y="1874520"/>
            <a:ext cx="13716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9" name="text516"/>
          <p:cNvSpPr txBox="1"/>
          <p:nvPr/>
        </p:nvSpPr>
        <p:spPr>
          <a:xfrm>
            <a:off x="690372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qısa</a:t>
            </a:r>
            <a:endParaRPr lang="en-US" sz="1600" dirty="0"/>
          </a:p>
        </p:txBody>
      </p:sp>
      <p:sp>
        <p:nvSpPr>
          <p:cNvPr id="30" name="shape517"/>
          <p:cNvSpPr/>
          <p:nvPr/>
        </p:nvSpPr>
        <p:spPr>
          <a:xfrm>
            <a:off x="8412480" y="1874520"/>
            <a:ext cx="2377440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31" name="text518"/>
          <p:cNvSpPr txBox="1"/>
          <p:nvPr/>
        </p:nvSpPr>
        <p:spPr>
          <a:xfrm>
            <a:off x="841248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icra edilə bilən</a:t>
            </a:r>
            <a:endParaRPr lang="en-US" sz="1600" dirty="0"/>
          </a:p>
        </p:txBody>
      </p:sp>
      <p:sp>
        <p:nvSpPr>
          <p:cNvPr id="32" name="shape519"/>
          <p:cNvSpPr/>
          <p:nvPr/>
        </p:nvSpPr>
        <p:spPr>
          <a:xfrm>
            <a:off x="5394960" y="2560320"/>
            <a:ext cx="219456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33" name="text520"/>
          <p:cNvSpPr txBox="1"/>
          <p:nvPr/>
        </p:nvSpPr>
        <p:spPr>
          <a:xfrm>
            <a:off x="539496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ölçülə bilən</a:t>
            </a:r>
            <a:endParaRPr lang="en-US" sz="1600" dirty="0"/>
          </a:p>
        </p:txBody>
      </p:sp>
      <p:sp>
        <p:nvSpPr>
          <p:cNvPr id="34" name="shape521"/>
          <p:cNvSpPr/>
          <p:nvPr/>
        </p:nvSpPr>
        <p:spPr>
          <a:xfrm>
            <a:off x="7726680" y="2560320"/>
            <a:ext cx="347472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35" name="text522"/>
          <p:cNvSpPr txBox="1"/>
          <p:nvPr/>
        </p:nvSpPr>
        <p:spPr>
          <a:xfrm>
            <a:off x="772668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rəhbərliklə təsdiq olunmuş</a:t>
            </a:r>
            <a:endParaRPr lang="en-US" sz="1600" dirty="0"/>
          </a:p>
        </p:txBody>
      </p:sp>
      <p:sp>
        <p:nvSpPr>
          <p:cNvPr id="36" name="shape523"/>
          <p:cNvSpPr/>
          <p:nvPr/>
        </p:nvSpPr>
        <p:spPr>
          <a:xfrm>
            <a:off x="5394960" y="3246120"/>
            <a:ext cx="310896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7" name="text524"/>
          <p:cNvSpPr txBox="1"/>
          <p:nvPr/>
        </p:nvSpPr>
        <p:spPr>
          <a:xfrm>
            <a:off x="539496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qanunvericiliyə uyğun</a:t>
            </a:r>
            <a:endParaRPr lang="en-US" sz="1600" dirty="0"/>
          </a:p>
        </p:txBody>
      </p:sp>
      <p:sp>
        <p:nvSpPr>
          <p:cNvPr id="38" name="shape525"/>
          <p:cNvSpPr/>
          <p:nvPr/>
        </p:nvSpPr>
        <p:spPr>
          <a:xfrm>
            <a:off x="5394960" y="4023360"/>
            <a:ext cx="6245352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</p:spPr>
      </p:sp>
      <p:sp>
        <p:nvSpPr>
          <p:cNvPr id="39" name="text526"/>
          <p:cNvSpPr txBox="1"/>
          <p:nvPr/>
        </p:nvSpPr>
        <p:spPr>
          <a:xfrm>
            <a:off x="5623560" y="4023360"/>
            <a:ext cx="57881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Həddindən artıq sərt qaydalar pozulur. </a:t>
            </a:r>
            <a:r>
              <a:rPr lang="en-US" sz="1400" dirty="0">
                <a:solidFill>
                  <a:schemeClr val="bg1"/>
                </a:solidFill>
              </a:rPr>
              <a:t>Məsələn, çox mürəkkəb parollar kağıza yazılır. NIST SP 800-63B kompromis əlaməti olmadıqda məcburi dövri parol dəyişdirilməsini və süni mürəkkəblik qaydalarını tövsiyə etmir, uzunluğa və sızmış parollar siyahısı ilə yoxlamaya üstünlük verir.</a:t>
            </a:r>
            <a:endParaRPr lang="en-US" sz="1400" dirty="0"/>
          </a:p>
        </p:txBody>
      </p:sp>
      <p:sp>
        <p:nvSpPr>
          <p:cNvPr id="40" name="shape527"/>
          <p:cNvSpPr/>
          <p:nvPr/>
        </p:nvSpPr>
        <p:spPr>
          <a:xfrm>
            <a:off x="548640" y="5943600"/>
            <a:ext cx="11091672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41" name="text528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Siyasət olmadan ayrı-ayrı alətlər sistem yaratmır.</a:t>
            </a:r>
            <a:endParaRPr lang="en-US" sz="16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Fiziki təhlükəsizlik və kimin məsuliyyəti</a:t>
            </a:r>
            <a:endParaRPr lang="en-US" sz="3200" dirty="0"/>
          </a:p>
        </p:txBody>
      </p:sp>
      <p:sp>
        <p:nvSpPr>
          <p:cNvPr id="3" name="text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21</a:t>
            </a:r>
            <a:endParaRPr lang="en-US" sz="1000" dirty="0"/>
          </a:p>
        </p:txBody>
      </p:sp>
      <p:sp>
        <p:nvSpPr>
          <p:cNvPr id="4" name="shape2"/>
          <p:cNvSpPr/>
          <p:nvPr/>
        </p:nvSpPr>
        <p:spPr>
          <a:xfrm>
            <a:off x="8531352" y="45720"/>
            <a:ext cx="310896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3"/>
          <p:cNvSpPr txBox="1"/>
          <p:nvPr/>
        </p:nvSpPr>
        <p:spPr>
          <a:xfrm>
            <a:off x="8531352" y="45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IV HİSSƏ: FİZİKİ TƏHLÜKƏSİZLİK</a:t>
            </a:r>
            <a:endParaRPr lang="en-US" sz="1200" dirty="0"/>
          </a:p>
        </p:txBody>
      </p:sp>
      <p:sp>
        <p:nvSpPr>
          <p:cNvPr id="6" name="shape4"/>
          <p:cNvSpPr/>
          <p:nvPr/>
        </p:nvSpPr>
        <p:spPr>
          <a:xfrm>
            <a:off x="548640" y="1188720"/>
            <a:ext cx="502920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/>
        </p:spPr>
      </p:sp>
      <p:sp>
        <p:nvSpPr>
          <p:cNvPr id="7" name="text5"/>
          <p:cNvSpPr txBox="1"/>
          <p:nvPr/>
        </p:nvSpPr>
        <p:spPr>
          <a:xfrm>
            <a:off x="731520" y="11887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Fiziki təhlükəsizlik təşkilatın fiziki resurslarını (insanlar, avadanlıq, dəstəkləyici sistemlər, informasiya resursları) qoruyan tədbirlərin layihələndirilməsi, tətbiqi və saxlanmasıdır.</a:t>
            </a:r>
            <a:endParaRPr lang="en-US" sz="1400" dirty="0"/>
          </a:p>
        </p:txBody>
      </p:sp>
      <p:sp>
        <p:nvSpPr>
          <p:cNvPr id="8" name="text6"/>
          <p:cNvSpPr txBox="1"/>
          <p:nvPr/>
        </p:nvSpPr>
        <p:spPr>
          <a:xfrm>
            <a:off x="5486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Laylı müdafiə</a:t>
            </a:r>
            <a:endParaRPr lang="en-US" sz="1600" dirty="0"/>
          </a:p>
        </p:txBody>
      </p:sp>
      <p:sp>
        <p:nvSpPr>
          <p:cNvPr id="9" name="shape7"/>
          <p:cNvSpPr/>
          <p:nvPr/>
        </p:nvSpPr>
        <p:spPr>
          <a:xfrm>
            <a:off x="1417320" y="3063240"/>
            <a:ext cx="3291840" cy="3291840"/>
          </a:xfrm>
          <a:prstGeom prst="ellipse">
            <a:avLst/>
          </a:prstGeom>
          <a:solidFill>
            <a:schemeClr val="accent4">
              <a:alpha val="40000"/>
            </a:schemeClr>
          </a:solidFill>
          <a:ln/>
        </p:spPr>
      </p:sp>
      <p:sp>
        <p:nvSpPr>
          <p:cNvPr id="10" name="text8"/>
          <p:cNvSpPr txBox="1"/>
          <p:nvPr/>
        </p:nvSpPr>
        <p:spPr>
          <a:xfrm>
            <a:off x="1417320" y="3172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Ərazi</a:t>
            </a:r>
            <a:endParaRPr lang="en-US" sz="1300" dirty="0"/>
          </a:p>
        </p:txBody>
      </p:sp>
      <p:sp>
        <p:nvSpPr>
          <p:cNvPr id="11" name="shape9"/>
          <p:cNvSpPr/>
          <p:nvPr/>
        </p:nvSpPr>
        <p:spPr>
          <a:xfrm>
            <a:off x="1737360" y="3703320"/>
            <a:ext cx="2651760" cy="2651760"/>
          </a:xfrm>
          <a:prstGeom prst="ellipse">
            <a:avLst/>
          </a:prstGeom>
          <a:solidFill>
            <a:schemeClr val="accent1">
              <a:alpha val="40000"/>
            </a:schemeClr>
          </a:solidFill>
          <a:ln/>
        </p:spPr>
      </p:sp>
      <p:sp>
        <p:nvSpPr>
          <p:cNvPr id="12" name="text10"/>
          <p:cNvSpPr txBox="1"/>
          <p:nvPr/>
        </p:nvSpPr>
        <p:spPr>
          <a:xfrm>
            <a:off x="1737360" y="3813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Bina</a:t>
            </a:r>
            <a:endParaRPr lang="en-US" sz="1300" dirty="0"/>
          </a:p>
        </p:txBody>
      </p:sp>
      <p:sp>
        <p:nvSpPr>
          <p:cNvPr id="13" name="shape11"/>
          <p:cNvSpPr/>
          <p:nvPr/>
        </p:nvSpPr>
        <p:spPr>
          <a:xfrm>
            <a:off x="2057400" y="4343400"/>
            <a:ext cx="2011680" cy="2011680"/>
          </a:xfrm>
          <a:prstGeom prst="ellipse">
            <a:avLst/>
          </a:prstGeom>
          <a:solidFill>
            <a:schemeClr val="accent2">
              <a:alpha val="40000"/>
            </a:schemeClr>
          </a:solidFill>
          <a:ln/>
        </p:spPr>
      </p:sp>
      <p:sp>
        <p:nvSpPr>
          <p:cNvPr id="14" name="text12"/>
          <p:cNvSpPr txBox="1"/>
          <p:nvPr/>
        </p:nvSpPr>
        <p:spPr>
          <a:xfrm>
            <a:off x="2057400" y="4453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Server otağı</a:t>
            </a:r>
            <a:endParaRPr lang="en-US" sz="1300" dirty="0"/>
          </a:p>
        </p:txBody>
      </p:sp>
      <p:sp>
        <p:nvSpPr>
          <p:cNvPr id="15" name="shape13"/>
          <p:cNvSpPr/>
          <p:nvPr/>
        </p:nvSpPr>
        <p:spPr>
          <a:xfrm>
            <a:off x="2423160" y="5074920"/>
            <a:ext cx="1280160" cy="1280160"/>
          </a:xfrm>
          <a:prstGeom prst="ellipse">
            <a:avLst/>
          </a:prstGeom>
          <a:solidFill>
            <a:schemeClr val="accent3">
              <a:alpha val="40000"/>
            </a:schemeClr>
          </a:solidFill>
          <a:ln/>
        </p:spPr>
      </p:sp>
      <p:sp>
        <p:nvSpPr>
          <p:cNvPr id="16" name="text14"/>
          <p:cNvSpPr txBox="1"/>
          <p:nvPr/>
        </p:nvSpPr>
        <p:spPr>
          <a:xfrm>
            <a:off x="2423160" y="50749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Giriş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nəzarəti</a:t>
            </a:r>
            <a:endParaRPr lang="en-US" sz="1300" dirty="0"/>
          </a:p>
        </p:txBody>
      </p:sp>
      <p:sp>
        <p:nvSpPr>
          <p:cNvPr id="17" name="shape15"/>
          <p:cNvSpPr/>
          <p:nvPr/>
        </p:nvSpPr>
        <p:spPr>
          <a:xfrm>
            <a:off x="5852160" y="1280160"/>
            <a:ext cx="1828800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8" name="shape16"/>
          <p:cNvSpPr/>
          <p:nvPr/>
        </p:nvSpPr>
        <p:spPr>
          <a:xfrm>
            <a:off x="5961888" y="1389888"/>
            <a:ext cx="1609344" cy="9144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sp>
        <p:nvSpPr>
          <p:cNvPr id="19" name="text17"/>
          <p:cNvSpPr txBox="1"/>
          <p:nvPr/>
        </p:nvSpPr>
        <p:spPr>
          <a:xfrm>
            <a:off x="6007608" y="138988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Ümumi rəhbərlik</a:t>
            </a:r>
            <a:endParaRPr lang="en-US" sz="1300" dirty="0"/>
          </a:p>
        </p:txBody>
      </p:sp>
      <p:sp>
        <p:nvSpPr>
          <p:cNvPr id="20" name="text18"/>
          <p:cNvSpPr txBox="1"/>
          <p:nvPr/>
        </p:nvSpPr>
        <p:spPr>
          <a:xfrm>
            <a:off x="5989320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binanın təhlükəsizliyi, siyasət və standartlar.</a:t>
            </a:r>
            <a:endParaRPr lang="en-US" sz="1400" dirty="0"/>
          </a:p>
        </p:txBody>
      </p:sp>
      <p:sp>
        <p:nvSpPr>
          <p:cNvPr id="21" name="shape19"/>
          <p:cNvSpPr/>
          <p:nvPr/>
        </p:nvSpPr>
        <p:spPr>
          <a:xfrm>
            <a:off x="7831836" y="1280160"/>
            <a:ext cx="1828800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2" name="shape20"/>
          <p:cNvSpPr/>
          <p:nvPr/>
        </p:nvSpPr>
        <p:spPr>
          <a:xfrm>
            <a:off x="7941564" y="1389888"/>
            <a:ext cx="1609344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3" name="text21"/>
          <p:cNvSpPr txBox="1"/>
          <p:nvPr/>
        </p:nvSpPr>
        <p:spPr>
          <a:xfrm>
            <a:off x="7987284" y="138988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IT rəhbərliyi</a:t>
            </a:r>
            <a:endParaRPr lang="en-US" sz="1300" dirty="0"/>
          </a:p>
        </p:txBody>
      </p:sp>
      <p:sp>
        <p:nvSpPr>
          <p:cNvPr id="24" name="text22"/>
          <p:cNvSpPr txBox="1"/>
          <p:nvPr/>
        </p:nvSpPr>
        <p:spPr>
          <a:xfrm>
            <a:off x="7968996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texnologiyanın yerləşdiyi mühit və giriş nəzarəti.</a:t>
            </a:r>
            <a:endParaRPr lang="en-US" sz="1400" dirty="0"/>
          </a:p>
        </p:txBody>
      </p:sp>
      <p:sp>
        <p:nvSpPr>
          <p:cNvPr id="25" name="shape23"/>
          <p:cNvSpPr/>
          <p:nvPr/>
        </p:nvSpPr>
        <p:spPr>
          <a:xfrm>
            <a:off x="9811512" y="1280160"/>
            <a:ext cx="1828800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6" name="shape24"/>
          <p:cNvSpPr/>
          <p:nvPr/>
        </p:nvSpPr>
        <p:spPr>
          <a:xfrm>
            <a:off x="9921240" y="1389888"/>
            <a:ext cx="1609344" cy="9144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7" name="text25"/>
          <p:cNvSpPr txBox="1"/>
          <p:nvPr/>
        </p:nvSpPr>
        <p:spPr>
          <a:xfrm>
            <a:off x="9966960" y="1389888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İnformasiya təhlükəsizliyi rəhbərliyi</a:t>
            </a:r>
            <a:endParaRPr lang="en-US" sz="1300" dirty="0"/>
          </a:p>
        </p:txBody>
      </p:sp>
      <p:sp>
        <p:nvSpPr>
          <p:cNvPr id="28" name="text26"/>
          <p:cNvSpPr txBox="1"/>
          <p:nvPr/>
        </p:nvSpPr>
        <p:spPr>
          <a:xfrm>
            <a:off x="9948672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risk qiymətləndirməsi və tətbiqin yoxlanışı.</a:t>
            </a:r>
            <a:endParaRPr lang="en-US" sz="1400" dirty="0"/>
          </a:p>
        </p:txBody>
      </p:sp>
      <p:sp>
        <p:nvSpPr>
          <p:cNvPr id="29" name="shape27"/>
          <p:cNvSpPr/>
          <p:nvPr/>
        </p:nvSpPr>
        <p:spPr>
          <a:xfrm>
            <a:off x="5852160" y="4389120"/>
            <a:ext cx="5788152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30" name="text28"/>
          <p:cNvSpPr txBox="1"/>
          <p:nvPr/>
        </p:nvSpPr>
        <p:spPr>
          <a:xfrm>
            <a:off x="6080760" y="438912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Texniki qorunma fiziki giriş əldə edən hücumçu qarşısında asanlıqla keçilə bilər.</a:t>
            </a:r>
            <a:endParaRPr lang="en-US" sz="1500" dirty="0"/>
          </a:p>
        </p:txBody>
      </p:sp>
      <p:sp>
        <p:nvSpPr>
          <p:cNvPr id="31" name="shape29"/>
          <p:cNvSpPr/>
          <p:nvPr/>
        </p:nvSpPr>
        <p:spPr>
          <a:xfrm>
            <a:off x="5852160" y="5486400"/>
            <a:ext cx="5788152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32" name="text30"/>
          <p:cNvSpPr txBox="1"/>
          <p:nvPr/>
        </p:nvSpPr>
        <p:spPr>
          <a:xfrm>
            <a:off x="6080760" y="548640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Binanı rəhbərlik qoruyur, mühiti IT idarə edir, təhlükəsizlik komandası isə yoxlayır.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HVAC: həm mühit, həm risk</a:t>
            </a:r>
            <a:endParaRPr lang="en-US" sz="3200" dirty="0"/>
          </a:p>
        </p:txBody>
      </p:sp>
      <p:sp>
        <p:nvSpPr>
          <p:cNvPr id="3" name="text3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22</a:t>
            </a:r>
            <a:endParaRPr lang="en-US" sz="1000" dirty="0"/>
          </a:p>
        </p:txBody>
      </p:sp>
      <p:sp>
        <p:nvSpPr>
          <p:cNvPr id="4" name="text3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HVAC (Heating, Ventilation, Air Conditioning) qapalı mühitdə temperaturu, nəmliyi və havanın təmizliyini tənzimləyir.</a:t>
            </a:r>
            <a:endParaRPr lang="en-US" sz="1500" dirty="0"/>
          </a:p>
        </p:txBody>
      </p:sp>
      <p:sp>
        <p:nvSpPr>
          <p:cNvPr id="5" name="shape33"/>
          <p:cNvSpPr/>
          <p:nvPr/>
        </p:nvSpPr>
        <p:spPr>
          <a:xfrm>
            <a:off x="548640" y="2011680"/>
            <a:ext cx="539496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6" name="shape34"/>
          <p:cNvSpPr/>
          <p:nvPr/>
        </p:nvSpPr>
        <p:spPr>
          <a:xfrm>
            <a:off x="6245352" y="2011680"/>
            <a:ext cx="5394960" cy="4343400"/>
          </a:xfrm>
          <a:prstGeom prst="roundRect">
            <a:avLst>
              <a:gd name="adj" fmla="val 2105"/>
            </a:avLst>
          </a:prstGeom>
          <a:solidFill>
            <a:schemeClr val="tx1"/>
          </a:solidFill>
          <a:ln/>
        </p:spPr>
      </p:sp>
      <p:sp>
        <p:nvSpPr>
          <p:cNvPr id="7" name="shape35"/>
          <p:cNvSpPr/>
          <p:nvPr/>
        </p:nvSpPr>
        <p:spPr>
          <a:xfrm>
            <a:off x="822960" y="251460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8" name="text36"/>
          <p:cNvSpPr txBox="1"/>
          <p:nvPr/>
        </p:nvSpPr>
        <p:spPr>
          <a:xfrm>
            <a:off x="822960" y="25146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Qorunan mühit</a:t>
            </a:r>
            <a:endParaRPr lang="en-US" sz="1200" dirty="0"/>
          </a:p>
        </p:txBody>
      </p:sp>
      <p:sp>
        <p:nvSpPr>
          <p:cNvPr id="9" name="text37"/>
          <p:cNvSpPr txBox="1"/>
          <p:nvPr/>
        </p:nvSpPr>
        <p:spPr>
          <a:xfrm>
            <a:off x="822960" y="29718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Sistem sıradan çıxsa, serverlər həddindən artıq qızar və dayanar, bu, əlçatanlıq pozuntusudur. Bir çox data mərkəzində soyutma avadanlığı fasiləsiz enerji təchizatına qoşulmur və soyutma dayananda temperatur çox sürətlə qalxır.</a:t>
            </a:r>
            <a:endParaRPr lang="en-US" sz="1500" dirty="0"/>
          </a:p>
        </p:txBody>
      </p:sp>
      <p:sp>
        <p:nvSpPr>
          <p:cNvPr id="10" name="shape38"/>
          <p:cNvSpPr/>
          <p:nvPr/>
        </p:nvSpPr>
        <p:spPr>
          <a:xfrm>
            <a:off x="822960" y="5212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now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486400"/>
            <a:ext cx="365760" cy="365760"/>
          </a:xfrm>
          <a:prstGeom prst="rect">
            <a:avLst/>
          </a:prstGeom>
        </p:spPr>
      </p:pic>
      <p:sp>
        <p:nvSpPr>
          <p:cNvPr id="12" name="text39"/>
          <p:cNvSpPr txBox="1"/>
          <p:nvPr/>
        </p:nvSpPr>
        <p:spPr>
          <a:xfrm>
            <a:off x="1920240" y="5212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Əlçatanlıq pozuntusu</a:t>
            </a:r>
            <a:endParaRPr lang="en-US" sz="2000" dirty="0"/>
          </a:p>
        </p:txBody>
      </p:sp>
      <p:sp>
        <p:nvSpPr>
          <p:cNvPr id="13" name="shape40"/>
          <p:cNvSpPr/>
          <p:nvPr/>
        </p:nvSpPr>
        <p:spPr>
          <a:xfrm>
            <a:off x="6519672" y="251460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14" name="text41"/>
          <p:cNvSpPr txBox="1"/>
          <p:nvPr/>
        </p:nvSpPr>
        <p:spPr>
          <a:xfrm>
            <a:off x="6519672" y="25146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Hücum yolu</a:t>
            </a:r>
            <a:endParaRPr lang="en-US" sz="1200" dirty="0"/>
          </a:p>
        </p:txBody>
      </p:sp>
      <p:sp>
        <p:nvSpPr>
          <p:cNvPr id="15" name="text42"/>
          <p:cNvSpPr txBox="1"/>
          <p:nvPr/>
        </p:nvSpPr>
        <p:spPr>
          <a:xfrm>
            <a:off x="6519672" y="2971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HVAC sistemləri həm fiziki, həm rəqəmsal komponentlərdən ibarətdir. Target (2013): hücumçular kondisioner-istilik podratçısının hesabı ilə girdilər.</a:t>
            </a:r>
            <a:endParaRPr lang="en-US" sz="1500" dirty="0"/>
          </a:p>
        </p:txBody>
      </p:sp>
      <p:sp>
        <p:nvSpPr>
          <p:cNvPr id="16" name="text43"/>
          <p:cNvSpPr txBox="1"/>
          <p:nvPr/>
        </p:nvSpPr>
        <p:spPr>
          <a:xfrm>
            <a:off x="6519672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~40</a:t>
            </a:r>
            <a:endParaRPr lang="en-US" sz="5400" dirty="0"/>
          </a:p>
        </p:txBody>
      </p:sp>
      <p:sp>
        <p:nvSpPr>
          <p:cNvPr id="17" name="text44"/>
          <p:cNvSpPr txBox="1"/>
          <p:nvPr/>
        </p:nvSpPr>
        <p:spPr>
          <a:xfrm>
            <a:off x="6519672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milyon kart</a:t>
            </a:r>
            <a:endParaRPr lang="en-US" sz="1600" dirty="0"/>
          </a:p>
        </p:txBody>
      </p:sp>
      <p:sp>
        <p:nvSpPr>
          <p:cNvPr id="18" name="text45"/>
          <p:cNvSpPr txBox="1"/>
          <p:nvPr/>
        </p:nvSpPr>
        <p:spPr>
          <a:xfrm>
            <a:off x="9144000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~70</a:t>
            </a:r>
            <a:endParaRPr lang="en-US" sz="5400" dirty="0"/>
          </a:p>
        </p:txBody>
      </p:sp>
      <p:sp>
        <p:nvSpPr>
          <p:cNvPr id="19" name="text46"/>
          <p:cNvSpPr txBox="1"/>
          <p:nvPr/>
        </p:nvSpPr>
        <p:spPr>
          <a:xfrm>
            <a:off x="914400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milyon müştəri</a:t>
            </a:r>
            <a:endParaRPr lang="en-US" sz="1600" dirty="0"/>
          </a:p>
        </p:txBody>
      </p:sp>
      <p:sp>
        <p:nvSpPr>
          <p:cNvPr id="20" name="shape47"/>
          <p:cNvSpPr/>
          <p:nvPr/>
        </p:nvSpPr>
        <p:spPr>
          <a:xfrm>
            <a:off x="5408676" y="1600200"/>
            <a:ext cx="1371600" cy="1371600"/>
          </a:xfrm>
          <a:prstGeom prst="ellipse">
            <a:avLst/>
          </a:prstGeom>
          <a:solidFill>
            <a:schemeClr val="tx2"/>
          </a:solidFill>
          <a:ln w="50800">
            <a:solidFill>
              <a:schemeClr val="accent1"/>
            </a:solidFill>
            <a:prstDash val="solid"/>
          </a:ln>
        </p:spPr>
      </p:sp>
      <p:sp>
        <p:nvSpPr>
          <p:cNvPr id="21" name="text48"/>
          <p:cNvSpPr txBox="1"/>
          <p:nvPr/>
        </p:nvSpPr>
        <p:spPr>
          <a:xfrm>
            <a:off x="5408676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HVAC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HVAC-ın idarə etdiyi dörd xüsusiyyət</a:t>
            </a:r>
            <a:endParaRPr lang="en-US" sz="3200" dirty="0"/>
          </a:p>
        </p:txBody>
      </p:sp>
      <p:sp>
        <p:nvSpPr>
          <p:cNvPr id="3" name="text4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23</a:t>
            </a:r>
            <a:endParaRPr lang="en-US" sz="1000" dirty="0"/>
          </a:p>
        </p:txBody>
      </p:sp>
      <p:sp>
        <p:nvSpPr>
          <p:cNvPr id="4" name="shape50"/>
          <p:cNvSpPr/>
          <p:nvPr/>
        </p:nvSpPr>
        <p:spPr>
          <a:xfrm>
            <a:off x="548640" y="123444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shape51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pi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7" name="text52"/>
          <p:cNvSpPr txBox="1"/>
          <p:nvPr/>
        </p:nvSpPr>
        <p:spPr>
          <a:xfrm>
            <a:off x="187452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Temperatur</a:t>
            </a:r>
            <a:endParaRPr lang="en-US" sz="2000" dirty="0"/>
          </a:p>
        </p:txBody>
      </p:sp>
      <p:sp>
        <p:nvSpPr>
          <p:cNvPr id="8" name="text53"/>
          <p:cNvSpPr txBox="1"/>
          <p:nvPr/>
        </p:nvSpPr>
        <p:spPr>
          <a:xfrm>
            <a:off x="1874520" y="1783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həddindən artıq istilik avadanlığın qızmasına və dayanmasına səbəb olur.</a:t>
            </a:r>
            <a:endParaRPr lang="en-US" sz="1400" dirty="0"/>
          </a:p>
        </p:txBody>
      </p:sp>
      <p:sp>
        <p:nvSpPr>
          <p:cNvPr id="9" name="shape54"/>
          <p:cNvSpPr/>
          <p:nvPr/>
        </p:nvSpPr>
        <p:spPr>
          <a:xfrm>
            <a:off x="6172200" y="123444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0" name="shape55"/>
          <p:cNvSpPr/>
          <p:nvPr/>
        </p:nvSpPr>
        <p:spPr>
          <a:xfrm>
            <a:off x="6400800" y="155448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pi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783080"/>
            <a:ext cx="365760" cy="365760"/>
          </a:xfrm>
          <a:prstGeom prst="rect">
            <a:avLst/>
          </a:prstGeom>
        </p:spPr>
      </p:pic>
      <p:sp>
        <p:nvSpPr>
          <p:cNvPr id="12" name="text56"/>
          <p:cNvSpPr txBox="1"/>
          <p:nvPr/>
        </p:nvSpPr>
        <p:spPr>
          <a:xfrm>
            <a:off x="74980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Nəmlik</a:t>
            </a:r>
            <a:endParaRPr lang="en-US" sz="2000" dirty="0"/>
          </a:p>
        </p:txBody>
      </p:sp>
      <p:sp>
        <p:nvSpPr>
          <p:cNvPr id="13" name="text57"/>
          <p:cNvSpPr txBox="1"/>
          <p:nvPr/>
        </p:nvSpPr>
        <p:spPr>
          <a:xfrm>
            <a:off x="7498080" y="1783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aşağı nəmlik statik elektrikə, yüksək nəmlik korroziyaya gətirir.</a:t>
            </a:r>
            <a:endParaRPr lang="en-US" sz="1400" dirty="0"/>
          </a:p>
        </p:txBody>
      </p:sp>
      <p:sp>
        <p:nvSpPr>
          <p:cNvPr id="14" name="shape58"/>
          <p:cNvSpPr/>
          <p:nvPr/>
        </p:nvSpPr>
        <p:spPr>
          <a:xfrm>
            <a:off x="548640" y="283464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5" name="shape59"/>
          <p:cNvSpPr/>
          <p:nvPr/>
        </p:nvSpPr>
        <p:spPr>
          <a:xfrm>
            <a:off x="777240" y="3154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i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383280"/>
            <a:ext cx="365760" cy="365760"/>
          </a:xfrm>
          <a:prstGeom prst="rect">
            <a:avLst/>
          </a:prstGeom>
        </p:spPr>
      </p:pic>
      <p:sp>
        <p:nvSpPr>
          <p:cNvPr id="17" name="text60"/>
          <p:cNvSpPr txBox="1"/>
          <p:nvPr/>
        </p:nvSpPr>
        <p:spPr>
          <a:xfrm>
            <a:off x="187452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Filtrasiya</a:t>
            </a:r>
            <a:endParaRPr lang="en-US" sz="2000" dirty="0"/>
          </a:p>
        </p:txBody>
      </p:sp>
      <p:sp>
        <p:nvSpPr>
          <p:cNvPr id="18" name="text61"/>
          <p:cNvSpPr txBox="1"/>
          <p:nvPr/>
        </p:nvSpPr>
        <p:spPr>
          <a:xfrm>
            <a:off x="1874520" y="33832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toz fanlarda toplanır, soyutma pisləşir.</a:t>
            </a:r>
            <a:endParaRPr lang="en-US" sz="1400" dirty="0"/>
          </a:p>
        </p:txBody>
      </p:sp>
      <p:sp>
        <p:nvSpPr>
          <p:cNvPr id="19" name="shape62"/>
          <p:cNvSpPr/>
          <p:nvPr/>
        </p:nvSpPr>
        <p:spPr>
          <a:xfrm>
            <a:off x="6172200" y="283464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0" name="shape63"/>
          <p:cNvSpPr/>
          <p:nvPr/>
        </p:nvSpPr>
        <p:spPr>
          <a:xfrm>
            <a:off x="6400800" y="315468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pi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383280"/>
            <a:ext cx="365760" cy="365760"/>
          </a:xfrm>
          <a:prstGeom prst="rect">
            <a:avLst/>
          </a:prstGeom>
        </p:spPr>
      </p:pic>
      <p:sp>
        <p:nvSpPr>
          <p:cNvPr id="22" name="text64"/>
          <p:cNvSpPr txBox="1"/>
          <p:nvPr/>
        </p:nvSpPr>
        <p:spPr>
          <a:xfrm>
            <a:off x="749808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Statik elektrik</a:t>
            </a:r>
            <a:endParaRPr lang="en-US" sz="2000" dirty="0"/>
          </a:p>
        </p:txBody>
      </p:sp>
      <p:sp>
        <p:nvSpPr>
          <p:cNvPr id="23" name="text65"/>
          <p:cNvSpPr txBox="1"/>
          <p:nvPr/>
        </p:nvSpPr>
        <p:spPr>
          <a:xfrm>
            <a:off x="7498080" y="33832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elektrostatik boşalma (ESD) həssas komponentlərə zərər verə bilər.</a:t>
            </a:r>
            <a:endParaRPr lang="en-US" sz="1400" dirty="0"/>
          </a:p>
        </p:txBody>
      </p:sp>
      <p:sp>
        <p:nvSpPr>
          <p:cNvPr id="24" name="shape66"/>
          <p:cNvSpPr/>
          <p:nvPr/>
        </p:nvSpPr>
        <p:spPr>
          <a:xfrm>
            <a:off x="548640" y="452628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25" name="text67"/>
          <p:cNvSpPr txBox="1"/>
          <p:nvPr/>
        </p:nvSpPr>
        <p:spPr>
          <a:xfrm>
            <a:off x="777240" y="4526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21–23 °C</a:t>
            </a:r>
            <a:endParaRPr lang="en-US" sz="2800" dirty="0"/>
          </a:p>
        </p:txBody>
      </p:sp>
      <p:sp>
        <p:nvSpPr>
          <p:cNvPr id="26" name="text68"/>
          <p:cNvSpPr txBox="1"/>
          <p:nvPr/>
        </p:nvSpPr>
        <p:spPr>
          <a:xfrm>
            <a:off x="3200400" y="4526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Ənənəvi qayda: 21–23 °C (70–74 °F), nəmlik 40–60%.</a:t>
            </a:r>
            <a:endParaRPr lang="en-US" sz="1500" dirty="0"/>
          </a:p>
        </p:txBody>
      </p:sp>
      <p:sp>
        <p:nvSpPr>
          <p:cNvPr id="27" name="shape69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28" name="text70"/>
          <p:cNvSpPr txBox="1"/>
          <p:nvPr/>
        </p:nvSpPr>
        <p:spPr>
          <a:xfrm>
            <a:off x="777240" y="5303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18–27 °C</a:t>
            </a:r>
            <a:endParaRPr lang="en-US" sz="2800" dirty="0"/>
          </a:p>
        </p:txBody>
      </p:sp>
      <p:sp>
        <p:nvSpPr>
          <p:cNvPr id="29" name="text71"/>
          <p:cNvSpPr txBox="1"/>
          <p:nvPr/>
        </p:nvSpPr>
        <p:spPr>
          <a:xfrm>
            <a:off x="3200400" y="5303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ASHRAE: server girişi üçün 18–27 °C. 2016-cı il tədqiqatı göstərdi ki, nisbi nəmlik 8%-ə düşsə belə, statik yük rack avadanlığına zərər vermək üçün kifayət etmir.</a:t>
            </a:r>
            <a:endParaRPr lang="en-US" sz="1400" dirty="0"/>
          </a:p>
        </p:txBody>
      </p:sp>
      <p:sp>
        <p:nvSpPr>
          <p:cNvPr id="30" name="text72"/>
          <p:cNvSpPr txBox="1"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Köhnə qayda sərt qaydadan çox ehtiyat prinsipidir.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50164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az-Latn-AZ" sz="3200" b="1" dirty="0">
                <a:solidFill>
                  <a:schemeClr val="tx1"/>
                </a:solidFill>
              </a:rPr>
              <a:t>Şəxsi Hücum Təcrübəsi</a:t>
            </a:r>
            <a:endParaRPr lang="en-US" sz="3200" dirty="0"/>
          </a:p>
        </p:txBody>
      </p:sp>
      <p:sp>
        <p:nvSpPr>
          <p:cNvPr id="3" name="text4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23</a:t>
            </a:r>
            <a:endParaRPr lang="en-US" sz="1000"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3749F147-C21D-42C1-8E0D-A7E7DCE81C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0495D-D9E1-4D1B-B4A9-B840030DC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026116"/>
            <a:ext cx="4710042" cy="5584997"/>
          </a:xfrm>
          <a:prstGeom prst="roundRect">
            <a:avLst>
              <a:gd name="adj" fmla="val 2418"/>
            </a:avLst>
          </a:prstGeom>
        </p:spPr>
      </p:pic>
      <p:sp>
        <p:nvSpPr>
          <p:cNvPr id="8" name="shape50">
            <a:extLst>
              <a:ext uri="{FF2B5EF4-FFF2-40B4-BE49-F238E27FC236}">
                <a16:creationId xmlns:a16="http://schemas.microsoft.com/office/drawing/2014/main" id="{36624F8F-5AFC-40AD-894C-408A3F4A7F54}"/>
              </a:ext>
            </a:extLst>
          </p:cNvPr>
          <p:cNvSpPr/>
          <p:nvPr/>
        </p:nvSpPr>
        <p:spPr>
          <a:xfrm>
            <a:off x="5488365" y="1093949"/>
            <a:ext cx="5468112" cy="2682285"/>
          </a:xfrm>
          <a:prstGeom prst="roundRect">
            <a:avLst>
              <a:gd name="adj" fmla="val 4366"/>
            </a:avLst>
          </a:prstGeom>
          <a:solidFill>
            <a:srgbClr val="F3BFC0"/>
          </a:solidFill>
          <a:ln/>
        </p:spPr>
      </p:sp>
      <p:sp>
        <p:nvSpPr>
          <p:cNvPr id="9" name="text60">
            <a:extLst>
              <a:ext uri="{FF2B5EF4-FFF2-40B4-BE49-F238E27FC236}">
                <a16:creationId xmlns:a16="http://schemas.microsoft.com/office/drawing/2014/main" id="{7B3B739B-1A5F-4DCE-8557-14EFDCE41E4D}"/>
              </a:ext>
            </a:extLst>
          </p:cNvPr>
          <p:cNvSpPr txBox="1"/>
          <p:nvPr/>
        </p:nvSpPr>
        <p:spPr>
          <a:xfrm>
            <a:off x="6753860" y="1290850"/>
            <a:ext cx="393192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az-Latn-AZ" sz="3600" b="1" dirty="0">
                <a:solidFill>
                  <a:schemeClr val="tx1"/>
                </a:solidFill>
              </a:rPr>
              <a:t>Pretext</a:t>
            </a:r>
            <a:endParaRPr lang="en-US" sz="3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D8F7A99-5C2B-41B7-88B8-A70B58FDC7F7}"/>
              </a:ext>
            </a:extLst>
          </p:cNvPr>
          <p:cNvGrpSpPr/>
          <p:nvPr/>
        </p:nvGrpSpPr>
        <p:grpSpPr>
          <a:xfrm>
            <a:off x="5735320" y="1156230"/>
            <a:ext cx="822960" cy="822960"/>
            <a:chOff x="8757920" y="1143000"/>
            <a:chExt cx="822960" cy="822960"/>
          </a:xfrm>
          <a:solidFill>
            <a:srgbClr val="C00000"/>
          </a:solidFill>
        </p:grpSpPr>
        <p:sp>
          <p:nvSpPr>
            <p:cNvPr id="11" name="shape63">
              <a:extLst>
                <a:ext uri="{FF2B5EF4-FFF2-40B4-BE49-F238E27FC236}">
                  <a16:creationId xmlns:a16="http://schemas.microsoft.com/office/drawing/2014/main" id="{8404979B-372F-416D-A18E-99D32DF07CAB}"/>
                </a:ext>
              </a:extLst>
            </p:cNvPr>
            <p:cNvSpPr/>
            <p:nvPr/>
          </p:nvSpPr>
          <p:spPr>
            <a:xfrm>
              <a:off x="8757920" y="1143000"/>
              <a:ext cx="822960" cy="822960"/>
            </a:xfrm>
            <a:prstGeom prst="ellipse">
              <a:avLst/>
            </a:prstGeom>
            <a:grpFill/>
            <a:ln/>
          </p:spPr>
        </p:sp>
        <p:pic>
          <p:nvPicPr>
            <p:cNvPr id="1030" name="Picture 6" descr="Email Envelope Line White Icon SVG Vector &amp; PNG Free Download | UXWing">
              <a:extLst>
                <a:ext uri="{FF2B5EF4-FFF2-40B4-BE49-F238E27FC236}">
                  <a16:creationId xmlns:a16="http://schemas.microsoft.com/office/drawing/2014/main" id="{3C539F85-5060-4E8A-8294-0D0DCC29DE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3500" y="1338580"/>
              <a:ext cx="431800" cy="431800"/>
            </a:xfrm>
            <a:prstGeom prst="rect">
              <a:avLst/>
            </a:prstGeom>
            <a:grpFill/>
          </p:spPr>
        </p:pic>
      </p:grpSp>
      <p:sp>
        <p:nvSpPr>
          <p:cNvPr id="22" name="AutoShape 4">
            <a:extLst>
              <a:ext uri="{FF2B5EF4-FFF2-40B4-BE49-F238E27FC236}">
                <a16:creationId xmlns:a16="http://schemas.microsoft.com/office/drawing/2014/main" id="{CE8AE67C-ABB2-4F0C-8E31-AAD031EE13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61727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shape50">
            <a:extLst>
              <a:ext uri="{FF2B5EF4-FFF2-40B4-BE49-F238E27FC236}">
                <a16:creationId xmlns:a16="http://schemas.microsoft.com/office/drawing/2014/main" id="{06603555-898D-4801-A75C-4D2066C03C62}"/>
              </a:ext>
            </a:extLst>
          </p:cNvPr>
          <p:cNvSpPr/>
          <p:nvPr/>
        </p:nvSpPr>
        <p:spPr>
          <a:xfrm>
            <a:off x="5488365" y="3922290"/>
            <a:ext cx="5468112" cy="2682285"/>
          </a:xfrm>
          <a:prstGeom prst="roundRect">
            <a:avLst>
              <a:gd name="adj" fmla="val 4366"/>
            </a:avLst>
          </a:prstGeom>
          <a:solidFill>
            <a:srgbClr val="F3BFC0"/>
          </a:solidFill>
          <a:ln/>
        </p:spPr>
      </p:sp>
      <p:sp>
        <p:nvSpPr>
          <p:cNvPr id="24" name="text60">
            <a:extLst>
              <a:ext uri="{FF2B5EF4-FFF2-40B4-BE49-F238E27FC236}">
                <a16:creationId xmlns:a16="http://schemas.microsoft.com/office/drawing/2014/main" id="{45AE1BB4-6E50-45B5-B7E3-702E4A23FFD3}"/>
              </a:ext>
            </a:extLst>
          </p:cNvPr>
          <p:cNvSpPr txBox="1"/>
          <p:nvPr/>
        </p:nvSpPr>
        <p:spPr>
          <a:xfrm>
            <a:off x="5799261" y="4049628"/>
            <a:ext cx="393192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az-Latn-AZ" sz="3600" b="1" dirty="0">
                <a:solidFill>
                  <a:schemeClr val="tx1"/>
                </a:solidFill>
              </a:rPr>
              <a:t>Spoofing</a:t>
            </a:r>
            <a:endParaRPr lang="en-US" sz="3600" dirty="0"/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810724B6-A62C-40E5-B2E1-4E3B45290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480" y="2071209"/>
            <a:ext cx="50673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z-Latn-AZ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Tələbələrin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marağını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çəkmək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üçün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"Yeni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tələbə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kabineti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bəhanəsindən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edilir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z-Latn-AZ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z-Latn-AZ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Təcililik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yaradılaraq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diqqətsiz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keçid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etməyə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təşrik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edilir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004187D6-627E-428D-B674-6CA5CA2D3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320" y="4706947"/>
            <a:ext cx="51633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z-Latn-AZ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Rəsmi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domena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oxşar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saxta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keçid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təqdim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olunur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z-Latn-AZ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z-Latn-AZ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Məqsəd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Tələbələrin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giriş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məlumatlarını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(login/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ələ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keçirmək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9527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50164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chemeClr val="tx1"/>
                </a:solidFill>
              </a:rPr>
              <a:t>Saxta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en-US" sz="3200" b="1" dirty="0" err="1">
                <a:solidFill>
                  <a:schemeClr val="tx1"/>
                </a:solidFill>
              </a:rPr>
              <a:t>Sayt</a:t>
            </a:r>
            <a:endParaRPr lang="en-US" sz="3200" dirty="0"/>
          </a:p>
        </p:txBody>
      </p:sp>
      <p:sp>
        <p:nvSpPr>
          <p:cNvPr id="3" name="text4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23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D6FDBA-FE6C-4295-9E64-F036A0FD58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7778"/>
          <a:stretch/>
        </p:blipFill>
        <p:spPr>
          <a:xfrm>
            <a:off x="535886" y="2147377"/>
            <a:ext cx="3450037" cy="4267200"/>
          </a:xfrm>
          <a:prstGeom prst="roundRect">
            <a:avLst>
              <a:gd name="adj" fmla="val 4266"/>
            </a:avLst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7DFCD1-68C0-467B-BD1E-8D9B39935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742" y="2149819"/>
            <a:ext cx="3524515" cy="4264758"/>
          </a:xfrm>
          <a:prstGeom prst="roundRect">
            <a:avLst>
              <a:gd name="adj" fmla="val 4052"/>
            </a:avLst>
          </a:prstGeom>
        </p:spPr>
      </p:pic>
      <p:sp>
        <p:nvSpPr>
          <p:cNvPr id="25" name="shape50">
            <a:extLst>
              <a:ext uri="{FF2B5EF4-FFF2-40B4-BE49-F238E27FC236}">
                <a16:creationId xmlns:a16="http://schemas.microsoft.com/office/drawing/2014/main" id="{73C5B1B3-E929-4046-8FEF-1A724469C33D}"/>
              </a:ext>
            </a:extLst>
          </p:cNvPr>
          <p:cNvSpPr/>
          <p:nvPr/>
        </p:nvSpPr>
        <p:spPr>
          <a:xfrm>
            <a:off x="8206076" y="2149819"/>
            <a:ext cx="3174530" cy="4264758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79CEA5-D9EA-44B5-9AF5-2BD2E1E64B02}"/>
              </a:ext>
            </a:extLst>
          </p:cNvPr>
          <p:cNvSpPr/>
          <p:nvPr/>
        </p:nvSpPr>
        <p:spPr>
          <a:xfrm>
            <a:off x="811394" y="2147377"/>
            <a:ext cx="2046914" cy="54548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50698CB-6320-47E7-BEF1-846417FA487A}"/>
              </a:ext>
            </a:extLst>
          </p:cNvPr>
          <p:cNvSpPr/>
          <p:nvPr/>
        </p:nvSpPr>
        <p:spPr>
          <a:xfrm>
            <a:off x="4696895" y="2151013"/>
            <a:ext cx="2046914" cy="54548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60">
            <a:extLst>
              <a:ext uri="{FF2B5EF4-FFF2-40B4-BE49-F238E27FC236}">
                <a16:creationId xmlns:a16="http://schemas.microsoft.com/office/drawing/2014/main" id="{01BF0608-D6AF-4034-AEDA-C2FAE353D6F4}"/>
              </a:ext>
            </a:extLst>
          </p:cNvPr>
          <p:cNvSpPr txBox="1"/>
          <p:nvPr/>
        </p:nvSpPr>
        <p:spPr>
          <a:xfrm>
            <a:off x="8414881" y="2322695"/>
            <a:ext cx="393192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az-Latn-AZ" sz="2800" b="1" dirty="0">
                <a:solidFill>
                  <a:schemeClr val="tx1"/>
                </a:solidFill>
              </a:rPr>
              <a:t>Aldatma</a:t>
            </a:r>
            <a:endParaRPr lang="en-US" sz="2800" dirty="0"/>
          </a:p>
        </p:txBody>
      </p:sp>
      <p:sp>
        <p:nvSpPr>
          <p:cNvPr id="32" name="text473">
            <a:extLst>
              <a:ext uri="{FF2B5EF4-FFF2-40B4-BE49-F238E27FC236}">
                <a16:creationId xmlns:a16="http://schemas.microsoft.com/office/drawing/2014/main" id="{5CC0CC1E-6B72-4F9A-A1F0-DAFA41F647DF}"/>
              </a:ext>
            </a:extLst>
          </p:cNvPr>
          <p:cNvSpPr txBox="1"/>
          <p:nvPr/>
        </p:nvSpPr>
        <p:spPr>
          <a:xfrm>
            <a:off x="2858308" y="855575"/>
            <a:ext cx="20678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z-Latn-AZ" sz="2000" b="1" dirty="0">
                <a:solidFill>
                  <a:schemeClr val="tx1"/>
                </a:solidFill>
              </a:rPr>
              <a:t>URL</a:t>
            </a:r>
            <a:r>
              <a:rPr lang="en-US" sz="2000" b="1" dirty="0">
                <a:solidFill>
                  <a:schemeClr val="tx1"/>
                </a:solidFill>
              </a:rPr>
              <a:t>-l</a:t>
            </a:r>
            <a:r>
              <a:rPr lang="az-Latn-AZ" sz="2000" b="1" dirty="0">
                <a:solidFill>
                  <a:schemeClr val="tx1"/>
                </a:solidFill>
              </a:rPr>
              <a:t>ər fərqlənir</a:t>
            </a:r>
            <a:endParaRPr lang="en-US" sz="2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A95B2F-32B3-422E-BF8C-79F19A07DF6D}"/>
              </a:ext>
            </a:extLst>
          </p:cNvPr>
          <p:cNvCxnSpPr>
            <a:cxnSpLocks/>
            <a:stCxn id="32" idx="1"/>
            <a:endCxn id="16" idx="0"/>
          </p:cNvCxnSpPr>
          <p:nvPr/>
        </p:nvCxnSpPr>
        <p:spPr>
          <a:xfrm flipH="1">
            <a:off x="1834851" y="1312775"/>
            <a:ext cx="1023457" cy="83460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C30641D-1BA1-42A5-B822-9F8C6EB94F7A}"/>
              </a:ext>
            </a:extLst>
          </p:cNvPr>
          <p:cNvCxnSpPr>
            <a:cxnSpLocks/>
            <a:stCxn id="32" idx="3"/>
            <a:endCxn id="27" idx="0"/>
          </p:cNvCxnSpPr>
          <p:nvPr/>
        </p:nvCxnSpPr>
        <p:spPr>
          <a:xfrm>
            <a:off x="4926194" y="1312775"/>
            <a:ext cx="794158" cy="8382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37">
            <a:extLst>
              <a:ext uri="{FF2B5EF4-FFF2-40B4-BE49-F238E27FC236}">
                <a16:creationId xmlns:a16="http://schemas.microsoft.com/office/drawing/2014/main" id="{8C131406-DA38-480B-9F6F-C3FC27ADB9B9}"/>
              </a:ext>
            </a:extLst>
          </p:cNvPr>
          <p:cNvSpPr txBox="1"/>
          <p:nvPr/>
        </p:nvSpPr>
        <p:spPr>
          <a:xfrm>
            <a:off x="8414881" y="3049291"/>
            <a:ext cx="283223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chemeClr val="tx1"/>
                </a:solidFill>
              </a:rPr>
              <a:t>Saytlar</a:t>
            </a:r>
            <a:r>
              <a:rPr lang="az-Latn-AZ" sz="1500" dirty="0">
                <a:solidFill>
                  <a:schemeClr val="tx1"/>
                </a:solidFill>
              </a:rPr>
              <a:t>ın U</a:t>
            </a:r>
            <a:r>
              <a:rPr lang="en-US" sz="1500" dirty="0">
                <a:solidFill>
                  <a:schemeClr val="tx1"/>
                </a:solidFill>
              </a:rPr>
              <a:t>I</a:t>
            </a:r>
            <a:r>
              <a:rPr lang="az-Latn-AZ" sz="1500" dirty="0">
                <a:solidFill>
                  <a:schemeClr val="tx1"/>
                </a:solidFill>
              </a:rPr>
              <a:t>-ları tamamilə eynidir, insanları eyni sayt olduğuna inandırır. Bundan sonra istifadəçilər "hesablarına girmək" istədik də, yazdıqları hesab adı və parol UNEC-in serverlərinə yox, hücumçunun serverinə göndərilir və </a:t>
            </a:r>
            <a:r>
              <a:rPr lang="az-Latn-AZ" sz="1500" b="1" dirty="0">
                <a:solidFill>
                  <a:schemeClr val="tx1"/>
                </a:solidFill>
              </a:rPr>
              <a:t>k</a:t>
            </a:r>
            <a:r>
              <a:rPr lang="en-US" sz="1600" b="1" u="none" strike="noStrike" dirty="0" err="1">
                <a:effectLst/>
                <a:latin typeface="Google Sans"/>
              </a:rPr>
              <a:t>onfidensiallıq</a:t>
            </a:r>
            <a:r>
              <a:rPr lang="en-US" sz="1600" dirty="0"/>
              <a:t> </a:t>
            </a:r>
            <a:r>
              <a:rPr lang="az-Latn-AZ" sz="1600" dirty="0"/>
              <a:t>pozulmuş olur.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664242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50164" y="1097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az-Latn-AZ" sz="3200" dirty="0"/>
              <a:t>Hücumçunun serveri</a:t>
            </a:r>
            <a:endParaRPr lang="en-US" sz="3200" dirty="0"/>
          </a:p>
        </p:txBody>
      </p:sp>
      <p:sp>
        <p:nvSpPr>
          <p:cNvPr id="3" name="text4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23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F0E2A6-B0F5-4942-8D0B-2556E6FBD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443" r="24734"/>
          <a:stretch/>
        </p:blipFill>
        <p:spPr>
          <a:xfrm>
            <a:off x="566739" y="917119"/>
            <a:ext cx="10859066" cy="3053197"/>
          </a:xfrm>
          <a:prstGeom prst="roundRect">
            <a:avLst>
              <a:gd name="adj" fmla="val 4987"/>
            </a:avLst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07BD01C-8142-4487-908E-A6418D642ED2}"/>
              </a:ext>
            </a:extLst>
          </p:cNvPr>
          <p:cNvGrpSpPr/>
          <p:nvPr/>
        </p:nvGrpSpPr>
        <p:grpSpPr>
          <a:xfrm>
            <a:off x="550163" y="4046187"/>
            <a:ext cx="5212681" cy="2663075"/>
            <a:chOff x="5288044" y="902850"/>
            <a:chExt cx="4409936" cy="3051244"/>
          </a:xfrm>
        </p:grpSpPr>
        <p:sp>
          <p:nvSpPr>
            <p:cNvPr id="17" name="shape50">
              <a:extLst>
                <a:ext uri="{FF2B5EF4-FFF2-40B4-BE49-F238E27FC236}">
                  <a16:creationId xmlns:a16="http://schemas.microsoft.com/office/drawing/2014/main" id="{7757AC16-C5DB-4860-8626-C2FAFBEEED93}"/>
                </a:ext>
              </a:extLst>
            </p:cNvPr>
            <p:cNvSpPr/>
            <p:nvPr/>
          </p:nvSpPr>
          <p:spPr>
            <a:xfrm>
              <a:off x="5288044" y="902850"/>
              <a:ext cx="4409936" cy="3051244"/>
            </a:xfrm>
            <a:prstGeom prst="roundRect">
              <a:avLst>
                <a:gd name="adj" fmla="val 8661"/>
              </a:avLst>
            </a:prstGeom>
            <a:solidFill>
              <a:schemeClr val="bg2"/>
            </a:solidFill>
            <a:ln/>
          </p:spPr>
        </p:sp>
        <p:sp>
          <p:nvSpPr>
            <p:cNvPr id="18" name="text60">
              <a:extLst>
                <a:ext uri="{FF2B5EF4-FFF2-40B4-BE49-F238E27FC236}">
                  <a16:creationId xmlns:a16="http://schemas.microsoft.com/office/drawing/2014/main" id="{CE3169E2-B8DC-42AF-A5AD-34D33CA89CB4}"/>
                </a:ext>
              </a:extLst>
            </p:cNvPr>
            <p:cNvSpPr txBox="1"/>
            <p:nvPr/>
          </p:nvSpPr>
          <p:spPr>
            <a:xfrm>
              <a:off x="5968734" y="1136431"/>
              <a:ext cx="3137216" cy="553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az-Latn-AZ" sz="2800" b="1" dirty="0">
                  <a:solidFill>
                    <a:schemeClr val="tx1"/>
                  </a:solidFill>
                </a:rPr>
                <a:t>Hücumçunun əldə etdiyi</a:t>
              </a:r>
              <a:endParaRPr lang="en-US" sz="2800" dirty="0"/>
            </a:p>
          </p:txBody>
        </p:sp>
        <p:sp>
          <p:nvSpPr>
            <p:cNvPr id="19" name="text37">
              <a:extLst>
                <a:ext uri="{FF2B5EF4-FFF2-40B4-BE49-F238E27FC236}">
                  <a16:creationId xmlns:a16="http://schemas.microsoft.com/office/drawing/2014/main" id="{90683D16-4933-449F-B98A-CDC17FB586B3}"/>
                </a:ext>
              </a:extLst>
            </p:cNvPr>
            <p:cNvSpPr txBox="1"/>
            <p:nvPr/>
          </p:nvSpPr>
          <p:spPr>
            <a:xfrm>
              <a:off x="5515602" y="1863037"/>
              <a:ext cx="3931920" cy="1208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az-Latn-AZ" sz="1500" dirty="0">
                  <a:solidFill>
                    <a:schemeClr val="tx1"/>
                  </a:solidFill>
                </a:rPr>
                <a:t>İstifadəçi hesab adı </a:t>
              </a:r>
              <a:r>
                <a:rPr lang="en-US" sz="1500" dirty="0"/>
                <a:t>v</a:t>
              </a:r>
              <a:r>
                <a:rPr lang="az-Latn-AZ" sz="1500" dirty="0"/>
                <a:t>ə parolu </a:t>
              </a:r>
              <a:r>
                <a:rPr lang="az-Latn-AZ" sz="1500" dirty="0">
                  <a:solidFill>
                    <a:schemeClr val="tx1"/>
                  </a:solidFill>
                </a:rPr>
                <a:t>yazdıqda, UNEC-in saytından qeydiyyatdan keçmək əvəzinə</a:t>
              </a:r>
              <a:r>
                <a:rPr lang="az-Latn-AZ" sz="1500" dirty="0"/>
                <a:t>, öz şəxsi məlumatlarını, şifrlənməmiş şəkildə hücumçuya göndərir. </a:t>
              </a:r>
              <a:endParaRPr lang="en-US" sz="15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BA7387-7479-4703-865E-A922FEC77F1E}"/>
                </a:ext>
              </a:extLst>
            </p:cNvPr>
            <p:cNvSpPr txBox="1"/>
            <p:nvPr/>
          </p:nvSpPr>
          <p:spPr>
            <a:xfrm>
              <a:off x="5476569" y="2750548"/>
              <a:ext cx="279352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az-Latn-AZ" dirty="0"/>
                <a:t>İstifadəçi adı</a:t>
              </a:r>
              <a:r>
                <a:rPr lang="en-US" dirty="0"/>
                <a:t>: </a:t>
              </a:r>
              <a:r>
                <a:rPr lang="az-Latn-AZ" dirty="0"/>
                <a:t>ali.karimov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az-Latn-AZ" dirty="0"/>
                <a:t>Hesab parolu: Vy5T!K7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DF67CF-7F66-4691-939E-61002F7ABD0E}"/>
              </a:ext>
            </a:extLst>
          </p:cNvPr>
          <p:cNvGrpSpPr/>
          <p:nvPr/>
        </p:nvGrpSpPr>
        <p:grpSpPr>
          <a:xfrm>
            <a:off x="5925582" y="4041680"/>
            <a:ext cx="5500223" cy="2663074"/>
            <a:chOff x="5288044" y="902850"/>
            <a:chExt cx="4409936" cy="3051244"/>
          </a:xfrm>
        </p:grpSpPr>
        <p:sp>
          <p:nvSpPr>
            <p:cNvPr id="26" name="shape50">
              <a:extLst>
                <a:ext uri="{FF2B5EF4-FFF2-40B4-BE49-F238E27FC236}">
                  <a16:creationId xmlns:a16="http://schemas.microsoft.com/office/drawing/2014/main" id="{50B193B7-A79A-4F92-B1EC-4F77F9B3A8CF}"/>
                </a:ext>
              </a:extLst>
            </p:cNvPr>
            <p:cNvSpPr/>
            <p:nvPr/>
          </p:nvSpPr>
          <p:spPr>
            <a:xfrm>
              <a:off x="5288044" y="902850"/>
              <a:ext cx="4409936" cy="3051244"/>
            </a:xfrm>
            <a:prstGeom prst="roundRect">
              <a:avLst>
                <a:gd name="adj" fmla="val 7401"/>
              </a:avLst>
            </a:prstGeom>
            <a:solidFill>
              <a:schemeClr val="bg2"/>
            </a:solidFill>
            <a:ln/>
          </p:spPr>
        </p:sp>
        <p:sp>
          <p:nvSpPr>
            <p:cNvPr id="29" name="text60">
              <a:extLst>
                <a:ext uri="{FF2B5EF4-FFF2-40B4-BE49-F238E27FC236}">
                  <a16:creationId xmlns:a16="http://schemas.microsoft.com/office/drawing/2014/main" id="{0A7BC896-C9C6-49A5-B755-D92ECD5B8ABB}"/>
                </a:ext>
              </a:extLst>
            </p:cNvPr>
            <p:cNvSpPr txBox="1"/>
            <p:nvPr/>
          </p:nvSpPr>
          <p:spPr>
            <a:xfrm>
              <a:off x="6019875" y="1046314"/>
              <a:ext cx="1967794" cy="553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az-Latn-AZ" sz="2800" b="1" dirty="0">
                  <a:solidFill>
                    <a:schemeClr val="tx1"/>
                  </a:solidFill>
                </a:rPr>
                <a:t>Qorunma yolları</a:t>
              </a:r>
              <a:endParaRPr lang="en-US" sz="28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C7FA7E2-EF1D-4954-86C3-54E6FB48EB47}"/>
                </a:ext>
              </a:extLst>
            </p:cNvPr>
            <p:cNvSpPr txBox="1"/>
            <p:nvPr/>
          </p:nvSpPr>
          <p:spPr>
            <a:xfrm>
              <a:off x="5398378" y="1640917"/>
              <a:ext cx="4115970" cy="179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i="1" dirty="0"/>
                <a:t>URL-</a:t>
              </a:r>
              <a:r>
                <a:rPr lang="az-Latn-AZ" sz="1600" i="1" dirty="0"/>
                <a:t>i daha diqqətlə oxuyun</a:t>
              </a:r>
              <a:r>
                <a:rPr lang="az-Latn-AZ" sz="1600" dirty="0"/>
                <a:t>. URL-də .edu yoxdur, halbuki .edu domeni-ni əldə etmək üçün real qurum kimi sənədlərlər işləmək lazımdır. Saxta olduğunu göstərir.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az-Latn-AZ" sz="1600" dirty="0"/>
                <a:t>Bu tip mesajlar əldə etdikdə, dərhal qurum adminstratoru ilə əlaqə saxlanmalı, informasiyanın gerçək olub-olmadığı dəqiqləşdirilməlidir.</a:t>
              </a:r>
              <a:endParaRPr lang="en-US" sz="1600" dirty="0"/>
            </a:p>
          </p:txBody>
        </p:sp>
      </p:grpSp>
      <p:sp>
        <p:nvSpPr>
          <p:cNvPr id="35" name="shape61">
            <a:extLst>
              <a:ext uri="{FF2B5EF4-FFF2-40B4-BE49-F238E27FC236}">
                <a16:creationId xmlns:a16="http://schemas.microsoft.com/office/drawing/2014/main" id="{B6C28BFC-7F60-4FEC-8740-F5477B2F2DC8}"/>
              </a:ext>
            </a:extLst>
          </p:cNvPr>
          <p:cNvSpPr/>
          <p:nvPr/>
        </p:nvSpPr>
        <p:spPr>
          <a:xfrm>
            <a:off x="687730" y="4159633"/>
            <a:ext cx="575558" cy="590102"/>
          </a:xfrm>
          <a:prstGeom prst="ellipse">
            <a:avLst/>
          </a:prstGeom>
          <a:solidFill>
            <a:srgbClr val="FF0000"/>
          </a:solidFill>
          <a:ln/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610F3C-5004-4637-88AA-9C9F466EC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69" y="4195851"/>
            <a:ext cx="483279" cy="483279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26B698A7-778A-498D-ADF9-BE3D9EA06187}"/>
              </a:ext>
            </a:extLst>
          </p:cNvPr>
          <p:cNvGrpSpPr/>
          <p:nvPr/>
        </p:nvGrpSpPr>
        <p:grpSpPr>
          <a:xfrm>
            <a:off x="6102505" y="4113480"/>
            <a:ext cx="575558" cy="590102"/>
            <a:chOff x="6015908" y="4095751"/>
            <a:chExt cx="575558" cy="590102"/>
          </a:xfrm>
        </p:grpSpPr>
        <p:sp>
          <p:nvSpPr>
            <p:cNvPr id="37" name="shape61">
              <a:extLst>
                <a:ext uri="{FF2B5EF4-FFF2-40B4-BE49-F238E27FC236}">
                  <a16:creationId xmlns:a16="http://schemas.microsoft.com/office/drawing/2014/main" id="{A0EE821A-E7E2-4C11-B7AB-7304BC8A3CE4}"/>
                </a:ext>
              </a:extLst>
            </p:cNvPr>
            <p:cNvSpPr/>
            <p:nvPr/>
          </p:nvSpPr>
          <p:spPr>
            <a:xfrm>
              <a:off x="6015908" y="4095751"/>
              <a:ext cx="575558" cy="590102"/>
            </a:xfrm>
            <a:prstGeom prst="ellipse">
              <a:avLst/>
            </a:prstGeom>
            <a:solidFill>
              <a:schemeClr val="accent6"/>
            </a:solidFill>
            <a:ln/>
          </p:spPr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863E622-8275-45FD-BF3A-FC3FF8F6B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62047" y="4131969"/>
              <a:ext cx="483279" cy="483279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4BBA36A-FC39-4600-BA31-7A35DDC17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644" y="4149697"/>
            <a:ext cx="483279" cy="48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19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Təhlilin sərhədi və mövcud tədbirlər</a:t>
            </a:r>
            <a:endParaRPr lang="en-US" sz="3200" dirty="0"/>
          </a:p>
        </p:txBody>
      </p:sp>
      <p:sp>
        <p:nvSpPr>
          <p:cNvPr id="3" name="text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24</a:t>
            </a:r>
            <a:endParaRPr lang="en-US" sz="1000" dirty="0"/>
          </a:p>
        </p:txBody>
      </p:sp>
      <p:sp>
        <p:nvSpPr>
          <p:cNvPr id="4" name="shape2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3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 HİSSƏ: UNEC-DƏ TƏHLÜKƏSİZLİK TƏHLİLİ</a:t>
            </a:r>
            <a:endParaRPr lang="en-US" sz="1200" dirty="0"/>
          </a:p>
        </p:txBody>
      </p:sp>
      <p:sp>
        <p:nvSpPr>
          <p:cNvPr id="6" name="shape4"/>
          <p:cNvSpPr/>
          <p:nvPr/>
        </p:nvSpPr>
        <p:spPr>
          <a:xfrm>
            <a:off x="548640" y="1280160"/>
            <a:ext cx="4206240" cy="5029200"/>
          </a:xfrm>
          <a:prstGeom prst="roundRect">
            <a:avLst>
              <a:gd name="adj" fmla="val 2174"/>
            </a:avLst>
          </a:prstGeom>
          <a:solidFill>
            <a:schemeClr val="tx2"/>
          </a:solidFill>
          <a:ln/>
        </p:spPr>
      </p:sp>
      <p:sp>
        <p:nvSpPr>
          <p:cNvPr id="7" name="text5"/>
          <p:cNvSpPr txBox="1"/>
          <p:nvPr/>
        </p:nvSpPr>
        <p:spPr>
          <a:xfrm>
            <a:off x="82296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Metodologiya</a:t>
            </a:r>
            <a:endParaRPr lang="en-US" sz="2200" dirty="0"/>
          </a:p>
        </p:txBody>
      </p:sp>
      <p:sp>
        <p:nvSpPr>
          <p:cNvPr id="8" name="text6"/>
          <p:cNvSpPr txBox="1"/>
          <p:nvPr/>
        </p:nvSpPr>
        <p:spPr>
          <a:xfrm>
            <a:off x="82296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Təşkilat: </a:t>
            </a:r>
            <a:r>
              <a:rPr lang="en-US" sz="1600" dirty="0">
                <a:solidFill>
                  <a:schemeClr val="bg1"/>
                </a:solidFill>
              </a:rPr>
              <a:t>UNEC.</a:t>
            </a:r>
            <a:endParaRPr lang="en-US" sz="1600" dirty="0"/>
          </a:p>
        </p:txBody>
      </p:sp>
      <p:sp>
        <p:nvSpPr>
          <p:cNvPr id="9" name="text7"/>
          <p:cNvSpPr txBox="1"/>
          <p:nvPr/>
        </p:nvSpPr>
        <p:spPr>
          <a:xfrm>
            <a:off x="82296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/>
                </a:solidFill>
              </a:rPr>
              <a:t>MƏNBƏLƏR</a:t>
            </a:r>
            <a:endParaRPr lang="en-US" sz="1200" dirty="0"/>
          </a:p>
        </p:txBody>
      </p:sp>
      <p:sp>
        <p:nvSpPr>
          <p:cNvPr id="10" name="shape8"/>
          <p:cNvSpPr/>
          <p:nvPr/>
        </p:nvSpPr>
        <p:spPr>
          <a:xfrm>
            <a:off x="822960" y="2788920"/>
            <a:ext cx="365760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1" name="text9"/>
          <p:cNvSpPr txBox="1"/>
          <p:nvPr/>
        </p:nvSpPr>
        <p:spPr>
          <a:xfrm>
            <a:off x="82296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gündəlik müşahidə</a:t>
            </a:r>
            <a:endParaRPr lang="en-US" sz="1400" dirty="0"/>
          </a:p>
        </p:txBody>
      </p:sp>
      <p:sp>
        <p:nvSpPr>
          <p:cNvPr id="12" name="shape10"/>
          <p:cNvSpPr/>
          <p:nvPr/>
        </p:nvSpPr>
        <p:spPr>
          <a:xfrm>
            <a:off x="822960" y="3291840"/>
            <a:ext cx="365760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3" name="text11"/>
          <p:cNvSpPr txBox="1"/>
          <p:nvPr/>
        </p:nvSpPr>
        <p:spPr>
          <a:xfrm>
            <a:off x="82296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bir real hadisə</a:t>
            </a:r>
            <a:endParaRPr lang="en-US" sz="1400" dirty="0"/>
          </a:p>
        </p:txBody>
      </p:sp>
      <p:sp>
        <p:nvSpPr>
          <p:cNvPr id="14" name="shape12"/>
          <p:cNvSpPr/>
          <p:nvPr/>
        </p:nvSpPr>
        <p:spPr>
          <a:xfrm>
            <a:off x="822960" y="3794760"/>
            <a:ext cx="365760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5" name="text13"/>
          <p:cNvSpPr txBox="1"/>
          <p:nvPr/>
        </p:nvSpPr>
        <p:spPr>
          <a:xfrm>
            <a:off x="82296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açıq qaydalar</a:t>
            </a:r>
            <a:endParaRPr lang="en-US" sz="1400" dirty="0"/>
          </a:p>
        </p:txBody>
      </p:sp>
      <p:sp>
        <p:nvSpPr>
          <p:cNvPr id="16" name="shape14"/>
          <p:cNvSpPr/>
          <p:nvPr/>
        </p:nvSpPr>
        <p:spPr>
          <a:xfrm>
            <a:off x="822960" y="4480560"/>
            <a:ext cx="3657600" cy="160020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/>
        </p:spPr>
      </p:sp>
      <p:sp>
        <p:nvSpPr>
          <p:cNvPr id="17" name="text15"/>
          <p:cNvSpPr txBox="1"/>
          <p:nvPr/>
        </p:nvSpPr>
        <p:spPr>
          <a:xfrm>
            <a:off x="1005840" y="448056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Hüquqi qeyd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Heç bir sistemə giriş cəhdi, skan və ya sınaq aparılmayıb, çünki icazəsiz sınaq hüquq pozuntusudur.</a:t>
            </a:r>
            <a:endParaRPr lang="en-US" sz="1400" dirty="0"/>
          </a:p>
        </p:txBody>
      </p:sp>
      <p:sp>
        <p:nvSpPr>
          <p:cNvPr id="18" name="text16"/>
          <p:cNvSpPr txBox="1"/>
          <p:nvPr/>
        </p:nvSpPr>
        <p:spPr>
          <a:xfrm>
            <a:off x="4983480" y="1280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SAHƏ</a:t>
            </a:r>
            <a:endParaRPr lang="en-US" sz="1200" dirty="0"/>
          </a:p>
        </p:txBody>
      </p:sp>
      <p:sp>
        <p:nvSpPr>
          <p:cNvPr id="19" name="text17"/>
          <p:cNvSpPr txBox="1"/>
          <p:nvPr/>
        </p:nvSpPr>
        <p:spPr>
          <a:xfrm>
            <a:off x="640080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MÖVCUD TƏDBİR</a:t>
            </a:r>
            <a:endParaRPr lang="en-US" sz="1200" dirty="0"/>
          </a:p>
        </p:txBody>
      </p:sp>
      <p:sp>
        <p:nvSpPr>
          <p:cNvPr id="20" name="text18"/>
          <p:cNvSpPr txBox="1"/>
          <p:nvPr/>
        </p:nvSpPr>
        <p:spPr>
          <a:xfrm>
            <a:off x="88696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MÜŞAHİDƏ</a:t>
            </a:r>
            <a:endParaRPr lang="en-US" sz="1200" dirty="0"/>
          </a:p>
        </p:txBody>
      </p:sp>
      <p:sp>
        <p:nvSpPr>
          <p:cNvPr id="21" name="shape19"/>
          <p:cNvSpPr/>
          <p:nvPr/>
        </p:nvSpPr>
        <p:spPr>
          <a:xfrm>
            <a:off x="4983480" y="1645920"/>
            <a:ext cx="132588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/>
        </p:spPr>
      </p:sp>
      <p:sp>
        <p:nvSpPr>
          <p:cNvPr id="22" name="text20"/>
          <p:cNvSpPr txBox="1"/>
          <p:nvPr/>
        </p:nvSpPr>
        <p:spPr>
          <a:xfrm>
            <a:off x="4983480" y="16459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Fiziki</a:t>
            </a:r>
            <a:endParaRPr lang="en-US" sz="1500" dirty="0"/>
          </a:p>
        </p:txBody>
      </p:sp>
      <p:sp>
        <p:nvSpPr>
          <p:cNvPr id="23" name="shape21"/>
          <p:cNvSpPr/>
          <p:nvPr/>
        </p:nvSpPr>
        <p:spPr>
          <a:xfrm>
            <a:off x="6400800" y="164592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4" name="text22"/>
          <p:cNvSpPr txBox="1"/>
          <p:nvPr/>
        </p:nvSpPr>
        <p:spPr>
          <a:xfrm>
            <a:off x="653796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kartla giriş, giriş nəzarətçisi</a:t>
            </a:r>
            <a:endParaRPr lang="en-US" sz="1400" dirty="0"/>
          </a:p>
        </p:txBody>
      </p:sp>
      <p:sp>
        <p:nvSpPr>
          <p:cNvPr id="25" name="text23"/>
          <p:cNvSpPr txBox="1"/>
          <p:nvPr/>
        </p:nvSpPr>
        <p:spPr>
          <a:xfrm>
            <a:off x="8503920" y="164592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24"/>
          <p:cNvSpPr/>
          <p:nvPr/>
        </p:nvSpPr>
        <p:spPr>
          <a:xfrm>
            <a:off x="8869680" y="1645920"/>
            <a:ext cx="277063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7" name="text25"/>
          <p:cNvSpPr txBox="1"/>
          <p:nvPr/>
        </p:nvSpPr>
        <p:spPr>
          <a:xfrm>
            <a:off x="9006840" y="1645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kartsız keçid mümkün olub</a:t>
            </a:r>
            <a:endParaRPr lang="en-US" sz="1400" dirty="0"/>
          </a:p>
        </p:txBody>
      </p:sp>
      <p:sp>
        <p:nvSpPr>
          <p:cNvPr id="28" name="shape26"/>
          <p:cNvSpPr/>
          <p:nvPr/>
        </p:nvSpPr>
        <p:spPr>
          <a:xfrm>
            <a:off x="4983480" y="2743200"/>
            <a:ext cx="1325880" cy="1005840"/>
          </a:xfrm>
          <a:prstGeom prst="roundRect">
            <a:avLst>
              <a:gd name="adj" fmla="val 9091"/>
            </a:avLst>
          </a:prstGeom>
          <a:solidFill>
            <a:schemeClr val="accent4"/>
          </a:solidFill>
          <a:ln/>
        </p:spPr>
      </p:sp>
      <p:sp>
        <p:nvSpPr>
          <p:cNvPr id="29" name="text27"/>
          <p:cNvSpPr txBox="1"/>
          <p:nvPr/>
        </p:nvSpPr>
        <p:spPr>
          <a:xfrm>
            <a:off x="4983480" y="27432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İnformasiya</a:t>
            </a:r>
            <a:endParaRPr lang="en-US" sz="1500" dirty="0"/>
          </a:p>
        </p:txBody>
      </p:sp>
      <p:sp>
        <p:nvSpPr>
          <p:cNvPr id="30" name="shape28"/>
          <p:cNvSpPr/>
          <p:nvPr/>
        </p:nvSpPr>
        <p:spPr>
          <a:xfrm>
            <a:off x="6400800" y="274320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31" name="text29"/>
          <p:cNvSpPr txBox="1"/>
          <p:nvPr/>
        </p:nvSpPr>
        <p:spPr>
          <a:xfrm>
            <a:off x="653796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giriş qaydası</a:t>
            </a:r>
            <a:endParaRPr lang="en-US" sz="1400" dirty="0"/>
          </a:p>
        </p:txBody>
      </p:sp>
      <p:sp>
        <p:nvSpPr>
          <p:cNvPr id="32" name="text30"/>
          <p:cNvSpPr txBox="1"/>
          <p:nvPr/>
        </p:nvSpPr>
        <p:spPr>
          <a:xfrm>
            <a:off x="8503920" y="27432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31"/>
          <p:cNvSpPr/>
          <p:nvPr/>
        </p:nvSpPr>
        <p:spPr>
          <a:xfrm>
            <a:off x="8869680" y="2743200"/>
            <a:ext cx="277063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34" name="text32"/>
          <p:cNvSpPr txBox="1"/>
          <p:nvPr/>
        </p:nvSpPr>
        <p:spPr>
          <a:xfrm>
            <a:off x="9006840" y="27432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iştirakçı və qonaq üçün ayrıca yoxlama mexanizmi müşahidə edilməyib</a:t>
            </a:r>
            <a:endParaRPr lang="en-US" sz="1400" dirty="0"/>
          </a:p>
        </p:txBody>
      </p:sp>
      <p:sp>
        <p:nvSpPr>
          <p:cNvPr id="35" name="shape33"/>
          <p:cNvSpPr/>
          <p:nvPr/>
        </p:nvSpPr>
        <p:spPr>
          <a:xfrm>
            <a:off x="4983480" y="3840480"/>
            <a:ext cx="132588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36" name="text34"/>
          <p:cNvSpPr txBox="1"/>
          <p:nvPr/>
        </p:nvSpPr>
        <p:spPr>
          <a:xfrm>
            <a:off x="4983480" y="38404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Kiber</a:t>
            </a:r>
            <a:endParaRPr lang="en-US" sz="1500" dirty="0"/>
          </a:p>
        </p:txBody>
      </p:sp>
      <p:sp>
        <p:nvSpPr>
          <p:cNvPr id="37" name="shape35"/>
          <p:cNvSpPr/>
          <p:nvPr/>
        </p:nvSpPr>
        <p:spPr>
          <a:xfrm>
            <a:off x="6400800" y="384048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38" name="text36"/>
          <p:cNvSpPr txBox="1"/>
          <p:nvPr/>
        </p:nvSpPr>
        <p:spPr>
          <a:xfrm>
            <a:off x="6537960" y="3840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hesab və parol</a:t>
            </a:r>
            <a:endParaRPr lang="en-US" sz="1400" dirty="0"/>
          </a:p>
        </p:txBody>
      </p:sp>
      <p:sp>
        <p:nvSpPr>
          <p:cNvPr id="39" name="text37"/>
          <p:cNvSpPr txBox="1"/>
          <p:nvPr/>
        </p:nvSpPr>
        <p:spPr>
          <a:xfrm>
            <a:off x="8503920" y="38404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40" name="shape38"/>
          <p:cNvSpPr/>
          <p:nvPr/>
        </p:nvSpPr>
        <p:spPr>
          <a:xfrm>
            <a:off x="8869680" y="3840480"/>
            <a:ext cx="277063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1" name="text39"/>
          <p:cNvSpPr txBox="1"/>
          <p:nvPr/>
        </p:nvSpPr>
        <p:spPr>
          <a:xfrm>
            <a:off x="9006840" y="38404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çoxfaktorlu autentifikasiya yoxdur</a:t>
            </a:r>
            <a:endParaRPr lang="en-US" sz="1400" dirty="0"/>
          </a:p>
        </p:txBody>
      </p:sp>
      <p:sp>
        <p:nvSpPr>
          <p:cNvPr id="42" name="shape40"/>
          <p:cNvSpPr/>
          <p:nvPr/>
        </p:nvSpPr>
        <p:spPr>
          <a:xfrm>
            <a:off x="4983480" y="5029200"/>
            <a:ext cx="6656832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43" name="text41"/>
          <p:cNvSpPr txBox="1"/>
          <p:nvPr/>
        </p:nvSpPr>
        <p:spPr>
          <a:xfrm>
            <a:off x="5212080" y="50292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Güclü tərəflər: </a:t>
            </a:r>
            <a:r>
              <a:rPr lang="en-US" sz="1500" dirty="0">
                <a:solidFill>
                  <a:schemeClr val="bg1"/>
                </a:solidFill>
              </a:rPr>
              <a:t>binaya giriş tələbə kartı ilə, hesablar parolla qorunur.</a:t>
            </a:r>
            <a:endParaRPr lang="en-US" sz="1500" dirty="0"/>
          </a:p>
        </p:txBody>
      </p:sp>
      <p:sp>
        <p:nvSpPr>
          <p:cNvPr id="44" name="text42"/>
          <p:cNvSpPr txBox="1"/>
          <p:nvPr/>
        </p:nvSpPr>
        <p:spPr>
          <a:xfrm>
            <a:off x="4983480" y="5852160"/>
            <a:ext cx="6656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Daxili siyasətlər və təlimlər “qiymətləndirilməyib” kimi qeyd olunur.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Boşluq 1, yalnız parolla giriş</a:t>
            </a:r>
            <a:endParaRPr lang="en-US" sz="3200" dirty="0"/>
          </a:p>
        </p:txBody>
      </p:sp>
      <p:sp>
        <p:nvSpPr>
          <p:cNvPr id="3" name="text4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25</a:t>
            </a:r>
            <a:endParaRPr lang="en-US" sz="1000" dirty="0"/>
          </a:p>
        </p:txBody>
      </p:sp>
      <p:sp>
        <p:nvSpPr>
          <p:cNvPr id="4" name="shape44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45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 HİSSƏ: UNEC-DƏ TƏHLÜKƏSİZLİK TƏHLİLİ</a:t>
            </a:r>
            <a:endParaRPr lang="en-US" sz="1200" dirty="0"/>
          </a:p>
        </p:txBody>
      </p:sp>
      <p:sp>
        <p:nvSpPr>
          <p:cNvPr id="6" name="shape46"/>
          <p:cNvSpPr/>
          <p:nvPr/>
        </p:nvSpPr>
        <p:spPr>
          <a:xfrm>
            <a:off x="548640" y="1280160"/>
            <a:ext cx="2743200" cy="429768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7" name="text47"/>
          <p:cNvSpPr txBox="1"/>
          <p:nvPr/>
        </p:nvSpPr>
        <p:spPr>
          <a:xfrm>
            <a:off x="548640" y="13716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chemeClr val="accent2"/>
                </a:solidFill>
              </a:rPr>
              <a:t>1</a:t>
            </a:r>
            <a:endParaRPr lang="en-US" sz="13000" dirty="0"/>
          </a:p>
        </p:txBody>
      </p:sp>
      <p:sp>
        <p:nvSpPr>
          <p:cNvPr id="8" name="text48"/>
          <p:cNvSpPr txBox="1"/>
          <p:nvPr/>
        </p:nvSpPr>
        <p:spPr>
          <a:xfrm>
            <a:off x="5486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/>
                </a:solidFill>
              </a:rPr>
              <a:t>BOŞLUQ</a:t>
            </a:r>
            <a:endParaRPr lang="en-US" sz="1200" dirty="0"/>
          </a:p>
        </p:txBody>
      </p:sp>
      <p:sp>
        <p:nvSpPr>
          <p:cNvPr id="9" name="text49"/>
          <p:cNvSpPr txBox="1"/>
          <p:nvPr/>
        </p:nvSpPr>
        <p:spPr>
          <a:xfrm>
            <a:off x="777240" y="39319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Yalnız parolla giriş</a:t>
            </a:r>
            <a:endParaRPr lang="en-US" sz="2200" dirty="0"/>
          </a:p>
        </p:txBody>
      </p:sp>
      <p:sp>
        <p:nvSpPr>
          <p:cNvPr id="10" name="shape50"/>
          <p:cNvSpPr/>
          <p:nvPr/>
        </p:nvSpPr>
        <p:spPr>
          <a:xfrm>
            <a:off x="3520440" y="1280160"/>
            <a:ext cx="429768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/>
        </p:spPr>
      </p:sp>
      <p:sp>
        <p:nvSpPr>
          <p:cNvPr id="11" name="text51"/>
          <p:cNvSpPr txBox="1"/>
          <p:nvPr/>
        </p:nvSpPr>
        <p:spPr>
          <a:xfrm>
            <a:off x="37490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Risk niyə var?</a:t>
            </a:r>
            <a:endParaRPr lang="en-US" sz="2000" dirty="0"/>
          </a:p>
        </p:txBody>
      </p:sp>
      <p:sp>
        <p:nvSpPr>
          <p:cNvPr id="12" name="text52"/>
          <p:cNvSpPr txBox="1"/>
          <p:nvPr/>
        </p:nvSpPr>
        <p:spPr>
          <a:xfrm>
            <a:off x="3749040" y="187452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Portalda “Məni sistemdə saxla” seçimi yoxdur və hər dəfə parol yazılır. Bu özlüyündə düzgündür, çünki qısa sessiya riski azaldır. Əsl boşluq MFA-nın olmamasıdır.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Parol fişinqlə ələ keçirilə, başqa saytdan sızmış parolla yoxlana və ya təkrar istifadə oluna bilər. Colonial Pipeline göstərir ki, MFA-sız tək hesab böyük sistemə giriş nöqtəsi ola bilər.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Pozulan xassə: </a:t>
            </a:r>
            <a:r>
              <a:rPr lang="en-US" sz="1400" dirty="0">
                <a:solidFill>
                  <a:schemeClr val="tx1"/>
                </a:solidFill>
              </a:rPr>
              <a:t>konfidensiallıq, hesabda şəxsi məlumat varsa, bütövlük də.</a:t>
            </a:r>
            <a:endParaRPr lang="en-US" sz="1400" dirty="0"/>
          </a:p>
        </p:txBody>
      </p:sp>
      <p:sp>
        <p:nvSpPr>
          <p:cNvPr id="13" name="shape53"/>
          <p:cNvSpPr/>
          <p:nvPr/>
        </p:nvSpPr>
        <p:spPr>
          <a:xfrm>
            <a:off x="8046720" y="1280160"/>
            <a:ext cx="3593592" cy="429768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/>
        </p:spPr>
      </p:sp>
      <p:sp>
        <p:nvSpPr>
          <p:cNvPr id="14" name="text54"/>
          <p:cNvSpPr txBox="1"/>
          <p:nvPr/>
        </p:nvSpPr>
        <p:spPr>
          <a:xfrm>
            <a:off x="827532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Təklif</a:t>
            </a:r>
            <a:endParaRPr lang="en-US" sz="2000" dirty="0"/>
          </a:p>
        </p:txBody>
      </p:sp>
      <p:sp>
        <p:nvSpPr>
          <p:cNvPr id="15" name="shape55"/>
          <p:cNvSpPr/>
          <p:nvPr/>
        </p:nvSpPr>
        <p:spPr>
          <a:xfrm>
            <a:off x="8275320" y="20116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56"/>
          <p:cNvSpPr txBox="1"/>
          <p:nvPr/>
        </p:nvSpPr>
        <p:spPr>
          <a:xfrm>
            <a:off x="82753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7" name="text57"/>
          <p:cNvSpPr txBox="1"/>
          <p:nvPr/>
        </p:nvSpPr>
        <p:spPr>
          <a:xfrm>
            <a:off x="8915400" y="19659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MFA (TOTP tətbiqi və ya push təsdiq)</a:t>
            </a:r>
            <a:endParaRPr lang="en-US" sz="1400" dirty="0"/>
          </a:p>
        </p:txBody>
      </p:sp>
      <p:sp>
        <p:nvSpPr>
          <p:cNvPr id="18" name="shape58"/>
          <p:cNvSpPr/>
          <p:nvPr/>
        </p:nvSpPr>
        <p:spPr>
          <a:xfrm>
            <a:off x="827532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59"/>
          <p:cNvSpPr txBox="1"/>
          <p:nvPr/>
        </p:nvSpPr>
        <p:spPr>
          <a:xfrm>
            <a:off x="82753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60"/>
          <p:cNvSpPr txBox="1"/>
          <p:nvPr/>
        </p:nvSpPr>
        <p:spPr>
          <a:xfrm>
            <a:off x="8915400" y="31546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“Bu cihazı müəyyən müddətə xatırla” seçimi</a:t>
            </a:r>
            <a:endParaRPr lang="en-US" sz="1400" dirty="0"/>
          </a:p>
        </p:txBody>
      </p:sp>
      <p:sp>
        <p:nvSpPr>
          <p:cNvPr id="21" name="shape61"/>
          <p:cNvSpPr/>
          <p:nvPr/>
        </p:nvSpPr>
        <p:spPr>
          <a:xfrm>
            <a:off x="8275320" y="438912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2" name="text62"/>
          <p:cNvSpPr txBox="1"/>
          <p:nvPr/>
        </p:nvSpPr>
        <p:spPr>
          <a:xfrm>
            <a:off x="82753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63"/>
          <p:cNvSpPr txBox="1"/>
          <p:nvPr/>
        </p:nvSpPr>
        <p:spPr>
          <a:xfrm>
            <a:off x="8915400" y="43434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Əvvəlcə əməkdaş və inzibati hesablar üçün, sonra tələbələr üçün</a:t>
            </a:r>
            <a:endParaRPr lang="en-US" sz="1400" dirty="0"/>
          </a:p>
        </p:txBody>
      </p:sp>
      <p:sp>
        <p:nvSpPr>
          <p:cNvPr id="24" name="shape64"/>
          <p:cNvSpPr/>
          <p:nvPr/>
        </p:nvSpPr>
        <p:spPr>
          <a:xfrm>
            <a:off x="548640" y="5760720"/>
            <a:ext cx="11091672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25" name="text65"/>
          <p:cNvSpPr txBox="1"/>
          <p:nvPr/>
        </p:nvSpPr>
        <p:spPr>
          <a:xfrm>
            <a:off x="548640" y="57607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Rahatlıq və təhlükəsizlik ziddiyyət təşkil etmir.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Boşluq 2, giriş nəzarətinin dövrədən çıxması</a:t>
            </a:r>
            <a:endParaRPr lang="en-US" sz="3200" dirty="0"/>
          </a:p>
        </p:txBody>
      </p:sp>
      <p:sp>
        <p:nvSpPr>
          <p:cNvPr id="3" name="text6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26</a:t>
            </a:r>
            <a:endParaRPr lang="en-US" sz="1000" dirty="0"/>
          </a:p>
        </p:txBody>
      </p:sp>
      <p:sp>
        <p:nvSpPr>
          <p:cNvPr id="4" name="shape67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68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 HİSSƏ: UNEC-DƏ TƏHLÜKƏSİZLİK TƏHLİLİ</a:t>
            </a:r>
            <a:endParaRPr lang="en-US" sz="1200" dirty="0"/>
          </a:p>
        </p:txBody>
      </p:sp>
      <p:sp>
        <p:nvSpPr>
          <p:cNvPr id="6" name="text69"/>
          <p:cNvSpPr txBox="1"/>
          <p:nvPr/>
        </p:nvSpPr>
        <p:spPr>
          <a:xfrm>
            <a:off x="548640" y="12801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Bir infosec tədbiri zamanı iştirakçı nəzarətçiyə “əlim doludur, keçməyə kömək edin” dedi və özünün tələbə olduğuna inandırdı. Qanuni giriş hüququ var idi, lakin kart oxutmadı və nəzarətçi kimliyi yoxlamadı.</a:t>
            </a:r>
            <a:endParaRPr lang="en-US" sz="1400" dirty="0"/>
          </a:p>
        </p:txBody>
      </p:sp>
      <p:sp>
        <p:nvSpPr>
          <p:cNvPr id="7" name="shape70"/>
          <p:cNvSpPr/>
          <p:nvPr/>
        </p:nvSpPr>
        <p:spPr>
          <a:xfrm>
            <a:off x="548640" y="2697480"/>
            <a:ext cx="1554480" cy="182880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8" name="shape71"/>
          <p:cNvSpPr/>
          <p:nvPr/>
        </p:nvSpPr>
        <p:spPr>
          <a:xfrm>
            <a:off x="960120" y="288036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pn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63240"/>
            <a:ext cx="365760" cy="365760"/>
          </a:xfrm>
          <a:prstGeom prst="rect">
            <a:avLst/>
          </a:prstGeom>
        </p:spPr>
      </p:pic>
      <p:sp>
        <p:nvSpPr>
          <p:cNvPr id="10" name="text72"/>
          <p:cNvSpPr txBox="1"/>
          <p:nvPr/>
        </p:nvSpPr>
        <p:spPr>
          <a:xfrm>
            <a:off x="640080" y="3749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İştirakçı</a:t>
            </a:r>
            <a:endParaRPr lang="en-US" sz="1400" dirty="0"/>
          </a:p>
        </p:txBody>
      </p:sp>
      <p:sp>
        <p:nvSpPr>
          <p:cNvPr id="11" name="text73"/>
          <p:cNvSpPr txBox="1"/>
          <p:nvPr/>
        </p:nvSpPr>
        <p:spPr>
          <a:xfrm>
            <a:off x="64008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ca0"/>
          <p:cNvSpPr/>
          <p:nvPr/>
        </p:nvSpPr>
        <p:spPr>
          <a:xfrm>
            <a:off x="2157984" y="3474720"/>
            <a:ext cx="210312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3" name="shape74"/>
          <p:cNvSpPr/>
          <p:nvPr/>
        </p:nvSpPr>
        <p:spPr>
          <a:xfrm>
            <a:off x="2423160" y="2697480"/>
            <a:ext cx="1554480" cy="182880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shape75"/>
          <p:cNvSpPr/>
          <p:nvPr/>
        </p:nvSpPr>
        <p:spPr>
          <a:xfrm>
            <a:off x="2834640" y="28803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pn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063240"/>
            <a:ext cx="365760" cy="365760"/>
          </a:xfrm>
          <a:prstGeom prst="rect">
            <a:avLst/>
          </a:prstGeom>
        </p:spPr>
      </p:pic>
      <p:sp>
        <p:nvSpPr>
          <p:cNvPr id="16" name="text76"/>
          <p:cNvSpPr txBox="1"/>
          <p:nvPr/>
        </p:nvSpPr>
        <p:spPr>
          <a:xfrm>
            <a:off x="2514600" y="3749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“Əlim doludur”</a:t>
            </a:r>
            <a:endParaRPr lang="en-US" sz="1400" dirty="0"/>
          </a:p>
        </p:txBody>
      </p:sp>
      <p:sp>
        <p:nvSpPr>
          <p:cNvPr id="17" name="text77"/>
          <p:cNvSpPr txBox="1"/>
          <p:nvPr/>
        </p:nvSpPr>
        <p:spPr>
          <a:xfrm>
            <a:off x="251460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ca1"/>
          <p:cNvSpPr/>
          <p:nvPr/>
        </p:nvSpPr>
        <p:spPr>
          <a:xfrm>
            <a:off x="4032504" y="3474720"/>
            <a:ext cx="210312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9" name="shape78"/>
          <p:cNvSpPr/>
          <p:nvPr/>
        </p:nvSpPr>
        <p:spPr>
          <a:xfrm>
            <a:off x="4297680" y="2697480"/>
            <a:ext cx="1554480" cy="182880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0" name="shape79"/>
          <p:cNvSpPr/>
          <p:nvPr/>
        </p:nvSpPr>
        <p:spPr>
          <a:xfrm>
            <a:off x="4709160" y="28803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pn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063240"/>
            <a:ext cx="365760" cy="365760"/>
          </a:xfrm>
          <a:prstGeom prst="rect">
            <a:avLst/>
          </a:prstGeom>
        </p:spPr>
      </p:pic>
      <p:sp>
        <p:nvSpPr>
          <p:cNvPr id="22" name="text80"/>
          <p:cNvSpPr txBox="1"/>
          <p:nvPr/>
        </p:nvSpPr>
        <p:spPr>
          <a:xfrm>
            <a:off x="4389120" y="3749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Nəzarətçi buraxır</a:t>
            </a:r>
            <a:endParaRPr lang="en-US" sz="1400" dirty="0"/>
          </a:p>
        </p:txBody>
      </p:sp>
      <p:sp>
        <p:nvSpPr>
          <p:cNvPr id="23" name="text81"/>
          <p:cNvSpPr txBox="1"/>
          <p:nvPr/>
        </p:nvSpPr>
        <p:spPr>
          <a:xfrm>
            <a:off x="438912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shape82"/>
          <p:cNvSpPr/>
          <p:nvPr/>
        </p:nvSpPr>
        <p:spPr>
          <a:xfrm>
            <a:off x="548640" y="4709160"/>
            <a:ext cx="530352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25" name="text83"/>
          <p:cNvSpPr txBox="1"/>
          <p:nvPr/>
        </p:nvSpPr>
        <p:spPr>
          <a:xfrm>
            <a:off x="731520" y="4709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Pozulan xassələr: </a:t>
            </a:r>
            <a:r>
              <a:rPr lang="en-US" sz="1400" dirty="0">
                <a:solidFill>
                  <a:schemeClr val="tx1"/>
                </a:solidFill>
              </a:rPr>
              <a:t>fiziki konfidensiallıq, potensial olaraq əlçatanlıq (avadanlığın oğurlanması).</a:t>
            </a:r>
            <a:endParaRPr lang="en-US" sz="1400" dirty="0"/>
          </a:p>
        </p:txBody>
      </p:sp>
      <p:sp>
        <p:nvSpPr>
          <p:cNvPr id="26" name="shape84"/>
          <p:cNvSpPr/>
          <p:nvPr/>
        </p:nvSpPr>
        <p:spPr>
          <a:xfrm>
            <a:off x="6126480" y="1280160"/>
            <a:ext cx="551383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27" name="shape85"/>
          <p:cNvSpPr/>
          <p:nvPr/>
        </p:nvSpPr>
        <p:spPr>
          <a:xfrm>
            <a:off x="6309360" y="1463040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8" name="text86"/>
          <p:cNvSpPr txBox="1"/>
          <p:nvPr/>
        </p:nvSpPr>
        <p:spPr>
          <a:xfrm>
            <a:off x="6629400" y="1371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 Qayda insan davranışı ilə pozuldu.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Rəsmi qaydalar qeyri-rəsmi təcrübə ilə dəstəklənmədikdə effektsiz qalır. Burada qeyri-rəsmi təcrübə nəzakət idi.</a:t>
            </a:r>
            <a:endParaRPr lang="en-US" sz="1400" dirty="0"/>
          </a:p>
        </p:txBody>
      </p:sp>
      <p:sp>
        <p:nvSpPr>
          <p:cNvPr id="29" name="shape87"/>
          <p:cNvSpPr/>
          <p:nvPr/>
        </p:nvSpPr>
        <p:spPr>
          <a:xfrm>
            <a:off x="6126480" y="2651760"/>
            <a:ext cx="551383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30" name="shape88"/>
          <p:cNvSpPr/>
          <p:nvPr/>
        </p:nvSpPr>
        <p:spPr>
          <a:xfrm>
            <a:off x="6309360" y="2834640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89"/>
          <p:cNvSpPr txBox="1"/>
          <p:nvPr/>
        </p:nvSpPr>
        <p:spPr>
          <a:xfrm>
            <a:off x="6629400" y="2743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 Klassik sosial mühəndislik.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Twitter (2020) kimi: hücumçu texniki sistemi yox, insanı aldatdı.</a:t>
            </a:r>
            <a:endParaRPr lang="en-US" sz="1400" dirty="0"/>
          </a:p>
        </p:txBody>
      </p:sp>
      <p:sp>
        <p:nvSpPr>
          <p:cNvPr id="32" name="shape90"/>
          <p:cNvSpPr/>
          <p:nvPr/>
        </p:nvSpPr>
        <p:spPr>
          <a:xfrm>
            <a:off x="6126480" y="4023360"/>
            <a:ext cx="551383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33" name="shape91"/>
          <p:cNvSpPr/>
          <p:nvPr/>
        </p:nvSpPr>
        <p:spPr>
          <a:xfrm>
            <a:off x="6309360" y="420624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text92"/>
          <p:cNvSpPr txBox="1"/>
          <p:nvPr/>
        </p:nvSpPr>
        <p:spPr>
          <a:xfrm>
            <a:off x="6629400" y="4114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 Nəticə zərərsiz oldu, lakin təsadüfən.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Eyni cümləni kənar şəxs deyərdi, nəzarət eyni şəkildə keçilərdi.</a:t>
            </a:r>
            <a:endParaRPr lang="en-US" sz="1400" dirty="0"/>
          </a:p>
        </p:txBody>
      </p:sp>
      <p:sp>
        <p:nvSpPr>
          <p:cNvPr id="35" name="shape93"/>
          <p:cNvSpPr/>
          <p:nvPr/>
        </p:nvSpPr>
        <p:spPr>
          <a:xfrm>
            <a:off x="548640" y="5623560"/>
            <a:ext cx="5431536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36" name="shape94"/>
          <p:cNvSpPr/>
          <p:nvPr/>
        </p:nvSpPr>
        <p:spPr>
          <a:xfrm>
            <a:off x="6208776" y="5623560"/>
            <a:ext cx="5431536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37" name="text95"/>
          <p:cNvSpPr txBox="1"/>
          <p:nvPr/>
        </p:nvSpPr>
        <p:spPr>
          <a:xfrm>
            <a:off x="731520" y="562356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Tailgating: </a:t>
            </a:r>
            <a:r>
              <a:rPr lang="en-US" sz="1400" dirty="0">
                <a:solidFill>
                  <a:schemeClr val="bg1"/>
                </a:solidFill>
              </a:rPr>
              <a:t>icazəli şəxsin ardınca nəzarət olunan əraziyə daxil olmaq.</a:t>
            </a:r>
            <a:endParaRPr lang="en-US" sz="1400" dirty="0"/>
          </a:p>
        </p:txBody>
      </p:sp>
      <p:sp>
        <p:nvSpPr>
          <p:cNvPr id="38" name="text96"/>
          <p:cNvSpPr txBox="1"/>
          <p:nvPr/>
        </p:nvSpPr>
        <p:spPr>
          <a:xfrm>
            <a:off x="6400800" y="562356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Pretexting: </a:t>
            </a:r>
            <a:r>
              <a:rPr lang="en-US" sz="1400" dirty="0">
                <a:solidFill>
                  <a:schemeClr val="bg1"/>
                </a:solidFill>
              </a:rPr>
              <a:t>uydurma bəhanə ilə kimisə aldatmaq.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Risk matrisi</a:t>
            </a:r>
            <a:endParaRPr lang="en-US" sz="3200" dirty="0"/>
          </a:p>
        </p:txBody>
      </p:sp>
      <p:sp>
        <p:nvSpPr>
          <p:cNvPr id="3" name="text9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27</a:t>
            </a:r>
            <a:endParaRPr lang="en-US" sz="1000" dirty="0"/>
          </a:p>
        </p:txBody>
      </p:sp>
      <p:sp>
        <p:nvSpPr>
          <p:cNvPr id="4" name="shape98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99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 HİSSƏ: UNEC-DƏ TƏHLÜKƏSİZLİK TƏHLİLİ</a:t>
            </a:r>
            <a:endParaRPr lang="en-US" sz="1200" dirty="0"/>
          </a:p>
        </p:txBody>
      </p:sp>
      <p:sp>
        <p:nvSpPr>
          <p:cNvPr id="6" name="text100"/>
          <p:cNvSpPr txBox="1"/>
          <p:nvPr/>
        </p:nvSpPr>
        <p:spPr>
          <a:xfrm>
            <a:off x="54864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Ehtimal</a:t>
            </a:r>
            <a:endParaRPr lang="en-US" sz="1300" dirty="0"/>
          </a:p>
        </p:txBody>
      </p:sp>
      <p:sp>
        <p:nvSpPr>
          <p:cNvPr id="7" name="cell101"/>
          <p:cNvSpPr/>
          <p:nvPr/>
        </p:nvSpPr>
        <p:spPr>
          <a:xfrm>
            <a:off x="1371600" y="1417320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8" name="cell102"/>
          <p:cNvSpPr/>
          <p:nvPr/>
        </p:nvSpPr>
        <p:spPr>
          <a:xfrm>
            <a:off x="2185416" y="1417320"/>
            <a:ext cx="777240" cy="777240"/>
          </a:xfrm>
          <a:prstGeom prst="rect">
            <a:avLst/>
          </a:prstGeom>
          <a:solidFill>
            <a:srgbClr val="EE8A3A"/>
          </a:solidFill>
          <a:ln/>
        </p:spPr>
      </p:sp>
      <p:sp>
        <p:nvSpPr>
          <p:cNvPr id="9" name="cell103"/>
          <p:cNvSpPr/>
          <p:nvPr/>
        </p:nvSpPr>
        <p:spPr>
          <a:xfrm>
            <a:off x="2999232" y="1417320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10" name="cell104"/>
          <p:cNvSpPr/>
          <p:nvPr/>
        </p:nvSpPr>
        <p:spPr>
          <a:xfrm>
            <a:off x="3813048" y="1417320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11" name="cell105"/>
          <p:cNvSpPr/>
          <p:nvPr/>
        </p:nvSpPr>
        <p:spPr>
          <a:xfrm>
            <a:off x="4626864" y="1417320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12" name="cell106"/>
          <p:cNvSpPr/>
          <p:nvPr/>
        </p:nvSpPr>
        <p:spPr>
          <a:xfrm>
            <a:off x="1371600" y="2231136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13" name="cell107"/>
          <p:cNvSpPr/>
          <p:nvPr/>
        </p:nvSpPr>
        <p:spPr>
          <a:xfrm>
            <a:off x="2185416" y="2231136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14" name="cell108"/>
          <p:cNvSpPr/>
          <p:nvPr/>
        </p:nvSpPr>
        <p:spPr>
          <a:xfrm>
            <a:off x="2999232" y="2231136"/>
            <a:ext cx="777240" cy="777240"/>
          </a:xfrm>
          <a:prstGeom prst="rect">
            <a:avLst/>
          </a:prstGeom>
          <a:solidFill>
            <a:srgbClr val="EE8A3A"/>
          </a:solidFill>
          <a:ln/>
        </p:spPr>
      </p:sp>
      <p:sp>
        <p:nvSpPr>
          <p:cNvPr id="15" name="cell109"/>
          <p:cNvSpPr/>
          <p:nvPr/>
        </p:nvSpPr>
        <p:spPr>
          <a:xfrm>
            <a:off x="3813048" y="2231136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16" name="cell110"/>
          <p:cNvSpPr/>
          <p:nvPr/>
        </p:nvSpPr>
        <p:spPr>
          <a:xfrm>
            <a:off x="4626864" y="2231136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17" name="cell111"/>
          <p:cNvSpPr/>
          <p:nvPr/>
        </p:nvSpPr>
        <p:spPr>
          <a:xfrm>
            <a:off x="1371600" y="3044952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18" name="cell112"/>
          <p:cNvSpPr/>
          <p:nvPr/>
        </p:nvSpPr>
        <p:spPr>
          <a:xfrm>
            <a:off x="2185416" y="3044952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19" name="cell113"/>
          <p:cNvSpPr/>
          <p:nvPr/>
        </p:nvSpPr>
        <p:spPr>
          <a:xfrm>
            <a:off x="2999232" y="3044952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20" name="cell114"/>
          <p:cNvSpPr/>
          <p:nvPr/>
        </p:nvSpPr>
        <p:spPr>
          <a:xfrm>
            <a:off x="3813048" y="3044952"/>
            <a:ext cx="777240" cy="777240"/>
          </a:xfrm>
          <a:prstGeom prst="rect">
            <a:avLst/>
          </a:prstGeom>
          <a:solidFill>
            <a:srgbClr val="EE8A3A"/>
          </a:solidFill>
          <a:ln/>
        </p:spPr>
      </p:sp>
      <p:sp>
        <p:nvSpPr>
          <p:cNvPr id="21" name="cell115"/>
          <p:cNvSpPr/>
          <p:nvPr/>
        </p:nvSpPr>
        <p:spPr>
          <a:xfrm>
            <a:off x="4626864" y="3044952"/>
            <a:ext cx="777240" cy="777240"/>
          </a:xfrm>
          <a:prstGeom prst="rect">
            <a:avLst/>
          </a:prstGeom>
          <a:solidFill>
            <a:srgbClr val="D64933"/>
          </a:solidFill>
          <a:ln/>
        </p:spPr>
      </p:sp>
      <p:sp>
        <p:nvSpPr>
          <p:cNvPr id="22" name="cell116"/>
          <p:cNvSpPr/>
          <p:nvPr/>
        </p:nvSpPr>
        <p:spPr>
          <a:xfrm>
            <a:off x="1371600" y="3858768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23" name="cell117"/>
          <p:cNvSpPr/>
          <p:nvPr/>
        </p:nvSpPr>
        <p:spPr>
          <a:xfrm>
            <a:off x="2185416" y="3858768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24" name="cell118"/>
          <p:cNvSpPr/>
          <p:nvPr/>
        </p:nvSpPr>
        <p:spPr>
          <a:xfrm>
            <a:off x="2999232" y="3858768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25" name="cell119"/>
          <p:cNvSpPr/>
          <p:nvPr/>
        </p:nvSpPr>
        <p:spPr>
          <a:xfrm>
            <a:off x="3813048" y="3858768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26" name="cell120"/>
          <p:cNvSpPr/>
          <p:nvPr/>
        </p:nvSpPr>
        <p:spPr>
          <a:xfrm>
            <a:off x="4626864" y="3858768"/>
            <a:ext cx="777240" cy="777240"/>
          </a:xfrm>
          <a:prstGeom prst="rect">
            <a:avLst/>
          </a:prstGeom>
          <a:solidFill>
            <a:srgbClr val="EE8A3A"/>
          </a:solidFill>
          <a:ln/>
        </p:spPr>
      </p:sp>
      <p:sp>
        <p:nvSpPr>
          <p:cNvPr id="27" name="cell121"/>
          <p:cNvSpPr/>
          <p:nvPr/>
        </p:nvSpPr>
        <p:spPr>
          <a:xfrm>
            <a:off x="1371600" y="4672584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28" name="cell122"/>
          <p:cNvSpPr/>
          <p:nvPr/>
        </p:nvSpPr>
        <p:spPr>
          <a:xfrm>
            <a:off x="2185416" y="4672584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29" name="cell123"/>
          <p:cNvSpPr/>
          <p:nvPr/>
        </p:nvSpPr>
        <p:spPr>
          <a:xfrm>
            <a:off x="2999232" y="4672584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30" name="cell124"/>
          <p:cNvSpPr/>
          <p:nvPr/>
        </p:nvSpPr>
        <p:spPr>
          <a:xfrm>
            <a:off x="3813048" y="4672584"/>
            <a:ext cx="777240" cy="777240"/>
          </a:xfrm>
          <a:prstGeom prst="rect">
            <a:avLst/>
          </a:prstGeom>
          <a:solidFill>
            <a:srgbClr val="8CC4A0"/>
          </a:solidFill>
          <a:ln/>
        </p:spPr>
      </p:sp>
      <p:sp>
        <p:nvSpPr>
          <p:cNvPr id="31" name="cell125"/>
          <p:cNvSpPr/>
          <p:nvPr/>
        </p:nvSpPr>
        <p:spPr>
          <a:xfrm>
            <a:off x="4626864" y="4672584"/>
            <a:ext cx="777240" cy="777240"/>
          </a:xfrm>
          <a:prstGeom prst="rect">
            <a:avLst/>
          </a:prstGeom>
          <a:solidFill>
            <a:srgbClr val="F0C75A"/>
          </a:solidFill>
          <a:ln/>
        </p:spPr>
      </p:sp>
      <p:sp>
        <p:nvSpPr>
          <p:cNvPr id="32" name="text126"/>
          <p:cNvSpPr txBox="1"/>
          <p:nvPr/>
        </p:nvSpPr>
        <p:spPr>
          <a:xfrm>
            <a:off x="960120" y="4672584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</a:t>
            </a:r>
            <a:endParaRPr lang="en-US" sz="1300" dirty="0"/>
          </a:p>
        </p:txBody>
      </p:sp>
      <p:sp>
        <p:nvSpPr>
          <p:cNvPr id="33" name="text127"/>
          <p:cNvSpPr txBox="1"/>
          <p:nvPr/>
        </p:nvSpPr>
        <p:spPr>
          <a:xfrm>
            <a:off x="1371600" y="5504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</a:t>
            </a:r>
            <a:endParaRPr lang="en-US" sz="1300" dirty="0"/>
          </a:p>
        </p:txBody>
      </p:sp>
      <p:sp>
        <p:nvSpPr>
          <p:cNvPr id="34" name="text128"/>
          <p:cNvSpPr txBox="1"/>
          <p:nvPr/>
        </p:nvSpPr>
        <p:spPr>
          <a:xfrm>
            <a:off x="960120" y="3858768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text129"/>
          <p:cNvSpPr txBox="1"/>
          <p:nvPr/>
        </p:nvSpPr>
        <p:spPr>
          <a:xfrm>
            <a:off x="2185416" y="5504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2</a:t>
            </a:r>
            <a:endParaRPr lang="en-US" sz="1300" dirty="0"/>
          </a:p>
        </p:txBody>
      </p:sp>
      <p:sp>
        <p:nvSpPr>
          <p:cNvPr id="36" name="text130"/>
          <p:cNvSpPr txBox="1"/>
          <p:nvPr/>
        </p:nvSpPr>
        <p:spPr>
          <a:xfrm>
            <a:off x="960120" y="3044952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3</a:t>
            </a:r>
            <a:endParaRPr lang="en-US" sz="1300" dirty="0"/>
          </a:p>
        </p:txBody>
      </p:sp>
      <p:sp>
        <p:nvSpPr>
          <p:cNvPr id="37" name="text131"/>
          <p:cNvSpPr txBox="1"/>
          <p:nvPr/>
        </p:nvSpPr>
        <p:spPr>
          <a:xfrm>
            <a:off x="2999232" y="5504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3</a:t>
            </a:r>
            <a:endParaRPr lang="en-US" sz="1300" dirty="0"/>
          </a:p>
        </p:txBody>
      </p:sp>
      <p:sp>
        <p:nvSpPr>
          <p:cNvPr id="38" name="text132"/>
          <p:cNvSpPr txBox="1"/>
          <p:nvPr/>
        </p:nvSpPr>
        <p:spPr>
          <a:xfrm>
            <a:off x="960120" y="2231136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4</a:t>
            </a:r>
            <a:endParaRPr lang="en-US" sz="1300" dirty="0"/>
          </a:p>
        </p:txBody>
      </p:sp>
      <p:sp>
        <p:nvSpPr>
          <p:cNvPr id="39" name="text133"/>
          <p:cNvSpPr txBox="1"/>
          <p:nvPr/>
        </p:nvSpPr>
        <p:spPr>
          <a:xfrm>
            <a:off x="3813048" y="5504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4</a:t>
            </a:r>
            <a:endParaRPr lang="en-US" sz="1300" dirty="0"/>
          </a:p>
        </p:txBody>
      </p:sp>
      <p:sp>
        <p:nvSpPr>
          <p:cNvPr id="40" name="text134"/>
          <p:cNvSpPr txBox="1"/>
          <p:nvPr/>
        </p:nvSpPr>
        <p:spPr>
          <a:xfrm>
            <a:off x="960120" y="14173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135"/>
          <p:cNvSpPr txBox="1"/>
          <p:nvPr/>
        </p:nvSpPr>
        <p:spPr>
          <a:xfrm>
            <a:off x="4626864" y="5504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5</a:t>
            </a:r>
            <a:endParaRPr lang="en-US" sz="1300" dirty="0"/>
          </a:p>
        </p:txBody>
      </p:sp>
      <p:sp>
        <p:nvSpPr>
          <p:cNvPr id="42" name="text136"/>
          <p:cNvSpPr txBox="1"/>
          <p:nvPr/>
        </p:nvSpPr>
        <p:spPr>
          <a:xfrm>
            <a:off x="1371600" y="5852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Təsir</a:t>
            </a:r>
            <a:endParaRPr lang="en-US" sz="1300" dirty="0"/>
          </a:p>
        </p:txBody>
      </p:sp>
      <p:sp>
        <p:nvSpPr>
          <p:cNvPr id="43" name="shape137"/>
          <p:cNvSpPr/>
          <p:nvPr/>
        </p:nvSpPr>
        <p:spPr>
          <a:xfrm>
            <a:off x="3214116" y="2437638"/>
            <a:ext cx="347472" cy="347472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44" name="text138"/>
          <p:cNvSpPr txBox="1"/>
          <p:nvPr/>
        </p:nvSpPr>
        <p:spPr>
          <a:xfrm>
            <a:off x="3214116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45" name="shape139"/>
          <p:cNvSpPr/>
          <p:nvPr/>
        </p:nvSpPr>
        <p:spPr>
          <a:xfrm>
            <a:off x="4820412" y="2432304"/>
            <a:ext cx="347472" cy="347472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46" name="text140"/>
          <p:cNvSpPr txBox="1"/>
          <p:nvPr/>
        </p:nvSpPr>
        <p:spPr>
          <a:xfrm>
            <a:off x="4820412" y="243865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47" name="shape141"/>
          <p:cNvSpPr/>
          <p:nvPr/>
        </p:nvSpPr>
        <p:spPr>
          <a:xfrm>
            <a:off x="3214116" y="3259836"/>
            <a:ext cx="347472" cy="347472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48" name="text142"/>
          <p:cNvSpPr txBox="1"/>
          <p:nvPr/>
        </p:nvSpPr>
        <p:spPr>
          <a:xfrm>
            <a:off x="3214116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9" name="shape143"/>
          <p:cNvSpPr/>
          <p:nvPr/>
        </p:nvSpPr>
        <p:spPr>
          <a:xfrm>
            <a:off x="5852160" y="1280160"/>
            <a:ext cx="5788152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50" name="text144"/>
          <p:cNvSpPr txBox="1"/>
          <p:nvPr/>
        </p:nvSpPr>
        <p:spPr>
          <a:xfrm>
            <a:off x="5852160" y="1280160"/>
            <a:ext cx="5788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Risk = Ehtimal × Təsir</a:t>
            </a:r>
            <a:endParaRPr lang="en-US" sz="2400" dirty="0"/>
          </a:p>
        </p:txBody>
      </p:sp>
      <p:sp>
        <p:nvSpPr>
          <p:cNvPr id="51" name="text145"/>
          <p:cNvSpPr txBox="1"/>
          <p:nvPr/>
        </p:nvSpPr>
        <p:spPr>
          <a:xfrm>
            <a:off x="5852160" y="2011680"/>
            <a:ext cx="5788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Hər parametr 1-dən 5-ə qədər, qiymətlər təxminidir və rəsmi statistikaya əsaslanmır.</a:t>
            </a:r>
            <a:endParaRPr lang="en-US" sz="1300" dirty="0"/>
          </a:p>
        </p:txBody>
      </p:sp>
      <p:sp>
        <p:nvSpPr>
          <p:cNvPr id="52" name="shape146"/>
          <p:cNvSpPr/>
          <p:nvPr/>
        </p:nvSpPr>
        <p:spPr>
          <a:xfrm>
            <a:off x="5852160" y="2606040"/>
            <a:ext cx="57881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3" name="shape147"/>
          <p:cNvSpPr/>
          <p:nvPr/>
        </p:nvSpPr>
        <p:spPr>
          <a:xfrm>
            <a:off x="6035040" y="2743200"/>
            <a:ext cx="411480" cy="4114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54" name="text148"/>
          <p:cNvSpPr txBox="1"/>
          <p:nvPr/>
        </p:nvSpPr>
        <p:spPr>
          <a:xfrm>
            <a:off x="60350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5" name="text149"/>
          <p:cNvSpPr txBox="1"/>
          <p:nvPr/>
        </p:nvSpPr>
        <p:spPr>
          <a:xfrm>
            <a:off x="6629400" y="2606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Yalnız parolla giriş</a:t>
            </a:r>
            <a:endParaRPr lang="en-US" sz="1400" dirty="0"/>
          </a:p>
        </p:txBody>
      </p:sp>
      <p:sp>
        <p:nvSpPr>
          <p:cNvPr id="56" name="text150"/>
          <p:cNvSpPr txBox="1"/>
          <p:nvPr/>
        </p:nvSpPr>
        <p:spPr>
          <a:xfrm>
            <a:off x="9966960" y="2606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4 × 5 = 20</a:t>
            </a:r>
            <a:endParaRPr lang="en-US" sz="2000" dirty="0"/>
          </a:p>
        </p:txBody>
      </p:sp>
      <p:sp>
        <p:nvSpPr>
          <p:cNvPr id="57" name="shape151"/>
          <p:cNvSpPr/>
          <p:nvPr/>
        </p:nvSpPr>
        <p:spPr>
          <a:xfrm>
            <a:off x="5852160" y="3383280"/>
            <a:ext cx="57881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8" name="shape152"/>
          <p:cNvSpPr/>
          <p:nvPr/>
        </p:nvSpPr>
        <p:spPr>
          <a:xfrm>
            <a:off x="6035040" y="3520440"/>
            <a:ext cx="411480" cy="4114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59" name="text153"/>
          <p:cNvSpPr txBox="1"/>
          <p:nvPr/>
        </p:nvSpPr>
        <p:spPr>
          <a:xfrm>
            <a:off x="603504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60" name="text154"/>
          <p:cNvSpPr txBox="1"/>
          <p:nvPr/>
        </p:nvSpPr>
        <p:spPr>
          <a:xfrm>
            <a:off x="6629400" y="3383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Kartsız giriş (tailgating, pretexting)</a:t>
            </a:r>
            <a:endParaRPr lang="en-US" sz="1400" dirty="0"/>
          </a:p>
        </p:txBody>
      </p:sp>
      <p:sp>
        <p:nvSpPr>
          <p:cNvPr id="61" name="text155"/>
          <p:cNvSpPr txBox="1"/>
          <p:nvPr/>
        </p:nvSpPr>
        <p:spPr>
          <a:xfrm>
            <a:off x="9966960" y="3383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4 × 3 = 12</a:t>
            </a:r>
            <a:endParaRPr lang="en-US" sz="2000" dirty="0"/>
          </a:p>
        </p:txBody>
      </p:sp>
      <p:sp>
        <p:nvSpPr>
          <p:cNvPr id="62" name="shape156"/>
          <p:cNvSpPr/>
          <p:nvPr/>
        </p:nvSpPr>
        <p:spPr>
          <a:xfrm>
            <a:off x="5852160" y="4160520"/>
            <a:ext cx="57881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3" name="shape157"/>
          <p:cNvSpPr/>
          <p:nvPr/>
        </p:nvSpPr>
        <p:spPr>
          <a:xfrm>
            <a:off x="6035040" y="4297680"/>
            <a:ext cx="411480" cy="41148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64" name="text158"/>
          <p:cNvSpPr txBox="1"/>
          <p:nvPr/>
        </p:nvSpPr>
        <p:spPr>
          <a:xfrm>
            <a:off x="603504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65" name="text159"/>
          <p:cNvSpPr txBox="1"/>
          <p:nvPr/>
        </p:nvSpPr>
        <p:spPr>
          <a:xfrm>
            <a:off x="6629400" y="4160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Tədbir iştirakçıları üçün ayrıca yoxlama qaydasının olmaması</a:t>
            </a:r>
            <a:endParaRPr lang="en-US" sz="1400" dirty="0"/>
          </a:p>
        </p:txBody>
      </p:sp>
      <p:sp>
        <p:nvSpPr>
          <p:cNvPr id="66" name="text160"/>
          <p:cNvSpPr txBox="1"/>
          <p:nvPr/>
        </p:nvSpPr>
        <p:spPr>
          <a:xfrm>
            <a:off x="9966960" y="41605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3"/>
                </a:solidFill>
              </a:rPr>
              <a:t>3 × 3 = 9</a:t>
            </a:r>
            <a:endParaRPr lang="en-US" sz="2000" dirty="0"/>
          </a:p>
        </p:txBody>
      </p:sp>
      <p:sp>
        <p:nvSpPr>
          <p:cNvPr id="67" name="shape161"/>
          <p:cNvSpPr/>
          <p:nvPr/>
        </p:nvSpPr>
        <p:spPr>
          <a:xfrm>
            <a:off x="5852160" y="5029200"/>
            <a:ext cx="5788152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68" name="text162"/>
          <p:cNvSpPr txBox="1"/>
          <p:nvPr/>
        </p:nvSpPr>
        <p:spPr>
          <a:xfrm>
            <a:off x="6080760" y="502920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Ehtimal 4-dür, çünki ikinci boşluq faktiki baş verib. Təsir 3-dür, çünki portalda hansı məlumat olduğu dəqiq bilinmir. Şəxsi məlumat və qiymətlər varsa, təsir daha yüksək olar.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Fəaliyyət planı və yeni siyasət</a:t>
            </a:r>
            <a:endParaRPr lang="en-US" sz="3200" dirty="0"/>
          </a:p>
        </p:txBody>
      </p:sp>
      <p:sp>
        <p:nvSpPr>
          <p:cNvPr id="3" name="text16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28</a:t>
            </a:r>
            <a:endParaRPr lang="en-US" sz="1000" dirty="0"/>
          </a:p>
        </p:txBody>
      </p:sp>
      <p:sp>
        <p:nvSpPr>
          <p:cNvPr id="4" name="shape164"/>
          <p:cNvSpPr/>
          <p:nvPr/>
        </p:nvSpPr>
        <p:spPr>
          <a:xfrm>
            <a:off x="7799832" y="45720"/>
            <a:ext cx="3840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165"/>
          <p:cNvSpPr txBox="1"/>
          <p:nvPr/>
        </p:nvSpPr>
        <p:spPr>
          <a:xfrm>
            <a:off x="7799832" y="45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 HİSSƏ: UNEC-DƏ TƏHLÜKƏSİZLİK TƏHLİLİ</a:t>
            </a:r>
            <a:endParaRPr lang="en-US" sz="1200" dirty="0"/>
          </a:p>
        </p:txBody>
      </p:sp>
      <p:sp>
        <p:nvSpPr>
          <p:cNvPr id="6" name="shape166"/>
          <p:cNvSpPr/>
          <p:nvPr/>
        </p:nvSpPr>
        <p:spPr>
          <a:xfrm>
            <a:off x="548640" y="1234440"/>
            <a:ext cx="355701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7" name="shape167"/>
          <p:cNvSpPr/>
          <p:nvPr/>
        </p:nvSpPr>
        <p:spPr>
          <a:xfrm>
            <a:off x="731520" y="1353312"/>
            <a:ext cx="155448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8" name="text168"/>
          <p:cNvSpPr txBox="1"/>
          <p:nvPr/>
        </p:nvSpPr>
        <p:spPr>
          <a:xfrm>
            <a:off x="731520" y="13533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Qısa müddət</a:t>
            </a:r>
            <a:endParaRPr lang="en-US" sz="1200" dirty="0"/>
          </a:p>
        </p:txBody>
      </p:sp>
      <p:sp>
        <p:nvSpPr>
          <p:cNvPr id="9" name="text169"/>
          <p:cNvSpPr txBox="1"/>
          <p:nvPr/>
        </p:nvSpPr>
        <p:spPr>
          <a:xfrm>
            <a:off x="731520" y="17556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nəzarətçilər üçün qısa təlim (mədəni imtina cümləsi: “Zəhmət olmasa, kartı oxudun”), tədbirlər üçün iştirakçı qeydiyyat siyahısı.</a:t>
            </a:r>
            <a:endParaRPr lang="en-US" sz="1300" dirty="0"/>
          </a:p>
        </p:txBody>
      </p:sp>
      <p:sp>
        <p:nvSpPr>
          <p:cNvPr id="10" name="tla0"/>
          <p:cNvSpPr/>
          <p:nvPr/>
        </p:nvSpPr>
        <p:spPr>
          <a:xfrm>
            <a:off x="4142232" y="1874520"/>
            <a:ext cx="13716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1" name="shape170"/>
          <p:cNvSpPr/>
          <p:nvPr/>
        </p:nvSpPr>
        <p:spPr>
          <a:xfrm>
            <a:off x="4315968" y="1234440"/>
            <a:ext cx="355701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2" name="shape171"/>
          <p:cNvSpPr/>
          <p:nvPr/>
        </p:nvSpPr>
        <p:spPr>
          <a:xfrm>
            <a:off x="4498848" y="1353312"/>
            <a:ext cx="155448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13" name="text172"/>
          <p:cNvSpPr txBox="1"/>
          <p:nvPr/>
        </p:nvSpPr>
        <p:spPr>
          <a:xfrm>
            <a:off x="4498848" y="13533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Orta müddət</a:t>
            </a:r>
            <a:endParaRPr lang="en-US" sz="1200" dirty="0"/>
          </a:p>
        </p:txBody>
      </p:sp>
      <p:sp>
        <p:nvSpPr>
          <p:cNvPr id="14" name="text173"/>
          <p:cNvSpPr txBox="1"/>
          <p:nvPr/>
        </p:nvSpPr>
        <p:spPr>
          <a:xfrm>
            <a:off x="4498848" y="17556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əməkdaşlar, sonra tələbələr üçün MFA, tədbirlər üçün adlı yaka kartları.</a:t>
            </a:r>
            <a:endParaRPr lang="en-US" sz="1300" dirty="0"/>
          </a:p>
        </p:txBody>
      </p:sp>
      <p:sp>
        <p:nvSpPr>
          <p:cNvPr id="15" name="tla1"/>
          <p:cNvSpPr/>
          <p:nvPr/>
        </p:nvSpPr>
        <p:spPr>
          <a:xfrm>
            <a:off x="7909560" y="1874520"/>
            <a:ext cx="13716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6" name="shape174"/>
          <p:cNvSpPr/>
          <p:nvPr/>
        </p:nvSpPr>
        <p:spPr>
          <a:xfrm>
            <a:off x="8083296" y="1234440"/>
            <a:ext cx="355701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7" name="shape175"/>
          <p:cNvSpPr/>
          <p:nvPr/>
        </p:nvSpPr>
        <p:spPr>
          <a:xfrm>
            <a:off x="8266176" y="1353312"/>
            <a:ext cx="1554480" cy="310896"/>
          </a:xfrm>
          <a:prstGeom prst="roundRect">
            <a:avLst>
              <a:gd name="adj" fmla="val 29412"/>
            </a:avLst>
          </a:prstGeom>
          <a:solidFill>
            <a:schemeClr val="accent3"/>
          </a:solidFill>
          <a:ln/>
        </p:spPr>
      </p:sp>
      <p:sp>
        <p:nvSpPr>
          <p:cNvPr id="18" name="text176"/>
          <p:cNvSpPr txBox="1"/>
          <p:nvPr/>
        </p:nvSpPr>
        <p:spPr>
          <a:xfrm>
            <a:off x="8266176" y="13533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Uzun müddət</a:t>
            </a:r>
            <a:endParaRPr lang="en-US" sz="1200" dirty="0"/>
          </a:p>
        </p:txBody>
      </p:sp>
      <p:sp>
        <p:nvSpPr>
          <p:cNvPr id="19" name="text177"/>
          <p:cNvSpPr txBox="1"/>
          <p:nvPr/>
        </p:nvSpPr>
        <p:spPr>
          <a:xfrm>
            <a:off x="8266176" y="17556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pilləli giriş qapısı və ya turniket (inzibati və təsərrüfat bölməsi, xərc yüksək).</a:t>
            </a:r>
            <a:endParaRPr lang="en-US" sz="1300" dirty="0"/>
          </a:p>
        </p:txBody>
      </p:sp>
      <p:sp>
        <p:nvSpPr>
          <p:cNvPr id="20" name="shape178"/>
          <p:cNvSpPr/>
          <p:nvPr/>
        </p:nvSpPr>
        <p:spPr>
          <a:xfrm>
            <a:off x="548640" y="2880360"/>
            <a:ext cx="374904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/>
        </p:spPr>
      </p:sp>
      <p:sp>
        <p:nvSpPr>
          <p:cNvPr id="21" name="text179"/>
          <p:cNvSpPr txBox="1"/>
          <p:nvPr/>
        </p:nvSpPr>
        <p:spPr>
          <a:xfrm>
            <a:off x="777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Giriş siyasəti</a:t>
            </a:r>
            <a:endParaRPr lang="en-US" sz="1800" dirty="0"/>
          </a:p>
        </p:txBody>
      </p:sp>
      <p:sp>
        <p:nvSpPr>
          <p:cNvPr id="22" name="text180"/>
          <p:cNvSpPr txBox="1"/>
          <p:nvPr/>
        </p:nvSpPr>
        <p:spPr>
          <a:xfrm>
            <a:off x="777240" y="35204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Hər şəxs kartla keçir, istisnasız. Qonaq və iştirakçılar üçün əvvəlcədən qeydiyyat (məsələn, QR-kod) və müvəqqəti kart.</a:t>
            </a:r>
            <a:endParaRPr lang="en-US" sz="1400" dirty="0"/>
          </a:p>
        </p:txBody>
      </p:sp>
      <p:sp>
        <p:nvSpPr>
          <p:cNvPr id="23" name="shape181"/>
          <p:cNvSpPr/>
          <p:nvPr/>
        </p:nvSpPr>
        <p:spPr>
          <a:xfrm>
            <a:off x="4434840" y="2880360"/>
            <a:ext cx="374904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/>
        </p:spPr>
      </p:sp>
      <p:sp>
        <p:nvSpPr>
          <p:cNvPr id="24" name="text182"/>
          <p:cNvSpPr txBox="1"/>
          <p:nvPr/>
        </p:nvSpPr>
        <p:spPr>
          <a:xfrm>
            <a:off x="46634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Autentifikasiya siyasəti</a:t>
            </a:r>
            <a:endParaRPr lang="en-US" sz="1800" dirty="0"/>
          </a:p>
        </p:txBody>
      </p:sp>
      <p:sp>
        <p:nvSpPr>
          <p:cNvPr id="25" name="text183"/>
          <p:cNvSpPr txBox="1"/>
          <p:nvPr/>
        </p:nvSpPr>
        <p:spPr>
          <a:xfrm>
            <a:off x="4663440" y="35204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Kritik sistemlərdə MFA məcburidir, parol ən azı 12 simvol, təkrar istifadə yox. Tez-tez dəyişmə insanları daha asan parol seçməyə sövq edir (məsələn, əvvəlki parol + “2”).</a:t>
            </a:r>
            <a:endParaRPr lang="en-US" sz="1400" dirty="0"/>
          </a:p>
        </p:txBody>
      </p:sp>
      <p:sp>
        <p:nvSpPr>
          <p:cNvPr id="26" name="shape184"/>
          <p:cNvSpPr/>
          <p:nvPr/>
        </p:nvSpPr>
        <p:spPr>
          <a:xfrm>
            <a:off x="8321040" y="2880360"/>
            <a:ext cx="331927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7" name="text185"/>
          <p:cNvSpPr txBox="1"/>
          <p:nvPr/>
        </p:nvSpPr>
        <p:spPr>
          <a:xfrm>
            <a:off x="850392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Təlim</a:t>
            </a:r>
            <a:endParaRPr lang="en-US" sz="1600" dirty="0"/>
          </a:p>
        </p:txBody>
      </p:sp>
      <p:sp>
        <p:nvSpPr>
          <p:cNvPr id="28" name="text186"/>
          <p:cNvSpPr txBox="1"/>
          <p:nvPr/>
        </p:nvSpPr>
        <p:spPr>
          <a:xfrm>
            <a:off x="8503920" y="331012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tələbə və əməkdaşlar üçün sosial mühəndislik və fişinq modulu, nəzarətçilər üçün ayrıca modul.</a:t>
            </a:r>
            <a:endParaRPr lang="en-US" sz="1300" dirty="0"/>
          </a:p>
        </p:txBody>
      </p:sp>
      <p:sp>
        <p:nvSpPr>
          <p:cNvPr id="29" name="shape187"/>
          <p:cNvSpPr/>
          <p:nvPr/>
        </p:nvSpPr>
        <p:spPr>
          <a:xfrm>
            <a:off x="8321040" y="4480560"/>
            <a:ext cx="3319272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30" name="text188"/>
          <p:cNvSpPr txBox="1"/>
          <p:nvPr/>
        </p:nvSpPr>
        <p:spPr>
          <a:xfrm>
            <a:off x="8503920" y="4553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Yoxlama</a:t>
            </a:r>
            <a:endParaRPr lang="en-US" sz="1600" dirty="0"/>
          </a:p>
        </p:txBody>
      </p:sp>
      <p:sp>
        <p:nvSpPr>
          <p:cNvPr id="31" name="text189"/>
          <p:cNvSpPr txBox="1"/>
          <p:nvPr/>
        </p:nvSpPr>
        <p:spPr>
          <a:xfrm>
            <a:off x="8503920" y="48737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simulyasiya yalnız rəhbərliyin yazılı razılığı ilə.</a:t>
            </a:r>
            <a:endParaRPr lang="en-US" sz="1300" dirty="0"/>
          </a:p>
        </p:txBody>
      </p:sp>
      <p:sp>
        <p:nvSpPr>
          <p:cNvPr id="32" name="shape190"/>
          <p:cNvSpPr/>
          <p:nvPr/>
        </p:nvSpPr>
        <p:spPr>
          <a:xfrm>
            <a:off x="548640" y="553212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</p:sp>
      <p:sp>
        <p:nvSpPr>
          <p:cNvPr id="33" name="text191"/>
          <p:cNvSpPr txBox="1"/>
          <p:nvPr/>
        </p:nvSpPr>
        <p:spPr>
          <a:xfrm>
            <a:off x="777240" y="5532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Qalıq risk: </a:t>
            </a:r>
            <a:r>
              <a:rPr lang="en-US" sz="1500" dirty="0">
                <a:solidFill>
                  <a:schemeClr val="bg1"/>
                </a:solidFill>
              </a:rPr>
              <a:t>insan amili tam aradan qalxmır, ona görə təhlükəsizlik planlaşdır → icra et → yoxla → təkmilləşdir dövrüdür.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İşçi təlimi</a:t>
            </a:r>
            <a:endParaRPr lang="en-US" sz="3200" dirty="0"/>
          </a:p>
        </p:txBody>
      </p:sp>
      <p:sp>
        <p:nvSpPr>
          <p:cNvPr id="3" name="text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29</a:t>
            </a:r>
            <a:endParaRPr lang="en-US" sz="1000" dirty="0"/>
          </a:p>
        </p:txBody>
      </p:sp>
      <p:sp>
        <p:nvSpPr>
          <p:cNvPr id="4" name="shape2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3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shape4"/>
          <p:cNvSpPr/>
          <p:nvPr/>
        </p:nvSpPr>
        <p:spPr>
          <a:xfrm>
            <a:off x="548640" y="1234440"/>
            <a:ext cx="45720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7" name="text5"/>
          <p:cNvSpPr txBox="1"/>
          <p:nvPr/>
        </p:nvSpPr>
        <p:spPr>
          <a:xfrm>
            <a:off x="731520" y="1234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68%</a:t>
            </a:r>
            <a:endParaRPr lang="en-US" sz="3400" dirty="0"/>
          </a:p>
        </p:txBody>
      </p:sp>
      <p:sp>
        <p:nvSpPr>
          <p:cNvPr id="8" name="text6"/>
          <p:cNvSpPr txBox="1"/>
          <p:nvPr/>
        </p:nvSpPr>
        <p:spPr>
          <a:xfrm>
            <a:off x="2514600" y="1234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pozuntuların bu qismində qeyri-qərəzli insan amili iştirak edib (Verizon 2024).</a:t>
            </a:r>
            <a:endParaRPr lang="en-US" sz="1300" dirty="0"/>
          </a:p>
        </p:txBody>
      </p:sp>
      <p:sp>
        <p:nvSpPr>
          <p:cNvPr id="9" name="shape7"/>
          <p:cNvSpPr/>
          <p:nvPr/>
        </p:nvSpPr>
        <p:spPr>
          <a:xfrm>
            <a:off x="548640" y="2286000"/>
            <a:ext cx="45720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0" name="text8"/>
          <p:cNvSpPr txBox="1"/>
          <p:nvPr/>
        </p:nvSpPr>
        <p:spPr>
          <a:xfrm>
            <a:off x="731520" y="2286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21 san</a:t>
            </a:r>
            <a:endParaRPr lang="en-US" sz="3400" dirty="0"/>
          </a:p>
        </p:txBody>
      </p:sp>
      <p:sp>
        <p:nvSpPr>
          <p:cNvPr id="11" name="text9"/>
          <p:cNvSpPr txBox="1"/>
          <p:nvPr/>
        </p:nvSpPr>
        <p:spPr>
          <a:xfrm>
            <a:off x="2514600" y="2286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simulyasiyada istifadəçinin e-poçtu açıb kliklədiyi orta vaxt,</a:t>
            </a:r>
            <a:endParaRPr lang="en-US" sz="1300" dirty="0"/>
          </a:p>
        </p:txBody>
      </p:sp>
      <p:sp>
        <p:nvSpPr>
          <p:cNvPr id="12" name="shape10"/>
          <p:cNvSpPr/>
          <p:nvPr/>
        </p:nvSpPr>
        <p:spPr>
          <a:xfrm>
            <a:off x="548640" y="3337560"/>
            <a:ext cx="45720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3" name="text11"/>
          <p:cNvSpPr txBox="1"/>
          <p:nvPr/>
        </p:nvSpPr>
        <p:spPr>
          <a:xfrm>
            <a:off x="731520" y="33375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28 san</a:t>
            </a:r>
            <a:endParaRPr lang="en-US" sz="3400" dirty="0"/>
          </a:p>
        </p:txBody>
      </p:sp>
      <p:sp>
        <p:nvSpPr>
          <p:cNvPr id="14" name="text12"/>
          <p:cNvSpPr txBox="1"/>
          <p:nvPr/>
        </p:nvSpPr>
        <p:spPr>
          <a:xfrm>
            <a:off x="2514600" y="3337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daha 28 saniyə sonra məlumat daxil edir.</a:t>
            </a:r>
            <a:endParaRPr lang="en-US" sz="1300" dirty="0"/>
          </a:p>
        </p:txBody>
      </p:sp>
      <p:sp>
        <p:nvSpPr>
          <p:cNvPr id="15" name="text13"/>
          <p:cNvSpPr txBox="1"/>
          <p:nvPr/>
        </p:nvSpPr>
        <p:spPr>
          <a:xfrm>
            <a:off x="53492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Plan</a:t>
            </a:r>
            <a:endParaRPr lang="en-US" sz="2000" dirty="0"/>
          </a:p>
        </p:txBody>
      </p:sp>
      <p:sp>
        <p:nvSpPr>
          <p:cNvPr id="16" name="shape14"/>
          <p:cNvSpPr/>
          <p:nvPr/>
        </p:nvSpPr>
        <p:spPr>
          <a:xfrm>
            <a:off x="5349240" y="1645920"/>
            <a:ext cx="6291072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17" name="shape15"/>
          <p:cNvSpPr/>
          <p:nvPr/>
        </p:nvSpPr>
        <p:spPr>
          <a:xfrm>
            <a:off x="5440680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16"/>
          <p:cNvSpPr txBox="1"/>
          <p:nvPr/>
        </p:nvSpPr>
        <p:spPr>
          <a:xfrm>
            <a:off x="544068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17"/>
          <p:cNvSpPr txBox="1"/>
          <p:nvPr/>
        </p:nvSpPr>
        <p:spPr>
          <a:xfrm>
            <a:off x="6035040" y="164592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İlkin test (GoPhish, KnowBe4)</a:t>
            </a:r>
            <a:endParaRPr lang="en-US" sz="1400" dirty="0"/>
          </a:p>
        </p:txBody>
      </p:sp>
      <p:sp>
        <p:nvSpPr>
          <p:cNvPr id="20" name="shape18"/>
          <p:cNvSpPr/>
          <p:nvPr/>
        </p:nvSpPr>
        <p:spPr>
          <a:xfrm>
            <a:off x="5349240" y="2304288"/>
            <a:ext cx="6291072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21" name="shape19"/>
          <p:cNvSpPr/>
          <p:nvPr/>
        </p:nvSpPr>
        <p:spPr>
          <a:xfrm>
            <a:off x="5440680" y="23957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20"/>
          <p:cNvSpPr txBox="1"/>
          <p:nvPr/>
        </p:nvSpPr>
        <p:spPr>
          <a:xfrm>
            <a:off x="544068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21"/>
          <p:cNvSpPr txBox="1"/>
          <p:nvPr/>
        </p:nvSpPr>
        <p:spPr>
          <a:xfrm>
            <a:off x="6035040" y="23042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Qısa təlim modulları (fişinq, parol və MFA, şübhəli məktubun bildirilməsi)</a:t>
            </a:r>
            <a:endParaRPr lang="en-US" sz="1400" dirty="0"/>
          </a:p>
        </p:txBody>
      </p:sp>
      <p:sp>
        <p:nvSpPr>
          <p:cNvPr id="24" name="shape22"/>
          <p:cNvSpPr/>
          <p:nvPr/>
        </p:nvSpPr>
        <p:spPr>
          <a:xfrm>
            <a:off x="5349240" y="2962656"/>
            <a:ext cx="6291072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25" name="shape23"/>
          <p:cNvSpPr/>
          <p:nvPr/>
        </p:nvSpPr>
        <p:spPr>
          <a:xfrm>
            <a:off x="5440680" y="30540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24"/>
          <p:cNvSpPr txBox="1"/>
          <p:nvPr/>
        </p:nvSpPr>
        <p:spPr>
          <a:xfrm>
            <a:off x="5440680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25"/>
          <p:cNvSpPr txBox="1"/>
          <p:nvPr/>
        </p:nvSpPr>
        <p:spPr>
          <a:xfrm>
            <a:off x="6035040" y="2962656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Aylıq simulyasiya və dərhal izah</a:t>
            </a:r>
            <a:endParaRPr lang="en-US" sz="1400" dirty="0"/>
          </a:p>
        </p:txBody>
      </p:sp>
      <p:sp>
        <p:nvSpPr>
          <p:cNvPr id="28" name="shape26"/>
          <p:cNvSpPr/>
          <p:nvPr/>
        </p:nvSpPr>
        <p:spPr>
          <a:xfrm>
            <a:off x="5349240" y="3621024"/>
            <a:ext cx="6291072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29" name="shape27"/>
          <p:cNvSpPr/>
          <p:nvPr/>
        </p:nvSpPr>
        <p:spPr>
          <a:xfrm>
            <a:off x="5440680" y="37124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28"/>
          <p:cNvSpPr txBox="1"/>
          <p:nvPr/>
        </p:nvSpPr>
        <p:spPr>
          <a:xfrm>
            <a:off x="544068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29"/>
          <p:cNvSpPr txBox="1"/>
          <p:nvPr/>
        </p:nvSpPr>
        <p:spPr>
          <a:xfrm>
            <a:off x="6035040" y="362102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Ölçmə (klikləmə və bildirmə faizi)</a:t>
            </a:r>
            <a:endParaRPr lang="en-US" sz="1400" dirty="0"/>
          </a:p>
        </p:txBody>
      </p:sp>
      <p:sp>
        <p:nvSpPr>
          <p:cNvPr id="32" name="text30"/>
          <p:cNvSpPr txBox="1"/>
          <p:nvPr/>
        </p:nvSpPr>
        <p:spPr>
          <a:xfrm>
            <a:off x="548640" y="4343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KnowBe4: klikləmə faizi</a:t>
            </a:r>
            <a:endParaRPr lang="en-US" sz="1300" dirty="0"/>
          </a:p>
        </p:txBody>
      </p:sp>
      <p:sp>
        <p:nvSpPr>
          <p:cNvPr id="33" name="text31"/>
          <p:cNvSpPr txBox="1"/>
          <p:nvPr/>
        </p:nvSpPr>
        <p:spPr>
          <a:xfrm>
            <a:off x="54864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34,3%</a:t>
            </a:r>
            <a:endParaRPr lang="en-US" sz="1600" dirty="0"/>
          </a:p>
        </p:txBody>
      </p:sp>
      <p:sp>
        <p:nvSpPr>
          <p:cNvPr id="34" name="kb0"/>
          <p:cNvSpPr/>
          <p:nvPr/>
        </p:nvSpPr>
        <p:spPr>
          <a:xfrm>
            <a:off x="685800" y="4892040"/>
            <a:ext cx="1097280" cy="7772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" name="text32"/>
          <p:cNvSpPr txBox="1"/>
          <p:nvPr/>
        </p:nvSpPr>
        <p:spPr>
          <a:xfrm>
            <a:off x="54864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ilkin</a:t>
            </a:r>
            <a:endParaRPr lang="en-US" sz="1300" dirty="0"/>
          </a:p>
        </p:txBody>
      </p:sp>
      <p:sp>
        <p:nvSpPr>
          <p:cNvPr id="36" name="text33"/>
          <p:cNvSpPr txBox="1"/>
          <p:nvPr/>
        </p:nvSpPr>
        <p:spPr>
          <a:xfrm>
            <a:off x="233172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18,9%</a:t>
            </a:r>
            <a:endParaRPr lang="en-US" sz="1600" dirty="0"/>
          </a:p>
        </p:txBody>
      </p:sp>
      <p:sp>
        <p:nvSpPr>
          <p:cNvPr id="37" name="kb1"/>
          <p:cNvSpPr/>
          <p:nvPr/>
        </p:nvSpPr>
        <p:spPr>
          <a:xfrm>
            <a:off x="2468880" y="5241005"/>
            <a:ext cx="1097280" cy="428275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8" name="text34"/>
          <p:cNvSpPr txBox="1"/>
          <p:nvPr/>
        </p:nvSpPr>
        <p:spPr>
          <a:xfrm>
            <a:off x="233172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90 gün</a:t>
            </a:r>
            <a:endParaRPr lang="en-US" sz="1300" dirty="0"/>
          </a:p>
        </p:txBody>
      </p:sp>
      <p:sp>
        <p:nvSpPr>
          <p:cNvPr id="39" name="text35"/>
          <p:cNvSpPr txBox="1"/>
          <p:nvPr/>
        </p:nvSpPr>
        <p:spPr>
          <a:xfrm>
            <a:off x="411480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4,6%</a:t>
            </a:r>
            <a:endParaRPr lang="en-US" sz="1600" dirty="0"/>
          </a:p>
        </p:txBody>
      </p:sp>
      <p:sp>
        <p:nvSpPr>
          <p:cNvPr id="40" name="kb2"/>
          <p:cNvSpPr/>
          <p:nvPr/>
        </p:nvSpPr>
        <p:spPr>
          <a:xfrm>
            <a:off x="4251960" y="5559552"/>
            <a:ext cx="1097280" cy="10972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1" name="text36"/>
          <p:cNvSpPr txBox="1"/>
          <p:nvPr/>
        </p:nvSpPr>
        <p:spPr>
          <a:xfrm>
            <a:off x="411480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12 ay</a:t>
            </a:r>
            <a:endParaRPr lang="en-US" sz="1300" dirty="0"/>
          </a:p>
        </p:txBody>
      </p:sp>
      <p:sp>
        <p:nvSpPr>
          <p:cNvPr id="42" name="shape37"/>
          <p:cNvSpPr/>
          <p:nvPr/>
        </p:nvSpPr>
        <p:spPr>
          <a:xfrm>
            <a:off x="5852160" y="4480560"/>
            <a:ext cx="5788152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</p:sp>
      <p:sp>
        <p:nvSpPr>
          <p:cNvPr id="43" name="text38"/>
          <p:cNvSpPr txBox="1"/>
          <p:nvPr/>
        </p:nvSpPr>
        <p:spPr>
          <a:xfrm>
            <a:off x="6080760" y="44805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Bu, satıcı şirkətin öz məlumatıdır, nümunə kimi götürülməlidir.</a:t>
            </a:r>
            <a:endParaRPr lang="en-US" sz="1400" dirty="0"/>
          </a:p>
        </p:txBody>
      </p:sp>
      <p:sp>
        <p:nvSpPr>
          <p:cNvPr id="44" name="shape39"/>
          <p:cNvSpPr/>
          <p:nvPr/>
        </p:nvSpPr>
        <p:spPr>
          <a:xfrm>
            <a:off x="5852160" y="5394960"/>
            <a:ext cx="5788152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45" name="text40"/>
          <p:cNvSpPr txBox="1"/>
          <p:nvPr/>
        </p:nvSpPr>
        <p:spPr>
          <a:xfrm>
            <a:off x="6080760" y="53949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Təlim telefon zənglərini də əhatə etməlidir (Twitter, 2020).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Bank sektoru, ikinci faktor</a:t>
            </a:r>
            <a:endParaRPr lang="en-US" sz="3200" dirty="0"/>
          </a:p>
        </p:txBody>
      </p:sp>
      <p:sp>
        <p:nvSpPr>
          <p:cNvPr id="3" name="text4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30</a:t>
            </a:r>
            <a:endParaRPr lang="en-US" sz="1000" dirty="0"/>
          </a:p>
        </p:txBody>
      </p:sp>
      <p:sp>
        <p:nvSpPr>
          <p:cNvPr id="4" name="shape42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43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ladder"/>
          <p:cNvSpPr/>
          <p:nvPr/>
        </p:nvSpPr>
        <p:spPr>
          <a:xfrm>
            <a:off x="548640" y="1188720"/>
            <a:ext cx="7223760" cy="347472"/>
          </a:xfrm>
          <a:prstGeom prst="rightArrow">
            <a:avLst/>
          </a:prstGeom>
          <a:solidFill>
            <a:srgbClr val="D5DEE7"/>
          </a:solidFill>
          <a:ln/>
        </p:spPr>
      </p:sp>
      <p:sp>
        <p:nvSpPr>
          <p:cNvPr id="7" name="text44"/>
          <p:cNvSpPr txBox="1"/>
          <p:nvPr/>
        </p:nvSpPr>
        <p:spPr>
          <a:xfrm>
            <a:off x="82296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zəifdən güclüyə</a:t>
            </a:r>
            <a:endParaRPr lang="en-US" sz="1300" dirty="0"/>
          </a:p>
        </p:txBody>
      </p:sp>
      <p:sp>
        <p:nvSpPr>
          <p:cNvPr id="8" name="shape45"/>
          <p:cNvSpPr/>
          <p:nvPr/>
        </p:nvSpPr>
        <p:spPr>
          <a:xfrm>
            <a:off x="548640" y="3840480"/>
            <a:ext cx="1737360" cy="20116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9" name="shape46"/>
          <p:cNvSpPr/>
          <p:nvPr/>
        </p:nvSpPr>
        <p:spPr>
          <a:xfrm>
            <a:off x="548640" y="3840480"/>
            <a:ext cx="1737360" cy="109728"/>
          </a:xfrm>
          <a:prstGeom prst="roundRect">
            <a:avLst>
              <a:gd name="adj" fmla="val 83333"/>
            </a:avLst>
          </a:prstGeom>
          <a:solidFill>
            <a:schemeClr val="accent3"/>
          </a:solidFill>
          <a:ln/>
        </p:spPr>
      </p:sp>
      <p:sp>
        <p:nvSpPr>
          <p:cNvPr id="10" name="text47"/>
          <p:cNvSpPr txBox="1"/>
          <p:nvPr/>
        </p:nvSpPr>
        <p:spPr>
          <a:xfrm>
            <a:off x="685800" y="4069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SMS kod</a:t>
            </a:r>
            <a:endParaRPr lang="en-US" sz="1400" dirty="0"/>
          </a:p>
        </p:txBody>
      </p:sp>
      <p:sp>
        <p:nvSpPr>
          <p:cNvPr id="11" name="text48"/>
          <p:cNvSpPr txBox="1"/>
          <p:nvPr/>
        </p:nvSpPr>
        <p:spPr>
          <a:xfrm>
            <a:off x="685800" y="480060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 swap və SS7 hücumlarına açıqdır (NIST: “məhdudlaşdırılmış” autentifikator).</a:t>
            </a:r>
            <a:endParaRPr lang="en-US" sz="1300" dirty="0"/>
          </a:p>
        </p:txBody>
      </p:sp>
      <p:sp>
        <p:nvSpPr>
          <p:cNvPr id="12" name="shape49"/>
          <p:cNvSpPr/>
          <p:nvPr/>
        </p:nvSpPr>
        <p:spPr>
          <a:xfrm>
            <a:off x="2377440" y="3108960"/>
            <a:ext cx="1737360" cy="27432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3" name="shape50"/>
          <p:cNvSpPr/>
          <p:nvPr/>
        </p:nvSpPr>
        <p:spPr>
          <a:xfrm>
            <a:off x="2377440" y="3108960"/>
            <a:ext cx="1737360" cy="109728"/>
          </a:xfrm>
          <a:prstGeom prst="roundRect">
            <a:avLst>
              <a:gd name="adj" fmla="val 83333"/>
            </a:avLst>
          </a:prstGeom>
          <a:solidFill>
            <a:schemeClr val="accent2"/>
          </a:solidFill>
          <a:ln/>
        </p:spPr>
      </p:sp>
      <p:sp>
        <p:nvSpPr>
          <p:cNvPr id="14" name="text51"/>
          <p:cNvSpPr txBox="1"/>
          <p:nvPr/>
        </p:nvSpPr>
        <p:spPr>
          <a:xfrm>
            <a:off x="2514600" y="3337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TOTP tətbiqi</a:t>
            </a:r>
            <a:endParaRPr lang="en-US" sz="1400" dirty="0"/>
          </a:p>
        </p:txBody>
      </p:sp>
      <p:sp>
        <p:nvSpPr>
          <p:cNvPr id="15" name="text52"/>
          <p:cNvSpPr txBox="1"/>
          <p:nvPr/>
        </p:nvSpPr>
        <p:spPr>
          <a:xfrm>
            <a:off x="2514600" y="406908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 swap işləmir, lakin real vaxt fişinqinə qarşı qorumur.</a:t>
            </a:r>
            <a:endParaRPr lang="en-US" sz="1300" dirty="0"/>
          </a:p>
        </p:txBody>
      </p:sp>
      <p:sp>
        <p:nvSpPr>
          <p:cNvPr id="16" name="shape53"/>
          <p:cNvSpPr/>
          <p:nvPr/>
        </p:nvSpPr>
        <p:spPr>
          <a:xfrm>
            <a:off x="4206240" y="2377440"/>
            <a:ext cx="1737360" cy="347472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7" name="shape54"/>
          <p:cNvSpPr/>
          <p:nvPr/>
        </p:nvSpPr>
        <p:spPr>
          <a:xfrm>
            <a:off x="4206240" y="2377440"/>
            <a:ext cx="1737360" cy="109728"/>
          </a:xfrm>
          <a:prstGeom prst="roundRect">
            <a:avLst>
              <a:gd name="adj" fmla="val 83333"/>
            </a:avLst>
          </a:prstGeom>
          <a:solidFill>
            <a:schemeClr val="accent4"/>
          </a:solidFill>
          <a:ln/>
        </p:spPr>
      </p:sp>
      <p:sp>
        <p:nvSpPr>
          <p:cNvPr id="18" name="text55"/>
          <p:cNvSpPr txBox="1"/>
          <p:nvPr/>
        </p:nvSpPr>
        <p:spPr>
          <a:xfrm>
            <a:off x="434340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Push + rəqəm uyğunlaşdırması</a:t>
            </a:r>
            <a:endParaRPr lang="en-US" sz="1400" dirty="0"/>
          </a:p>
        </p:txBody>
      </p:sp>
      <p:sp>
        <p:nvSpPr>
          <p:cNvPr id="19" name="text56"/>
          <p:cNvSpPr txBox="1"/>
          <p:nvPr/>
        </p:nvSpPr>
        <p:spPr>
          <a:xfrm>
            <a:off x="4343400" y="3337560"/>
            <a:ext cx="148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kor təsdiqlərin qarşısını alır.</a:t>
            </a:r>
            <a:endParaRPr lang="en-US" sz="1300" dirty="0"/>
          </a:p>
        </p:txBody>
      </p:sp>
      <p:sp>
        <p:nvSpPr>
          <p:cNvPr id="20" name="shape57"/>
          <p:cNvSpPr/>
          <p:nvPr/>
        </p:nvSpPr>
        <p:spPr>
          <a:xfrm>
            <a:off x="6035040" y="1645920"/>
            <a:ext cx="1737360" cy="420624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1" name="shape58"/>
          <p:cNvSpPr/>
          <p:nvPr/>
        </p:nvSpPr>
        <p:spPr>
          <a:xfrm>
            <a:off x="6035040" y="1645920"/>
            <a:ext cx="1737360" cy="109728"/>
          </a:xfrm>
          <a:prstGeom prst="roundRect">
            <a:avLst>
              <a:gd name="adj" fmla="val 83333"/>
            </a:avLst>
          </a:prstGeom>
          <a:solidFill>
            <a:schemeClr val="accent6"/>
          </a:solidFill>
          <a:ln/>
        </p:spPr>
      </p:sp>
      <p:sp>
        <p:nvSpPr>
          <p:cNvPr id="22" name="text59"/>
          <p:cNvSpPr txBox="1"/>
          <p:nvPr/>
        </p:nvSpPr>
        <p:spPr>
          <a:xfrm>
            <a:off x="6172200" y="1874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Passkey və FIDO2 (YubiKey)</a:t>
            </a:r>
            <a:endParaRPr lang="en-US" sz="1400" dirty="0"/>
          </a:p>
        </p:txBody>
      </p:sp>
      <p:sp>
        <p:nvSpPr>
          <p:cNvPr id="23" name="text60"/>
          <p:cNvSpPr txBox="1"/>
          <p:nvPr/>
        </p:nvSpPr>
        <p:spPr>
          <a:xfrm>
            <a:off x="6172200" y="2606040"/>
            <a:ext cx="14813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fişinqə davamlıdır, domen-bağlıdır.</a:t>
            </a:r>
            <a:endParaRPr lang="en-US" sz="1300" dirty="0"/>
          </a:p>
        </p:txBody>
      </p:sp>
      <p:sp>
        <p:nvSpPr>
          <p:cNvPr id="24" name="shape61"/>
          <p:cNvSpPr/>
          <p:nvPr/>
        </p:nvSpPr>
        <p:spPr>
          <a:xfrm>
            <a:off x="8001000" y="1645920"/>
            <a:ext cx="3639312" cy="4206240"/>
          </a:xfrm>
          <a:prstGeom prst="roundRect">
            <a:avLst>
              <a:gd name="adj" fmla="val 2513"/>
            </a:avLst>
          </a:prstGeom>
          <a:solidFill>
            <a:schemeClr val="tx2"/>
          </a:solidFill>
          <a:ln/>
        </p:spPr>
      </p:sp>
      <p:sp>
        <p:nvSpPr>
          <p:cNvPr id="25" name="text62"/>
          <p:cNvSpPr txBox="1"/>
          <p:nvPr/>
        </p:nvSpPr>
        <p:spPr>
          <a:xfrm>
            <a:off x="82296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Təklif olunan model</a:t>
            </a:r>
            <a:endParaRPr lang="en-US" sz="1900" dirty="0"/>
          </a:p>
        </p:txBody>
      </p:sp>
      <p:sp>
        <p:nvSpPr>
          <p:cNvPr id="26" name="text63"/>
          <p:cNvSpPr txBox="1"/>
          <p:nvPr/>
        </p:nvSpPr>
        <p:spPr>
          <a:xfrm>
            <a:off x="8229600" y="23774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Əsas və ehtiyat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əsas metod push və biometrika, ehtiyat TOTP, SMS yalnız sonuncu variant kimi.</a:t>
            </a:r>
            <a:endParaRPr lang="en-US" sz="1400" dirty="0"/>
          </a:p>
        </p:txBody>
      </p:sp>
      <p:sp>
        <p:nvSpPr>
          <p:cNvPr id="27" name="text64"/>
          <p:cNvSpPr txBox="1"/>
          <p:nvPr/>
        </p:nvSpPr>
        <p:spPr>
          <a:xfrm>
            <a:off x="8229600" y="35204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Əməliyyatlar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PSD2 uyğun dinamik əlaqə: kod konkret məbləğə və alıcıya bağlıdır.</a:t>
            </a:r>
            <a:endParaRPr lang="en-US" sz="1400" dirty="0"/>
          </a:p>
        </p:txBody>
      </p:sp>
      <p:sp>
        <p:nvSpPr>
          <p:cNvPr id="28" name="text65"/>
          <p:cNvSpPr txBox="1"/>
          <p:nvPr/>
        </p:nvSpPr>
        <p:spPr>
          <a:xfrm>
            <a:off x="8229600" y="46634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Risk əsaslı addım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qeyri-adi cihaz və ya böyük köçürmədə əlavə təsdiq.</a:t>
            </a:r>
            <a:endParaRPr lang="en-US" sz="1400" dirty="0"/>
          </a:p>
        </p:txBody>
      </p:sp>
      <p:sp>
        <p:nvSpPr>
          <p:cNvPr id="29" name="shape66"/>
          <p:cNvSpPr/>
          <p:nvPr/>
        </p:nvSpPr>
        <p:spPr>
          <a:xfrm>
            <a:off x="548640" y="5989320"/>
            <a:ext cx="11091672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30" name="text67"/>
          <p:cNvSpPr txBox="1"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Colonial Pipeline: </a:t>
            </a:r>
            <a:r>
              <a:rPr lang="en-US" sz="1300" dirty="0">
                <a:solidFill>
                  <a:schemeClr val="tx1"/>
                </a:solidFill>
              </a:rPr>
              <a:t>MFA-sız hesab. </a:t>
            </a:r>
            <a:r>
              <a:rPr lang="en-US" sz="1300" b="1" dirty="0">
                <a:solidFill>
                  <a:schemeClr val="tx1"/>
                </a:solidFill>
              </a:rPr>
              <a:t>Bangladesh Bank: </a:t>
            </a:r>
            <a:r>
              <a:rPr lang="en-US" sz="1300" dirty="0">
                <a:solidFill>
                  <a:schemeClr val="tx1"/>
                </a:solidFill>
              </a:rPr>
              <a:t>saxta tapşırıqlar.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Təhsil sektoru</a:t>
            </a:r>
            <a:endParaRPr lang="en-US" sz="3200" dirty="0"/>
          </a:p>
        </p:txBody>
      </p:sp>
      <p:sp>
        <p:nvSpPr>
          <p:cNvPr id="3" name="text6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31</a:t>
            </a:r>
            <a:endParaRPr lang="en-US" sz="1000" dirty="0"/>
          </a:p>
        </p:txBody>
      </p:sp>
      <p:sp>
        <p:nvSpPr>
          <p:cNvPr id="4" name="shape69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70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text7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Açıq mühit, çoxlu istifadəçi və qiymətli şəxsi məlumat təhsili cəlbedici hədəf edir.</a:t>
            </a:r>
            <a:endParaRPr lang="en-US" sz="1600" dirty="0"/>
          </a:p>
        </p:txBody>
      </p:sp>
      <p:sp>
        <p:nvSpPr>
          <p:cNvPr id="7" name="shape72"/>
          <p:cNvSpPr/>
          <p:nvPr/>
        </p:nvSpPr>
        <p:spPr>
          <a:xfrm>
            <a:off x="548640" y="1737360"/>
            <a:ext cx="42062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text73"/>
          <p:cNvSpPr txBox="1"/>
          <p:nvPr/>
        </p:nvSpPr>
        <p:spPr>
          <a:xfrm>
            <a:off x="731520" y="17373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3"/>
                </a:solidFill>
              </a:rPr>
              <a:t>#1</a:t>
            </a:r>
            <a:endParaRPr lang="en-US" sz="4600" dirty="0"/>
          </a:p>
        </p:txBody>
      </p:sp>
      <p:sp>
        <p:nvSpPr>
          <p:cNvPr id="9" name="text74"/>
          <p:cNvSpPr txBox="1"/>
          <p:nvPr/>
        </p:nvSpPr>
        <p:spPr>
          <a:xfrm>
            <a:off x="2423160" y="1737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təhsil sektoru 2024-cü ildə ən çox hədəf alınan sahə olub (Check Point).</a:t>
            </a:r>
            <a:endParaRPr lang="en-US" sz="1300" dirty="0"/>
          </a:p>
        </p:txBody>
      </p:sp>
      <p:sp>
        <p:nvSpPr>
          <p:cNvPr id="10" name="shape75"/>
          <p:cNvSpPr/>
          <p:nvPr/>
        </p:nvSpPr>
        <p:spPr>
          <a:xfrm>
            <a:off x="548640" y="3246120"/>
            <a:ext cx="42062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1" name="text76"/>
          <p:cNvSpPr txBox="1"/>
          <p:nvPr/>
        </p:nvSpPr>
        <p:spPr>
          <a:xfrm>
            <a:off x="731520" y="32461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4"/>
                </a:solidFill>
              </a:rPr>
              <a:t>+70%</a:t>
            </a:r>
            <a:endParaRPr lang="en-US" sz="4600" dirty="0"/>
          </a:p>
        </p:txBody>
      </p:sp>
      <p:sp>
        <p:nvSpPr>
          <p:cNvPr id="12" name="text77"/>
          <p:cNvSpPr txBox="1"/>
          <p:nvPr/>
        </p:nvSpPr>
        <p:spPr>
          <a:xfrm>
            <a:off x="2423160" y="32461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təhsildə ransomware hücumları (Malwarebytes).</a:t>
            </a:r>
            <a:endParaRPr lang="en-US" sz="1300" dirty="0"/>
          </a:p>
        </p:txBody>
      </p:sp>
      <p:sp>
        <p:nvSpPr>
          <p:cNvPr id="13" name="shape78"/>
          <p:cNvSpPr/>
          <p:nvPr/>
        </p:nvSpPr>
        <p:spPr>
          <a:xfrm>
            <a:off x="548640" y="4754880"/>
            <a:ext cx="42062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4" name="text79"/>
          <p:cNvSpPr txBox="1"/>
          <p:nvPr/>
        </p:nvSpPr>
        <p:spPr>
          <a:xfrm>
            <a:off x="731520" y="4754880"/>
            <a:ext cx="3840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Macarıstanda 85 tələbə üzərində (bir universitet) tədqiqat: tələbələr e-poçt fişinqini yaxşı tanıyır, parol təcrübəsi, ehtiyat surət və təhdid qiymətləndirməsi zəifdir.</a:t>
            </a:r>
            <a:endParaRPr lang="en-US" sz="1300" dirty="0"/>
          </a:p>
        </p:txBody>
      </p:sp>
      <p:sp>
        <p:nvSpPr>
          <p:cNvPr id="15" name="shape80"/>
          <p:cNvSpPr/>
          <p:nvPr/>
        </p:nvSpPr>
        <p:spPr>
          <a:xfrm>
            <a:off x="4983480" y="1737360"/>
            <a:ext cx="2103120" cy="2834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6" name="shape81"/>
          <p:cNvSpPr/>
          <p:nvPr/>
        </p:nvSpPr>
        <p:spPr>
          <a:xfrm>
            <a:off x="5120640" y="187452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17" name="text82"/>
          <p:cNvSpPr txBox="1"/>
          <p:nvPr/>
        </p:nvSpPr>
        <p:spPr>
          <a:xfrm>
            <a:off x="5120640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Tələbələr</a:t>
            </a:r>
            <a:endParaRPr lang="en-US" sz="1200" dirty="0"/>
          </a:p>
        </p:txBody>
      </p:sp>
      <p:sp>
        <p:nvSpPr>
          <p:cNvPr id="18" name="text83"/>
          <p:cNvSpPr txBox="1"/>
          <p:nvPr/>
        </p:nvSpPr>
        <p:spPr>
          <a:xfrm>
            <a:off x="5120640" y="233172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1-ci kursda 15-20 dəqiqəlik modul və illik təkrar (parol meneceri, MFA, fişinq, ümumi Wi-Fi, yeniləmələr, ehtiyat surət).</a:t>
            </a:r>
            <a:endParaRPr lang="en-US" sz="1300" dirty="0"/>
          </a:p>
        </p:txBody>
      </p:sp>
      <p:sp>
        <p:nvSpPr>
          <p:cNvPr id="19" name="shape84"/>
          <p:cNvSpPr/>
          <p:nvPr/>
        </p:nvSpPr>
        <p:spPr>
          <a:xfrm>
            <a:off x="7260336" y="1737360"/>
            <a:ext cx="2103120" cy="2834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0" name="shape85"/>
          <p:cNvSpPr/>
          <p:nvPr/>
        </p:nvSpPr>
        <p:spPr>
          <a:xfrm>
            <a:off x="7397496" y="187452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/>
        </p:spPr>
      </p:sp>
      <p:sp>
        <p:nvSpPr>
          <p:cNvPr id="21" name="text86"/>
          <p:cNvSpPr txBox="1"/>
          <p:nvPr/>
        </p:nvSpPr>
        <p:spPr>
          <a:xfrm>
            <a:off x="7397496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Əməkdaşlar</a:t>
            </a:r>
            <a:endParaRPr lang="en-US" sz="1200" dirty="0"/>
          </a:p>
        </p:txBody>
      </p:sp>
      <p:sp>
        <p:nvSpPr>
          <p:cNvPr id="22" name="text87"/>
          <p:cNvSpPr txBox="1"/>
          <p:nvPr/>
        </p:nvSpPr>
        <p:spPr>
          <a:xfrm>
            <a:off x="7397496" y="233172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tələbə məlumatlarının və qiymətlərin qorunması, biznes e-poçtunun saxtalaşdırılması.</a:t>
            </a:r>
            <a:endParaRPr lang="en-US" sz="1300" dirty="0"/>
          </a:p>
        </p:txBody>
      </p:sp>
      <p:sp>
        <p:nvSpPr>
          <p:cNvPr id="23" name="shape88"/>
          <p:cNvSpPr/>
          <p:nvPr/>
        </p:nvSpPr>
        <p:spPr>
          <a:xfrm>
            <a:off x="9537192" y="1737360"/>
            <a:ext cx="2103120" cy="2834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4" name="shape89"/>
          <p:cNvSpPr/>
          <p:nvPr/>
        </p:nvSpPr>
        <p:spPr>
          <a:xfrm>
            <a:off x="9674352" y="1874520"/>
            <a:ext cx="1828800" cy="310896"/>
          </a:xfrm>
          <a:prstGeom prst="roundRect">
            <a:avLst>
              <a:gd name="adj" fmla="val 29412"/>
            </a:avLst>
          </a:prstGeom>
          <a:solidFill>
            <a:schemeClr val="accent6"/>
          </a:solidFill>
          <a:ln/>
        </p:spPr>
      </p:sp>
      <p:sp>
        <p:nvSpPr>
          <p:cNvPr id="25" name="text90"/>
          <p:cNvSpPr txBox="1"/>
          <p:nvPr/>
        </p:nvSpPr>
        <p:spPr>
          <a:xfrm>
            <a:off x="9674352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İT işçiləri</a:t>
            </a:r>
            <a:endParaRPr lang="en-US" sz="1200" dirty="0"/>
          </a:p>
        </p:txBody>
      </p:sp>
      <p:sp>
        <p:nvSpPr>
          <p:cNvPr id="26" name="text91"/>
          <p:cNvSpPr txBox="1"/>
          <p:nvPr/>
        </p:nvSpPr>
        <p:spPr>
          <a:xfrm>
            <a:off x="9674352" y="233172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yamaqlar və giriş hüquqlarının idarəsi.</a:t>
            </a:r>
            <a:endParaRPr lang="en-US" sz="1300" dirty="0"/>
          </a:p>
        </p:txBody>
      </p:sp>
      <p:sp>
        <p:nvSpPr>
          <p:cNvPr id="27" name="shape92"/>
          <p:cNvSpPr/>
          <p:nvPr/>
        </p:nvSpPr>
        <p:spPr>
          <a:xfrm>
            <a:off x="498348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/>
        </p:spPr>
      </p:sp>
      <p:sp>
        <p:nvSpPr>
          <p:cNvPr id="28" name="text93"/>
          <p:cNvSpPr txBox="1"/>
          <p:nvPr/>
        </p:nvSpPr>
        <p:spPr>
          <a:xfrm>
            <a:off x="5166360" y="475488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Əsas: </a:t>
            </a:r>
            <a:r>
              <a:rPr lang="en-US" sz="1500" dirty="0">
                <a:solidFill>
                  <a:schemeClr val="tx1"/>
                </a:solidFill>
              </a:rPr>
              <a:t>“Şəxsi məlumatlar haqqında” Qanun.</a:t>
            </a:r>
            <a:endParaRPr lang="en-US" sz="1500" dirty="0"/>
          </a:p>
        </p:txBody>
      </p:sp>
      <p:sp>
        <p:nvSpPr>
          <p:cNvPr id="29" name="shape94"/>
          <p:cNvSpPr/>
          <p:nvPr/>
        </p:nvSpPr>
        <p:spPr>
          <a:xfrm>
            <a:off x="839419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30" name="text95"/>
          <p:cNvSpPr txBox="1"/>
          <p:nvPr/>
        </p:nvSpPr>
        <p:spPr>
          <a:xfrm>
            <a:off x="8577072" y="475488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Ölçmə: </a:t>
            </a:r>
            <a:r>
              <a:rPr lang="en-US" sz="1500" dirty="0">
                <a:solidFill>
                  <a:schemeClr val="bg1"/>
                </a:solidFill>
              </a:rPr>
              <a:t>klikləmə faizi, modulu tamamlayanların sayı.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Səhiyyə sektoru</a:t>
            </a:r>
            <a:endParaRPr lang="en-US" sz="3200" dirty="0"/>
          </a:p>
        </p:txBody>
      </p:sp>
      <p:sp>
        <p:nvSpPr>
          <p:cNvPr id="3" name="text9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32</a:t>
            </a:r>
            <a:endParaRPr lang="en-US" sz="1000" dirty="0"/>
          </a:p>
        </p:txBody>
      </p:sp>
      <p:sp>
        <p:nvSpPr>
          <p:cNvPr id="4" name="shape97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98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text99"/>
          <p:cNvSpPr txBox="1"/>
          <p:nvPr/>
        </p:nvSpPr>
        <p:spPr>
          <a:xfrm>
            <a:off x="548640" y="1097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HIPAA ABŞ qanunudur, lakin texniki tələbləri nümunə kimi istifadə olunur. Azərbaycan üçün hüquqi baza “Şəxsi məlumatlar haqqında” Qanundur.</a:t>
            </a:r>
            <a:endParaRPr lang="en-US" sz="1500" dirty="0"/>
          </a:p>
        </p:txBody>
      </p:sp>
      <p:sp>
        <p:nvSpPr>
          <p:cNvPr id="7" name="shape100"/>
          <p:cNvSpPr/>
          <p:nvPr/>
        </p:nvSpPr>
        <p:spPr>
          <a:xfrm>
            <a:off x="2423160" y="2697480"/>
            <a:ext cx="1371600" cy="13716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101"/>
          <p:cNvSpPr txBox="1"/>
          <p:nvPr/>
        </p:nvSpPr>
        <p:spPr>
          <a:xfrm>
            <a:off x="2423160" y="2697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HIPAA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5 qoruma</a:t>
            </a:r>
            <a:endParaRPr lang="en-US" sz="1400" dirty="0"/>
          </a:p>
        </p:txBody>
      </p:sp>
      <p:sp>
        <p:nvSpPr>
          <p:cNvPr id="9" name="shape102"/>
          <p:cNvSpPr/>
          <p:nvPr/>
        </p:nvSpPr>
        <p:spPr>
          <a:xfrm>
            <a:off x="2308860" y="171450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10" name="text103"/>
          <p:cNvSpPr txBox="1"/>
          <p:nvPr/>
        </p:nvSpPr>
        <p:spPr>
          <a:xfrm>
            <a:off x="2354580" y="17145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Giriş nəzarəti</a:t>
            </a:r>
            <a:endParaRPr lang="en-US" sz="1200" dirty="0"/>
          </a:p>
        </p:txBody>
      </p:sp>
      <p:sp>
        <p:nvSpPr>
          <p:cNvPr id="11" name="shape104"/>
          <p:cNvSpPr/>
          <p:nvPr/>
        </p:nvSpPr>
        <p:spPr>
          <a:xfrm>
            <a:off x="3790188" y="276606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2" name="text105"/>
          <p:cNvSpPr txBox="1"/>
          <p:nvPr/>
        </p:nvSpPr>
        <p:spPr>
          <a:xfrm>
            <a:off x="3835908" y="27660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Audit nəzarəti</a:t>
            </a:r>
            <a:endParaRPr lang="en-US" sz="1200" dirty="0"/>
          </a:p>
        </p:txBody>
      </p:sp>
      <p:sp>
        <p:nvSpPr>
          <p:cNvPr id="13" name="shape106"/>
          <p:cNvSpPr/>
          <p:nvPr/>
        </p:nvSpPr>
        <p:spPr>
          <a:xfrm>
            <a:off x="3223260" y="4137660"/>
            <a:ext cx="160020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</p:sp>
      <p:sp>
        <p:nvSpPr>
          <p:cNvPr id="14" name="text107"/>
          <p:cNvSpPr txBox="1"/>
          <p:nvPr/>
        </p:nvSpPr>
        <p:spPr>
          <a:xfrm>
            <a:off x="3268980" y="41376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Ötürmənin təhlükəsizliyi (TLS 1.2/1.3, VPN, IPsec)</a:t>
            </a:r>
            <a:endParaRPr lang="en-US" sz="1200" dirty="0"/>
          </a:p>
        </p:txBody>
      </p:sp>
      <p:sp>
        <p:nvSpPr>
          <p:cNvPr id="15" name="shape108"/>
          <p:cNvSpPr/>
          <p:nvPr/>
        </p:nvSpPr>
        <p:spPr>
          <a:xfrm>
            <a:off x="1394460" y="432054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6" name="text109"/>
          <p:cNvSpPr txBox="1"/>
          <p:nvPr/>
        </p:nvSpPr>
        <p:spPr>
          <a:xfrm>
            <a:off x="1440180" y="43205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Autentifikasiya</a:t>
            </a:r>
            <a:endParaRPr lang="en-US" sz="1200" dirty="0"/>
          </a:p>
        </p:txBody>
      </p:sp>
      <p:sp>
        <p:nvSpPr>
          <p:cNvPr id="17" name="shape110"/>
          <p:cNvSpPr/>
          <p:nvPr/>
        </p:nvSpPr>
        <p:spPr>
          <a:xfrm>
            <a:off x="827532" y="276606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8" name="text111"/>
          <p:cNvSpPr txBox="1"/>
          <p:nvPr/>
        </p:nvSpPr>
        <p:spPr>
          <a:xfrm>
            <a:off x="873252" y="27660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Bütövlük</a:t>
            </a:r>
            <a:endParaRPr lang="en-US" sz="1200" dirty="0"/>
          </a:p>
        </p:txBody>
      </p:sp>
      <p:sp>
        <p:nvSpPr>
          <p:cNvPr id="19" name="shape112"/>
          <p:cNvSpPr/>
          <p:nvPr/>
        </p:nvSpPr>
        <p:spPr>
          <a:xfrm>
            <a:off x="5852160" y="1783080"/>
            <a:ext cx="282549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0" name="text113"/>
          <p:cNvSpPr txBox="1"/>
          <p:nvPr/>
        </p:nvSpPr>
        <p:spPr>
          <a:xfrm>
            <a:off x="6016752" y="1874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RBAC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hər rola yalnız lazımi hüquqlar (minimum imtiyaz).</a:t>
            </a:r>
            <a:endParaRPr lang="en-US" sz="1400" dirty="0"/>
          </a:p>
        </p:txBody>
      </p:sp>
      <p:sp>
        <p:nvSpPr>
          <p:cNvPr id="21" name="shape114"/>
          <p:cNvSpPr/>
          <p:nvPr/>
        </p:nvSpPr>
        <p:spPr>
          <a:xfrm>
            <a:off x="8814816" y="1783080"/>
            <a:ext cx="282549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2" name="text115"/>
          <p:cNvSpPr txBox="1"/>
          <p:nvPr/>
        </p:nvSpPr>
        <p:spPr>
          <a:xfrm>
            <a:off x="8979408" y="1874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Təcili giriş (break-glass)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həkim rolundan kənar qeydə baxa bilir, lakin vaxtla məhdud, ətraflı jurnallaşdırılır, sonradan nəzərdən keçirilir.</a:t>
            </a:r>
            <a:endParaRPr lang="en-US" sz="1400" dirty="0"/>
          </a:p>
        </p:txBody>
      </p:sp>
      <p:sp>
        <p:nvSpPr>
          <p:cNvPr id="23" name="shape116"/>
          <p:cNvSpPr/>
          <p:nvPr/>
        </p:nvSpPr>
        <p:spPr>
          <a:xfrm>
            <a:off x="5852160" y="3429000"/>
            <a:ext cx="282549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4" name="text117"/>
          <p:cNvSpPr txBox="1"/>
          <p:nvPr/>
        </p:nvSpPr>
        <p:spPr>
          <a:xfrm>
            <a:off x="6016752" y="35204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Audit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kim, hansı xəstənin qeydinə, nə vaxt baxıb, jurnallar SIEM-də.</a:t>
            </a:r>
            <a:endParaRPr lang="en-US" sz="1400" dirty="0"/>
          </a:p>
        </p:txBody>
      </p:sp>
      <p:sp>
        <p:nvSpPr>
          <p:cNvPr id="25" name="shape118"/>
          <p:cNvSpPr/>
          <p:nvPr/>
        </p:nvSpPr>
        <p:spPr>
          <a:xfrm>
            <a:off x="8814816" y="3429000"/>
            <a:ext cx="282549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6" name="text119"/>
          <p:cNvSpPr txBox="1"/>
          <p:nvPr/>
        </p:nvSpPr>
        <p:spPr>
          <a:xfrm>
            <a:off x="8979408" y="35204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Giriş hüquqlarına baxış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rübdə bir dəfə və vəzifə dəyişikliyindən sonra.</a:t>
            </a:r>
            <a:endParaRPr lang="en-US" sz="1400" dirty="0"/>
          </a:p>
        </p:txBody>
      </p:sp>
      <p:sp>
        <p:nvSpPr>
          <p:cNvPr id="27" name="shape120"/>
          <p:cNvSpPr/>
          <p:nvPr/>
        </p:nvSpPr>
        <p:spPr>
          <a:xfrm>
            <a:off x="548640" y="5257800"/>
            <a:ext cx="5431536" cy="109728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/>
        </p:spPr>
      </p:sp>
      <p:sp>
        <p:nvSpPr>
          <p:cNvPr id="28" name="text121"/>
          <p:cNvSpPr txBox="1"/>
          <p:nvPr/>
        </p:nvSpPr>
        <p:spPr>
          <a:xfrm>
            <a:off x="777240" y="52578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Bütövlük: </a:t>
            </a:r>
            <a:r>
              <a:rPr lang="en-US" sz="1500" dirty="0">
                <a:solidFill>
                  <a:schemeClr val="bg1"/>
                </a:solidFill>
              </a:rPr>
              <a:t>səhv dəyişdirilmiş allergiya qeydi birbaşa həyat təhlükəsidir.</a:t>
            </a:r>
            <a:endParaRPr lang="en-US" sz="1500" dirty="0"/>
          </a:p>
        </p:txBody>
      </p:sp>
      <p:sp>
        <p:nvSpPr>
          <p:cNvPr id="29" name="shape122"/>
          <p:cNvSpPr/>
          <p:nvPr/>
        </p:nvSpPr>
        <p:spPr>
          <a:xfrm>
            <a:off x="6208776" y="5257800"/>
            <a:ext cx="5431536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30" name="text123"/>
          <p:cNvSpPr txBox="1"/>
          <p:nvPr/>
        </p:nvSpPr>
        <p:spPr>
          <a:xfrm>
            <a:off x="6437376" y="52578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Əlçatanlıq: </a:t>
            </a:r>
            <a:r>
              <a:rPr lang="en-US" sz="1500" dirty="0">
                <a:solidFill>
                  <a:schemeClr val="bg1"/>
                </a:solidFill>
              </a:rPr>
              <a:t>WannaCry (81 trast, ~19 min ləğv edilmiş görüş), ona görə ehtiyat surət və bərpa planı vacibdir.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Hərbi sektor</a:t>
            </a:r>
            <a:endParaRPr lang="en-US" sz="3200" dirty="0"/>
          </a:p>
        </p:txBody>
      </p:sp>
      <p:sp>
        <p:nvSpPr>
          <p:cNvPr id="3" name="text12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33</a:t>
            </a:r>
            <a:endParaRPr lang="en-US" sz="1000" dirty="0"/>
          </a:p>
        </p:txBody>
      </p:sp>
      <p:sp>
        <p:nvSpPr>
          <p:cNvPr id="4" name="shape125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126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shape127"/>
          <p:cNvSpPr/>
          <p:nvPr/>
        </p:nvSpPr>
        <p:spPr>
          <a:xfrm>
            <a:off x="548640" y="1280160"/>
            <a:ext cx="329184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7" name="text128"/>
          <p:cNvSpPr txBox="1"/>
          <p:nvPr/>
        </p:nvSpPr>
        <p:spPr>
          <a:xfrm>
            <a:off x="731520" y="12801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Prioritet: konfidensiallıq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Dövlət orqanlarında prioritet adətən konfidensiallıqdır, hərbidə daha da kəskindir.</a:t>
            </a:r>
            <a:endParaRPr lang="en-US" sz="1400" dirty="0"/>
          </a:p>
        </p:txBody>
      </p:sp>
      <p:sp>
        <p:nvSpPr>
          <p:cNvPr id="8" name="shape129"/>
          <p:cNvSpPr/>
          <p:nvPr/>
        </p:nvSpPr>
        <p:spPr>
          <a:xfrm>
            <a:off x="548640" y="3154680"/>
            <a:ext cx="329184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</p:sp>
      <p:sp>
        <p:nvSpPr>
          <p:cNvPr id="9" name="text130"/>
          <p:cNvSpPr txBox="1"/>
          <p:nvPr/>
        </p:nvSpPr>
        <p:spPr>
          <a:xfrm>
            <a:off x="731520" y="3154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Stuxnet (2010): </a:t>
            </a:r>
            <a:r>
              <a:rPr lang="en-US" sz="1300" dirty="0">
                <a:solidFill>
                  <a:schemeClr val="tx1"/>
                </a:solidFill>
              </a:rPr>
              <a:t>internetdən təcrid olunmuş şəbəkəyə kənar daşıyıcı ilə zərərli proqram daxil ola bilər.</a:t>
            </a:r>
            <a:endParaRPr lang="en-US" sz="1300" dirty="0"/>
          </a:p>
        </p:txBody>
      </p:sp>
      <p:sp>
        <p:nvSpPr>
          <p:cNvPr id="10" name="shape131"/>
          <p:cNvSpPr/>
          <p:nvPr/>
        </p:nvSpPr>
        <p:spPr>
          <a:xfrm>
            <a:off x="5120640" y="1280160"/>
            <a:ext cx="2011680" cy="1051560"/>
          </a:xfrm>
          <a:prstGeom prst="roundRect">
            <a:avLst>
              <a:gd name="adj" fmla="val 8696"/>
            </a:avLst>
          </a:prstGeom>
          <a:solidFill>
            <a:schemeClr val="accent3"/>
          </a:solidFill>
          <a:ln/>
        </p:spPr>
      </p:sp>
      <p:sp>
        <p:nvSpPr>
          <p:cNvPr id="11" name="text132"/>
          <p:cNvSpPr txBox="1"/>
          <p:nvPr/>
        </p:nvSpPr>
        <p:spPr>
          <a:xfrm>
            <a:off x="5212080" y="12801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3. Simulyasiyalar və kibermüdafiə təlimləri</a:t>
            </a:r>
            <a:endParaRPr lang="en-US" sz="1300" dirty="0"/>
          </a:p>
        </p:txBody>
      </p:sp>
      <p:sp>
        <p:nvSpPr>
          <p:cNvPr id="12" name="shape133"/>
          <p:cNvSpPr/>
          <p:nvPr/>
        </p:nvSpPr>
        <p:spPr>
          <a:xfrm>
            <a:off x="4663440" y="2423160"/>
            <a:ext cx="2926080" cy="1051560"/>
          </a:xfrm>
          <a:prstGeom prst="roundRect">
            <a:avLst>
              <a:gd name="adj" fmla="val 8696"/>
            </a:avLst>
          </a:prstGeom>
          <a:solidFill>
            <a:schemeClr val="accent4"/>
          </a:solidFill>
          <a:ln/>
        </p:spPr>
      </p:sp>
      <p:sp>
        <p:nvSpPr>
          <p:cNvPr id="13" name="text134"/>
          <p:cNvSpPr txBox="1"/>
          <p:nvPr/>
        </p:nvSpPr>
        <p:spPr>
          <a:xfrm>
            <a:off x="4754880" y="242316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2. Rol üzrə təlim: rabitə, IT, komandanlıq heyəti</a:t>
            </a:r>
            <a:endParaRPr lang="en-US" sz="1300" dirty="0"/>
          </a:p>
        </p:txBody>
      </p:sp>
      <p:sp>
        <p:nvSpPr>
          <p:cNvPr id="14" name="shape135"/>
          <p:cNvSpPr/>
          <p:nvPr/>
        </p:nvSpPr>
        <p:spPr>
          <a:xfrm>
            <a:off x="4160520" y="3566160"/>
            <a:ext cx="393192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15" name="text136"/>
          <p:cNvSpPr txBox="1"/>
          <p:nvPr/>
        </p:nvSpPr>
        <p:spPr>
          <a:xfrm>
            <a:off x="4251960" y="35661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1. İllik məcburi baza kursu: fişinq, spear-phishing, smishing, vishing, hadisənin bildirilməsi</a:t>
            </a:r>
            <a:endParaRPr lang="en-US" sz="1300" dirty="0"/>
          </a:p>
        </p:txBody>
      </p:sp>
      <p:sp>
        <p:nvSpPr>
          <p:cNvPr id="16" name="ban"/>
          <p:cNvSpPr/>
          <p:nvPr/>
        </p:nvSpPr>
        <p:spPr>
          <a:xfrm>
            <a:off x="8229600" y="1280160"/>
            <a:ext cx="3410712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38100">
            <a:solidFill>
              <a:srgbClr val="D64933"/>
            </a:solidFill>
            <a:prstDash val="solid"/>
          </a:ln>
        </p:spPr>
      </p:sp>
      <p:sp>
        <p:nvSpPr>
          <p:cNvPr id="17" name="text137"/>
          <p:cNvSpPr txBox="1"/>
          <p:nvPr/>
        </p:nvSpPr>
        <p:spPr>
          <a:xfrm>
            <a:off x="84582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Qadağalar</a:t>
            </a:r>
            <a:endParaRPr lang="en-US" sz="2000" dirty="0"/>
          </a:p>
        </p:txBody>
      </p:sp>
      <p:sp>
        <p:nvSpPr>
          <p:cNvPr id="18" name="text138"/>
          <p:cNvSpPr txBox="1"/>
          <p:nvPr/>
        </p:nvSpPr>
        <p:spPr>
          <a:xfrm>
            <a:off x="8458200" y="19202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kənar daşıyıcılar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sosial şəbəkədə xidmət məlumatı paylaşmaq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şəxsi cihazlar</a:t>
            </a:r>
            <a:endParaRPr lang="en-US" sz="1400" dirty="0"/>
          </a:p>
        </p:txBody>
      </p:sp>
      <p:sp>
        <p:nvSpPr>
          <p:cNvPr id="19" name="text139"/>
          <p:cNvSpPr txBox="1"/>
          <p:nvPr/>
        </p:nvSpPr>
        <p:spPr>
          <a:xfrm>
            <a:off x="8458200" y="3566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Hüquqi çərçivə: </a:t>
            </a:r>
            <a:r>
              <a:rPr lang="en-US" sz="1300" dirty="0">
                <a:solidFill>
                  <a:schemeClr val="tx1"/>
                </a:solidFill>
              </a:rPr>
              <a:t>“Dövlət sirri haqqında” Qanun.</a:t>
            </a:r>
            <a:endParaRPr lang="en-US" sz="1300" dirty="0"/>
          </a:p>
        </p:txBody>
      </p:sp>
      <p:sp>
        <p:nvSpPr>
          <p:cNvPr id="20" name="shape140"/>
          <p:cNvSpPr/>
          <p:nvPr/>
        </p:nvSpPr>
        <p:spPr>
          <a:xfrm>
            <a:off x="548640" y="4846320"/>
            <a:ext cx="11091672" cy="1508760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/>
        </p:spPr>
      </p:sp>
      <p:sp>
        <p:nvSpPr>
          <p:cNvPr id="21" name="text141"/>
          <p:cNvSpPr txBox="1"/>
          <p:nvPr/>
        </p:nvSpPr>
        <p:spPr>
          <a:xfrm>
            <a:off x="822960" y="484632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Beynəlxalq nümunə: </a:t>
            </a:r>
            <a:r>
              <a:rPr lang="en-US" sz="1500" dirty="0">
                <a:solidFill>
                  <a:schemeClr val="bg1"/>
                </a:solidFill>
              </a:rPr>
              <a:t>ABŞ Müdafiə Nazirliyinin Cyber Awareness Challenge proqramı (DC3) şəbəkəyə çıxışı olan bütün hərbi və mülki işçilər, podratçılar üçün illik məcburidir. Ayrıca yarım saatlıq Phishing Awareness Challenge var.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Onlayn ticarət, fırıldaqçılığın aşkarlanması</a:t>
            </a:r>
            <a:endParaRPr lang="en-US" sz="3200" dirty="0"/>
          </a:p>
        </p:txBody>
      </p:sp>
      <p:sp>
        <p:nvSpPr>
          <p:cNvPr id="3" name="text14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5"/>
                </a:solidFill>
              </a:rPr>
              <a:t>34</a:t>
            </a:r>
            <a:endParaRPr lang="en-US" sz="1000" dirty="0"/>
          </a:p>
        </p:txBody>
      </p:sp>
      <p:sp>
        <p:nvSpPr>
          <p:cNvPr id="4" name="shape143"/>
          <p:cNvSpPr/>
          <p:nvPr/>
        </p:nvSpPr>
        <p:spPr>
          <a:xfrm>
            <a:off x="7068312" y="45720"/>
            <a:ext cx="457200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</p:sp>
      <p:sp>
        <p:nvSpPr>
          <p:cNvPr id="5" name="text144"/>
          <p:cNvSpPr txBox="1"/>
          <p:nvPr/>
        </p:nvSpPr>
        <p:spPr>
          <a:xfrm>
            <a:off x="7068312" y="45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VII HİSSƏ: MÜXTƏLİF SEKTORLARDA KİBERTƏHLÜKƏSİZLİK</a:t>
            </a:r>
            <a:endParaRPr lang="en-US" sz="1200" dirty="0"/>
          </a:p>
        </p:txBody>
      </p:sp>
      <p:sp>
        <p:nvSpPr>
          <p:cNvPr id="6" name="text145"/>
          <p:cNvSpPr txBox="1"/>
          <p:nvPr/>
        </p:nvSpPr>
        <p:spPr>
          <a:xfrm>
            <a:off x="548640" y="1097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Fırıldaqçılıq nadir hadisədir: normal əməliyyatlar qat-qat çoxdur. Sadə model “hamısı normaldır” deyib yüksək dəqiqlik göstərər, lakin heç bir fırıldaqçılığı tapmaz.</a:t>
            </a:r>
            <a:endParaRPr lang="en-US" sz="1500" dirty="0"/>
          </a:p>
        </p:txBody>
      </p:sp>
      <p:sp>
        <p:nvSpPr>
          <p:cNvPr id="7" name="shape146"/>
          <p:cNvSpPr/>
          <p:nvPr/>
        </p:nvSpPr>
        <p:spPr>
          <a:xfrm>
            <a:off x="548640" y="1783080"/>
            <a:ext cx="3200400" cy="3685032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8" name="dot147"/>
          <p:cNvSpPr/>
          <p:nvPr/>
        </p:nvSpPr>
        <p:spPr>
          <a:xfrm>
            <a:off x="77724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" name="dot148"/>
          <p:cNvSpPr/>
          <p:nvPr/>
        </p:nvSpPr>
        <p:spPr>
          <a:xfrm>
            <a:off x="105156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" name="dot149"/>
          <p:cNvSpPr/>
          <p:nvPr/>
        </p:nvSpPr>
        <p:spPr>
          <a:xfrm>
            <a:off x="132588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" name="dot150"/>
          <p:cNvSpPr/>
          <p:nvPr/>
        </p:nvSpPr>
        <p:spPr>
          <a:xfrm>
            <a:off x="160020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2" name="dot151"/>
          <p:cNvSpPr/>
          <p:nvPr/>
        </p:nvSpPr>
        <p:spPr>
          <a:xfrm>
            <a:off x="187452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3" name="dot152"/>
          <p:cNvSpPr/>
          <p:nvPr/>
        </p:nvSpPr>
        <p:spPr>
          <a:xfrm>
            <a:off x="214884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4" name="dot153"/>
          <p:cNvSpPr/>
          <p:nvPr/>
        </p:nvSpPr>
        <p:spPr>
          <a:xfrm>
            <a:off x="242316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5" name="dot154"/>
          <p:cNvSpPr/>
          <p:nvPr/>
        </p:nvSpPr>
        <p:spPr>
          <a:xfrm>
            <a:off x="269748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6" name="dot155"/>
          <p:cNvSpPr/>
          <p:nvPr/>
        </p:nvSpPr>
        <p:spPr>
          <a:xfrm>
            <a:off x="297180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7" name="dot156"/>
          <p:cNvSpPr/>
          <p:nvPr/>
        </p:nvSpPr>
        <p:spPr>
          <a:xfrm>
            <a:off x="3246120" y="192024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8" name="dot157"/>
          <p:cNvSpPr/>
          <p:nvPr/>
        </p:nvSpPr>
        <p:spPr>
          <a:xfrm>
            <a:off x="77724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9" name="dot158"/>
          <p:cNvSpPr/>
          <p:nvPr/>
        </p:nvSpPr>
        <p:spPr>
          <a:xfrm>
            <a:off x="105156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0" name="dot159"/>
          <p:cNvSpPr/>
          <p:nvPr/>
        </p:nvSpPr>
        <p:spPr>
          <a:xfrm>
            <a:off x="132588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1" name="dot160"/>
          <p:cNvSpPr/>
          <p:nvPr/>
        </p:nvSpPr>
        <p:spPr>
          <a:xfrm>
            <a:off x="160020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2" name="dot161"/>
          <p:cNvSpPr/>
          <p:nvPr/>
        </p:nvSpPr>
        <p:spPr>
          <a:xfrm>
            <a:off x="187452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3" name="dot162"/>
          <p:cNvSpPr/>
          <p:nvPr/>
        </p:nvSpPr>
        <p:spPr>
          <a:xfrm>
            <a:off x="214884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4" name="dot163"/>
          <p:cNvSpPr/>
          <p:nvPr/>
        </p:nvSpPr>
        <p:spPr>
          <a:xfrm>
            <a:off x="242316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5" name="dot164"/>
          <p:cNvSpPr/>
          <p:nvPr/>
        </p:nvSpPr>
        <p:spPr>
          <a:xfrm>
            <a:off x="269748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6" name="dot165"/>
          <p:cNvSpPr/>
          <p:nvPr/>
        </p:nvSpPr>
        <p:spPr>
          <a:xfrm>
            <a:off x="297180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7" name="dot166"/>
          <p:cNvSpPr/>
          <p:nvPr/>
        </p:nvSpPr>
        <p:spPr>
          <a:xfrm>
            <a:off x="3246120" y="218541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8" name="dot167"/>
          <p:cNvSpPr/>
          <p:nvPr/>
        </p:nvSpPr>
        <p:spPr>
          <a:xfrm>
            <a:off x="77724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29" name="dot168"/>
          <p:cNvSpPr/>
          <p:nvPr/>
        </p:nvSpPr>
        <p:spPr>
          <a:xfrm>
            <a:off x="105156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0" name="dot169"/>
          <p:cNvSpPr/>
          <p:nvPr/>
        </p:nvSpPr>
        <p:spPr>
          <a:xfrm>
            <a:off x="132588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1" name="dot170"/>
          <p:cNvSpPr/>
          <p:nvPr/>
        </p:nvSpPr>
        <p:spPr>
          <a:xfrm>
            <a:off x="160020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2" name="dot171"/>
          <p:cNvSpPr/>
          <p:nvPr/>
        </p:nvSpPr>
        <p:spPr>
          <a:xfrm>
            <a:off x="187452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3" name="dot172"/>
          <p:cNvSpPr/>
          <p:nvPr/>
        </p:nvSpPr>
        <p:spPr>
          <a:xfrm>
            <a:off x="214884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4" name="dot173"/>
          <p:cNvSpPr/>
          <p:nvPr/>
        </p:nvSpPr>
        <p:spPr>
          <a:xfrm>
            <a:off x="242316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5" name="dot174"/>
          <p:cNvSpPr/>
          <p:nvPr/>
        </p:nvSpPr>
        <p:spPr>
          <a:xfrm>
            <a:off x="269748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6" name="dot175"/>
          <p:cNvSpPr/>
          <p:nvPr/>
        </p:nvSpPr>
        <p:spPr>
          <a:xfrm>
            <a:off x="297180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7" name="dot176"/>
          <p:cNvSpPr/>
          <p:nvPr/>
        </p:nvSpPr>
        <p:spPr>
          <a:xfrm>
            <a:off x="3246120" y="245059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8" name="dot177"/>
          <p:cNvSpPr/>
          <p:nvPr/>
        </p:nvSpPr>
        <p:spPr>
          <a:xfrm>
            <a:off x="77724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39" name="dot178"/>
          <p:cNvSpPr/>
          <p:nvPr/>
        </p:nvSpPr>
        <p:spPr>
          <a:xfrm>
            <a:off x="105156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0" name="dot179"/>
          <p:cNvSpPr/>
          <p:nvPr/>
        </p:nvSpPr>
        <p:spPr>
          <a:xfrm>
            <a:off x="132588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1" name="dot180"/>
          <p:cNvSpPr/>
          <p:nvPr/>
        </p:nvSpPr>
        <p:spPr>
          <a:xfrm>
            <a:off x="160020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2" name="dot181"/>
          <p:cNvSpPr/>
          <p:nvPr/>
        </p:nvSpPr>
        <p:spPr>
          <a:xfrm>
            <a:off x="187452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3" name="dot182"/>
          <p:cNvSpPr/>
          <p:nvPr/>
        </p:nvSpPr>
        <p:spPr>
          <a:xfrm>
            <a:off x="214884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4" name="dot183"/>
          <p:cNvSpPr/>
          <p:nvPr/>
        </p:nvSpPr>
        <p:spPr>
          <a:xfrm>
            <a:off x="242316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5" name="dot184"/>
          <p:cNvSpPr/>
          <p:nvPr/>
        </p:nvSpPr>
        <p:spPr>
          <a:xfrm>
            <a:off x="269748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6" name="dot185"/>
          <p:cNvSpPr/>
          <p:nvPr/>
        </p:nvSpPr>
        <p:spPr>
          <a:xfrm>
            <a:off x="297180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7" name="dot186"/>
          <p:cNvSpPr/>
          <p:nvPr/>
        </p:nvSpPr>
        <p:spPr>
          <a:xfrm>
            <a:off x="3246120" y="271576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8" name="dot187"/>
          <p:cNvSpPr/>
          <p:nvPr/>
        </p:nvSpPr>
        <p:spPr>
          <a:xfrm>
            <a:off x="77724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49" name="dot188"/>
          <p:cNvSpPr/>
          <p:nvPr/>
        </p:nvSpPr>
        <p:spPr>
          <a:xfrm>
            <a:off x="105156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0" name="dot189"/>
          <p:cNvSpPr/>
          <p:nvPr/>
        </p:nvSpPr>
        <p:spPr>
          <a:xfrm>
            <a:off x="132588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1" name="dot190"/>
          <p:cNvSpPr/>
          <p:nvPr/>
        </p:nvSpPr>
        <p:spPr>
          <a:xfrm>
            <a:off x="160020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2" name="dot191"/>
          <p:cNvSpPr/>
          <p:nvPr/>
        </p:nvSpPr>
        <p:spPr>
          <a:xfrm>
            <a:off x="187452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3" name="dot192"/>
          <p:cNvSpPr/>
          <p:nvPr/>
        </p:nvSpPr>
        <p:spPr>
          <a:xfrm>
            <a:off x="214884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4" name="dot193"/>
          <p:cNvSpPr/>
          <p:nvPr/>
        </p:nvSpPr>
        <p:spPr>
          <a:xfrm>
            <a:off x="242316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5" name="dot194"/>
          <p:cNvSpPr/>
          <p:nvPr/>
        </p:nvSpPr>
        <p:spPr>
          <a:xfrm>
            <a:off x="269748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6" name="dot195"/>
          <p:cNvSpPr/>
          <p:nvPr/>
        </p:nvSpPr>
        <p:spPr>
          <a:xfrm>
            <a:off x="297180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7" name="dot196"/>
          <p:cNvSpPr/>
          <p:nvPr/>
        </p:nvSpPr>
        <p:spPr>
          <a:xfrm>
            <a:off x="3246120" y="298094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8" name="dot197"/>
          <p:cNvSpPr/>
          <p:nvPr/>
        </p:nvSpPr>
        <p:spPr>
          <a:xfrm>
            <a:off x="77724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59" name="dot198"/>
          <p:cNvSpPr/>
          <p:nvPr/>
        </p:nvSpPr>
        <p:spPr>
          <a:xfrm>
            <a:off x="105156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0" name="dot199"/>
          <p:cNvSpPr/>
          <p:nvPr/>
        </p:nvSpPr>
        <p:spPr>
          <a:xfrm>
            <a:off x="132588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1" name="dot200"/>
          <p:cNvSpPr/>
          <p:nvPr/>
        </p:nvSpPr>
        <p:spPr>
          <a:xfrm>
            <a:off x="160020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2" name="dot201"/>
          <p:cNvSpPr/>
          <p:nvPr/>
        </p:nvSpPr>
        <p:spPr>
          <a:xfrm>
            <a:off x="187452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3" name="dot202"/>
          <p:cNvSpPr/>
          <p:nvPr/>
        </p:nvSpPr>
        <p:spPr>
          <a:xfrm>
            <a:off x="214884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4" name="dot203"/>
          <p:cNvSpPr/>
          <p:nvPr/>
        </p:nvSpPr>
        <p:spPr>
          <a:xfrm>
            <a:off x="242316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5" name="dot204"/>
          <p:cNvSpPr/>
          <p:nvPr/>
        </p:nvSpPr>
        <p:spPr>
          <a:xfrm>
            <a:off x="269748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6" name="dot205"/>
          <p:cNvSpPr/>
          <p:nvPr/>
        </p:nvSpPr>
        <p:spPr>
          <a:xfrm>
            <a:off x="297180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7" name="dot206"/>
          <p:cNvSpPr/>
          <p:nvPr/>
        </p:nvSpPr>
        <p:spPr>
          <a:xfrm>
            <a:off x="3246120" y="324612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8" name="dot207"/>
          <p:cNvSpPr/>
          <p:nvPr/>
        </p:nvSpPr>
        <p:spPr>
          <a:xfrm>
            <a:off x="77724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69" name="dot208"/>
          <p:cNvSpPr/>
          <p:nvPr/>
        </p:nvSpPr>
        <p:spPr>
          <a:xfrm>
            <a:off x="105156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0" name="dot209"/>
          <p:cNvSpPr/>
          <p:nvPr/>
        </p:nvSpPr>
        <p:spPr>
          <a:xfrm>
            <a:off x="132588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1" name="dot210"/>
          <p:cNvSpPr/>
          <p:nvPr/>
        </p:nvSpPr>
        <p:spPr>
          <a:xfrm>
            <a:off x="160020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2" name="dot211"/>
          <p:cNvSpPr/>
          <p:nvPr/>
        </p:nvSpPr>
        <p:spPr>
          <a:xfrm>
            <a:off x="1874520" y="3511296"/>
            <a:ext cx="182880" cy="182880"/>
          </a:xfrm>
          <a:prstGeom prst="ellipse">
            <a:avLst/>
          </a:prstGeom>
          <a:solidFill>
            <a:srgbClr val="D64933"/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73" name="dot212"/>
          <p:cNvSpPr/>
          <p:nvPr/>
        </p:nvSpPr>
        <p:spPr>
          <a:xfrm>
            <a:off x="214884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4" name="dot213"/>
          <p:cNvSpPr/>
          <p:nvPr/>
        </p:nvSpPr>
        <p:spPr>
          <a:xfrm>
            <a:off x="242316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5" name="dot214"/>
          <p:cNvSpPr/>
          <p:nvPr/>
        </p:nvSpPr>
        <p:spPr>
          <a:xfrm>
            <a:off x="269748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6" name="dot215"/>
          <p:cNvSpPr/>
          <p:nvPr/>
        </p:nvSpPr>
        <p:spPr>
          <a:xfrm>
            <a:off x="297180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7" name="dot216"/>
          <p:cNvSpPr/>
          <p:nvPr/>
        </p:nvSpPr>
        <p:spPr>
          <a:xfrm>
            <a:off x="3246120" y="3511296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8" name="dot217"/>
          <p:cNvSpPr/>
          <p:nvPr/>
        </p:nvSpPr>
        <p:spPr>
          <a:xfrm>
            <a:off x="77724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79" name="dot218"/>
          <p:cNvSpPr/>
          <p:nvPr/>
        </p:nvSpPr>
        <p:spPr>
          <a:xfrm>
            <a:off x="105156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0" name="dot219"/>
          <p:cNvSpPr/>
          <p:nvPr/>
        </p:nvSpPr>
        <p:spPr>
          <a:xfrm>
            <a:off x="132588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1" name="dot220"/>
          <p:cNvSpPr/>
          <p:nvPr/>
        </p:nvSpPr>
        <p:spPr>
          <a:xfrm>
            <a:off x="160020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2" name="dot221"/>
          <p:cNvSpPr/>
          <p:nvPr/>
        </p:nvSpPr>
        <p:spPr>
          <a:xfrm>
            <a:off x="187452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3" name="dot222"/>
          <p:cNvSpPr/>
          <p:nvPr/>
        </p:nvSpPr>
        <p:spPr>
          <a:xfrm>
            <a:off x="214884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4" name="dot223"/>
          <p:cNvSpPr/>
          <p:nvPr/>
        </p:nvSpPr>
        <p:spPr>
          <a:xfrm>
            <a:off x="242316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5" name="dot224"/>
          <p:cNvSpPr/>
          <p:nvPr/>
        </p:nvSpPr>
        <p:spPr>
          <a:xfrm>
            <a:off x="269748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6" name="dot225"/>
          <p:cNvSpPr/>
          <p:nvPr/>
        </p:nvSpPr>
        <p:spPr>
          <a:xfrm>
            <a:off x="297180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7" name="dot226"/>
          <p:cNvSpPr/>
          <p:nvPr/>
        </p:nvSpPr>
        <p:spPr>
          <a:xfrm>
            <a:off x="3246120" y="3776472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8" name="dot227"/>
          <p:cNvSpPr/>
          <p:nvPr/>
        </p:nvSpPr>
        <p:spPr>
          <a:xfrm>
            <a:off x="77724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89" name="dot228"/>
          <p:cNvSpPr/>
          <p:nvPr/>
        </p:nvSpPr>
        <p:spPr>
          <a:xfrm>
            <a:off x="105156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0" name="dot229"/>
          <p:cNvSpPr/>
          <p:nvPr/>
        </p:nvSpPr>
        <p:spPr>
          <a:xfrm>
            <a:off x="132588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1" name="dot230"/>
          <p:cNvSpPr/>
          <p:nvPr/>
        </p:nvSpPr>
        <p:spPr>
          <a:xfrm>
            <a:off x="160020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2" name="dot231"/>
          <p:cNvSpPr/>
          <p:nvPr/>
        </p:nvSpPr>
        <p:spPr>
          <a:xfrm>
            <a:off x="187452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3" name="dot232"/>
          <p:cNvSpPr/>
          <p:nvPr/>
        </p:nvSpPr>
        <p:spPr>
          <a:xfrm>
            <a:off x="214884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4" name="dot233"/>
          <p:cNvSpPr/>
          <p:nvPr/>
        </p:nvSpPr>
        <p:spPr>
          <a:xfrm>
            <a:off x="242316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5" name="dot234"/>
          <p:cNvSpPr/>
          <p:nvPr/>
        </p:nvSpPr>
        <p:spPr>
          <a:xfrm>
            <a:off x="269748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6" name="dot235"/>
          <p:cNvSpPr/>
          <p:nvPr/>
        </p:nvSpPr>
        <p:spPr>
          <a:xfrm>
            <a:off x="297180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7" name="dot236"/>
          <p:cNvSpPr/>
          <p:nvPr/>
        </p:nvSpPr>
        <p:spPr>
          <a:xfrm>
            <a:off x="3246120" y="4041648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8" name="dot237"/>
          <p:cNvSpPr/>
          <p:nvPr/>
        </p:nvSpPr>
        <p:spPr>
          <a:xfrm>
            <a:off x="77724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99" name="dot238"/>
          <p:cNvSpPr/>
          <p:nvPr/>
        </p:nvSpPr>
        <p:spPr>
          <a:xfrm>
            <a:off x="105156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0" name="dot239"/>
          <p:cNvSpPr/>
          <p:nvPr/>
        </p:nvSpPr>
        <p:spPr>
          <a:xfrm>
            <a:off x="132588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1" name="dot240"/>
          <p:cNvSpPr/>
          <p:nvPr/>
        </p:nvSpPr>
        <p:spPr>
          <a:xfrm>
            <a:off x="160020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2" name="dot241"/>
          <p:cNvSpPr/>
          <p:nvPr/>
        </p:nvSpPr>
        <p:spPr>
          <a:xfrm>
            <a:off x="187452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3" name="dot242"/>
          <p:cNvSpPr/>
          <p:nvPr/>
        </p:nvSpPr>
        <p:spPr>
          <a:xfrm>
            <a:off x="214884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4" name="dot243"/>
          <p:cNvSpPr/>
          <p:nvPr/>
        </p:nvSpPr>
        <p:spPr>
          <a:xfrm>
            <a:off x="242316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5" name="dot244"/>
          <p:cNvSpPr/>
          <p:nvPr/>
        </p:nvSpPr>
        <p:spPr>
          <a:xfrm>
            <a:off x="269748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6" name="dot245"/>
          <p:cNvSpPr/>
          <p:nvPr/>
        </p:nvSpPr>
        <p:spPr>
          <a:xfrm>
            <a:off x="297180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7" name="dot246"/>
          <p:cNvSpPr/>
          <p:nvPr/>
        </p:nvSpPr>
        <p:spPr>
          <a:xfrm>
            <a:off x="3246120" y="4306824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8" name="dot247"/>
          <p:cNvSpPr/>
          <p:nvPr/>
        </p:nvSpPr>
        <p:spPr>
          <a:xfrm>
            <a:off x="77724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09" name="dot248"/>
          <p:cNvSpPr/>
          <p:nvPr/>
        </p:nvSpPr>
        <p:spPr>
          <a:xfrm>
            <a:off x="105156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0" name="dot249"/>
          <p:cNvSpPr/>
          <p:nvPr/>
        </p:nvSpPr>
        <p:spPr>
          <a:xfrm>
            <a:off x="132588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1" name="dot250"/>
          <p:cNvSpPr/>
          <p:nvPr/>
        </p:nvSpPr>
        <p:spPr>
          <a:xfrm>
            <a:off x="160020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2" name="dot251"/>
          <p:cNvSpPr/>
          <p:nvPr/>
        </p:nvSpPr>
        <p:spPr>
          <a:xfrm>
            <a:off x="187452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3" name="dot252"/>
          <p:cNvSpPr/>
          <p:nvPr/>
        </p:nvSpPr>
        <p:spPr>
          <a:xfrm>
            <a:off x="214884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4" name="dot253"/>
          <p:cNvSpPr/>
          <p:nvPr/>
        </p:nvSpPr>
        <p:spPr>
          <a:xfrm>
            <a:off x="242316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5" name="dot254"/>
          <p:cNvSpPr/>
          <p:nvPr/>
        </p:nvSpPr>
        <p:spPr>
          <a:xfrm>
            <a:off x="269748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6" name="dot255"/>
          <p:cNvSpPr/>
          <p:nvPr/>
        </p:nvSpPr>
        <p:spPr>
          <a:xfrm>
            <a:off x="297180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7" name="dot256"/>
          <p:cNvSpPr/>
          <p:nvPr/>
        </p:nvSpPr>
        <p:spPr>
          <a:xfrm>
            <a:off x="3246120" y="4572000"/>
            <a:ext cx="182880" cy="182880"/>
          </a:xfrm>
          <a:prstGeom prst="ellipse">
            <a:avLst/>
          </a:prstGeom>
          <a:solidFill>
            <a:srgbClr val="AEB9C5"/>
          </a:solidFill>
          <a:ln/>
        </p:spPr>
      </p:sp>
      <p:sp>
        <p:nvSpPr>
          <p:cNvPr id="118" name="text257"/>
          <p:cNvSpPr txBox="1"/>
          <p:nvPr/>
        </p:nvSpPr>
        <p:spPr>
          <a:xfrm>
            <a:off x="731520" y="4892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 fırıldaq, çoxlu normal əməliyyat</a:t>
            </a:r>
            <a:endParaRPr lang="en-US" sz="1300" dirty="0"/>
          </a:p>
        </p:txBody>
      </p:sp>
      <p:sp>
        <p:nvSpPr>
          <p:cNvPr id="119" name="pipe"/>
          <p:cNvSpPr/>
          <p:nvPr/>
        </p:nvSpPr>
        <p:spPr>
          <a:xfrm>
            <a:off x="4224528" y="2011680"/>
            <a:ext cx="0" cy="3200400"/>
          </a:xfrm>
          <a:prstGeom prst="line">
            <a:avLst/>
          </a:prstGeom>
          <a:noFill/>
          <a:ln w="25400">
            <a:solidFill>
              <a:srgbClr val="5E6F82"/>
            </a:solidFill>
            <a:prstDash val="solid"/>
          </a:ln>
        </p:spPr>
      </p:sp>
      <p:sp>
        <p:nvSpPr>
          <p:cNvPr id="120" name="shape258"/>
          <p:cNvSpPr/>
          <p:nvPr/>
        </p:nvSpPr>
        <p:spPr>
          <a:xfrm>
            <a:off x="4023360" y="19110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1" name="text259"/>
          <p:cNvSpPr txBox="1"/>
          <p:nvPr/>
        </p:nvSpPr>
        <p:spPr>
          <a:xfrm>
            <a:off x="4023360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2" name="shape260"/>
          <p:cNvSpPr/>
          <p:nvPr/>
        </p:nvSpPr>
        <p:spPr>
          <a:xfrm>
            <a:off x="4617720" y="1783080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3" name="text261"/>
          <p:cNvSpPr txBox="1"/>
          <p:nvPr/>
        </p:nvSpPr>
        <p:spPr>
          <a:xfrm>
            <a:off x="4754880" y="17830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Məlumat: </a:t>
            </a:r>
            <a:r>
              <a:rPr lang="en-US" sz="1200" dirty="0">
                <a:solidFill>
                  <a:schemeClr val="tx1"/>
                </a:solidFill>
              </a:rPr>
              <a:t>məbləğ, vaxt, cihaz, IP, coğrafiya, istifadəçinin adi davranışı, qısa müddətdə əməliyyat sayı.</a:t>
            </a:r>
            <a:endParaRPr lang="en-US" sz="1200" dirty="0"/>
          </a:p>
        </p:txBody>
      </p:sp>
      <p:sp>
        <p:nvSpPr>
          <p:cNvPr id="124" name="shape262"/>
          <p:cNvSpPr/>
          <p:nvPr/>
        </p:nvSpPr>
        <p:spPr>
          <a:xfrm>
            <a:off x="4023360" y="266090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5" name="text263"/>
          <p:cNvSpPr txBox="1"/>
          <p:nvPr/>
        </p:nvSpPr>
        <p:spPr>
          <a:xfrm>
            <a:off x="4023360" y="2660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6" name="shape264"/>
          <p:cNvSpPr/>
          <p:nvPr/>
        </p:nvSpPr>
        <p:spPr>
          <a:xfrm>
            <a:off x="4617720" y="2532888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7" name="text265"/>
          <p:cNvSpPr txBox="1"/>
          <p:nvPr/>
        </p:nvSpPr>
        <p:spPr>
          <a:xfrm>
            <a:off x="4754880" y="253288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Balanssızlıq: </a:t>
            </a:r>
            <a:r>
              <a:rPr lang="en-US" sz="1200" dirty="0">
                <a:solidFill>
                  <a:schemeClr val="tx1"/>
                </a:solidFill>
              </a:rPr>
              <a:t>SMOTE, sinif çəkiləri, həddin tənzimlənməsi.</a:t>
            </a:r>
            <a:endParaRPr lang="en-US" sz="1200" dirty="0"/>
          </a:p>
        </p:txBody>
      </p:sp>
      <p:sp>
        <p:nvSpPr>
          <p:cNvPr id="128" name="shape266"/>
          <p:cNvSpPr/>
          <p:nvPr/>
        </p:nvSpPr>
        <p:spPr>
          <a:xfrm>
            <a:off x="4023360" y="34107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9" name="text267"/>
          <p:cNvSpPr txBox="1"/>
          <p:nvPr/>
        </p:nvSpPr>
        <p:spPr>
          <a:xfrm>
            <a:off x="402336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0" name="shape268"/>
          <p:cNvSpPr/>
          <p:nvPr/>
        </p:nvSpPr>
        <p:spPr>
          <a:xfrm>
            <a:off x="4617720" y="3282696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31" name="text269"/>
          <p:cNvSpPr txBox="1"/>
          <p:nvPr/>
        </p:nvSpPr>
        <p:spPr>
          <a:xfrm>
            <a:off x="4754880" y="328269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Modellər: </a:t>
            </a:r>
            <a:r>
              <a:rPr lang="en-US" sz="1200" dirty="0">
                <a:solidFill>
                  <a:schemeClr val="tx1"/>
                </a:solidFill>
              </a:rPr>
              <a:t>nəzarətli (Random Forest, XGBoost), nəzarətsiz (Isolation Forest, autoencoder: yeni üsulları tutur).</a:t>
            </a:r>
            <a:endParaRPr lang="en-US" sz="1200" dirty="0"/>
          </a:p>
        </p:txBody>
      </p:sp>
      <p:sp>
        <p:nvSpPr>
          <p:cNvPr id="132" name="shape270"/>
          <p:cNvSpPr/>
          <p:nvPr/>
        </p:nvSpPr>
        <p:spPr>
          <a:xfrm>
            <a:off x="4023360" y="416052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3" name="text271"/>
          <p:cNvSpPr txBox="1"/>
          <p:nvPr/>
        </p:nvSpPr>
        <p:spPr>
          <a:xfrm>
            <a:off x="402336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34" name="shape272"/>
          <p:cNvSpPr/>
          <p:nvPr/>
        </p:nvSpPr>
        <p:spPr>
          <a:xfrm>
            <a:off x="4617720" y="4032504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35" name="text273"/>
          <p:cNvSpPr txBox="1"/>
          <p:nvPr/>
        </p:nvSpPr>
        <p:spPr>
          <a:xfrm>
            <a:off x="4754880" y="403250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Metriklər: </a:t>
            </a:r>
            <a:r>
              <a:rPr lang="en-US" sz="1200" dirty="0">
                <a:solidFill>
                  <a:schemeClr val="tx1"/>
                </a:solidFill>
              </a:rPr>
              <a:t>dəqiqlik (accuracy) yox, precision, recall, F1, precision-recall əyrisi.</a:t>
            </a:r>
            <a:endParaRPr lang="en-US" sz="1200" dirty="0"/>
          </a:p>
        </p:txBody>
      </p:sp>
      <p:sp>
        <p:nvSpPr>
          <p:cNvPr id="136" name="shape274"/>
          <p:cNvSpPr/>
          <p:nvPr/>
        </p:nvSpPr>
        <p:spPr>
          <a:xfrm>
            <a:off x="4023360" y="49103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7" name="text275"/>
          <p:cNvSpPr txBox="1"/>
          <p:nvPr/>
        </p:nvSpPr>
        <p:spPr>
          <a:xfrm>
            <a:off x="4023360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38" name="shape276"/>
          <p:cNvSpPr/>
          <p:nvPr/>
        </p:nvSpPr>
        <p:spPr>
          <a:xfrm>
            <a:off x="4617720" y="4782312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39" name="text277"/>
          <p:cNvSpPr txBox="1"/>
          <p:nvPr/>
        </p:nvSpPr>
        <p:spPr>
          <a:xfrm>
            <a:off x="4754880" y="47823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Əməliyyat: </a:t>
            </a:r>
            <a:r>
              <a:rPr lang="en-US" sz="1200" dirty="0">
                <a:solidFill>
                  <a:schemeClr val="tx1"/>
                </a:solidFill>
              </a:rPr>
              <a:t>real vaxt qiymətləndirmə, əlavə təsdiq və ya insan baxışı, yenidən öyrətmə.</a:t>
            </a:r>
            <a:endParaRPr lang="en-US" sz="1200" dirty="0"/>
          </a:p>
        </p:txBody>
      </p:sp>
      <p:sp>
        <p:nvSpPr>
          <p:cNvPr id="140" name="shape278"/>
          <p:cNvSpPr/>
          <p:nvPr/>
        </p:nvSpPr>
        <p:spPr>
          <a:xfrm>
            <a:off x="9006840" y="1783080"/>
            <a:ext cx="2633472" cy="3685032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/>
        </p:spPr>
      </p:sp>
      <p:sp>
        <p:nvSpPr>
          <p:cNvPr id="141" name="text279"/>
          <p:cNvSpPr txBox="1"/>
          <p:nvPr/>
        </p:nvSpPr>
        <p:spPr>
          <a:xfrm>
            <a:off x="91897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Metriklər</a:t>
            </a:r>
            <a:endParaRPr lang="en-US" sz="1800" dirty="0"/>
          </a:p>
        </p:txBody>
      </p:sp>
      <p:sp>
        <p:nvSpPr>
          <p:cNvPr id="142" name="shape280"/>
          <p:cNvSpPr/>
          <p:nvPr/>
        </p:nvSpPr>
        <p:spPr>
          <a:xfrm>
            <a:off x="9189720" y="2331720"/>
            <a:ext cx="137160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43" name="text281"/>
          <p:cNvSpPr txBox="1"/>
          <p:nvPr/>
        </p:nvSpPr>
        <p:spPr>
          <a:xfrm>
            <a:off x="918972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44" name="shape282"/>
          <p:cNvSpPr/>
          <p:nvPr/>
        </p:nvSpPr>
        <p:spPr>
          <a:xfrm>
            <a:off x="9189720" y="2788920"/>
            <a:ext cx="137160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45" name="text283"/>
          <p:cNvSpPr txBox="1"/>
          <p:nvPr/>
        </p:nvSpPr>
        <p:spPr>
          <a:xfrm>
            <a:off x="918972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recall</a:t>
            </a:r>
            <a:endParaRPr lang="en-US" sz="1300" dirty="0"/>
          </a:p>
        </p:txBody>
      </p:sp>
      <p:sp>
        <p:nvSpPr>
          <p:cNvPr id="146" name="shape284"/>
          <p:cNvSpPr/>
          <p:nvPr/>
        </p:nvSpPr>
        <p:spPr>
          <a:xfrm>
            <a:off x="9189720" y="3246120"/>
            <a:ext cx="137160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47" name="text285"/>
          <p:cNvSpPr txBox="1"/>
          <p:nvPr/>
        </p:nvSpPr>
        <p:spPr>
          <a:xfrm>
            <a:off x="918972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F1</a:t>
            </a:r>
            <a:endParaRPr lang="en-US" sz="1300" dirty="0"/>
          </a:p>
        </p:txBody>
      </p:sp>
      <p:sp>
        <p:nvSpPr>
          <p:cNvPr id="148" name="text286"/>
          <p:cNvSpPr txBox="1"/>
          <p:nvPr/>
        </p:nvSpPr>
        <p:spPr>
          <a:xfrm>
            <a:off x="9189720" y="37947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Yalançı müsbət: </a:t>
            </a:r>
            <a:r>
              <a:rPr lang="en-US" sz="1300" dirty="0">
                <a:solidFill>
                  <a:schemeClr val="bg1"/>
                </a:solidFill>
              </a:rPr>
              <a:t>müştərini narahat edir.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Yalançı mənfi: </a:t>
            </a:r>
            <a:r>
              <a:rPr lang="en-US" sz="1300" dirty="0">
                <a:solidFill>
                  <a:schemeClr val="bg1"/>
                </a:solidFill>
              </a:rPr>
              <a:t>pul itirir.</a:t>
            </a:r>
            <a:endParaRPr lang="en-US" sz="1300" dirty="0"/>
          </a:p>
        </p:txBody>
      </p:sp>
      <p:sp>
        <p:nvSpPr>
          <p:cNvPr id="149" name="shape287"/>
          <p:cNvSpPr/>
          <p:nvPr/>
        </p:nvSpPr>
        <p:spPr>
          <a:xfrm>
            <a:off x="548640" y="557784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</p:sp>
      <p:sp>
        <p:nvSpPr>
          <p:cNvPr id="150" name="text288"/>
          <p:cNvSpPr txBox="1"/>
          <p:nvPr/>
        </p:nvSpPr>
        <p:spPr>
          <a:xfrm>
            <a:off x="777240" y="5577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Ödəniş məlumatları üçün PCI DSS. </a:t>
            </a:r>
            <a:r>
              <a:rPr lang="en-US" sz="1400" dirty="0">
                <a:solidFill>
                  <a:schemeClr val="tx1"/>
                </a:solidFill>
              </a:rPr>
              <a:t>Target (2013): ödəniş terminalındakı zərərli proqram 40 milyon kartın məlumatına gətirib çıxardı.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Yekun</a:t>
            </a:r>
            <a:endParaRPr lang="en-US" sz="3200" dirty="0"/>
          </a:p>
        </p:txBody>
      </p:sp>
      <p:sp>
        <p:nvSpPr>
          <p:cNvPr id="3" name="text28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2"/>
                </a:solidFill>
              </a:rPr>
              <a:t>35</a:t>
            </a:r>
            <a:endParaRPr lang="en-US" sz="1000" dirty="0"/>
          </a:p>
        </p:txBody>
      </p:sp>
      <p:sp>
        <p:nvSpPr>
          <p:cNvPr id="4" name="shape290"/>
          <p:cNvSpPr/>
          <p:nvPr/>
        </p:nvSpPr>
        <p:spPr>
          <a:xfrm>
            <a:off x="548640" y="1234440"/>
            <a:ext cx="3557016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5" name="shape291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292"/>
          <p:cNvSpPr txBox="1"/>
          <p:nvPr/>
        </p:nvSpPr>
        <p:spPr>
          <a:xfrm>
            <a:off x="7772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293"/>
          <p:cNvSpPr txBox="1"/>
          <p:nvPr/>
        </p:nvSpPr>
        <p:spPr>
          <a:xfrm>
            <a:off x="777240" y="21031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Təhlükəsizlik bir dəfəlik layihə deyil, planlaşdır → icra et → yoxla → təkmilləşdir dövrüdür. Mühit daim dəyişir.</a:t>
            </a:r>
            <a:endParaRPr lang="en-US" sz="1600" dirty="0"/>
          </a:p>
        </p:txBody>
      </p:sp>
      <p:sp>
        <p:nvSpPr>
          <p:cNvPr id="8" name="shape294"/>
          <p:cNvSpPr/>
          <p:nvPr/>
        </p:nvSpPr>
        <p:spPr>
          <a:xfrm>
            <a:off x="4315968" y="1234440"/>
            <a:ext cx="3557016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9" name="shape295"/>
          <p:cNvSpPr/>
          <p:nvPr/>
        </p:nvSpPr>
        <p:spPr>
          <a:xfrm>
            <a:off x="4544568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296"/>
          <p:cNvSpPr txBox="1"/>
          <p:nvPr/>
        </p:nvSpPr>
        <p:spPr>
          <a:xfrm>
            <a:off x="454456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297"/>
          <p:cNvSpPr txBox="1"/>
          <p:nvPr/>
        </p:nvSpPr>
        <p:spPr>
          <a:xfrm>
            <a:off x="4544568" y="21031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İnsan amili ən çox hədəf alınan sahədir. Texnologiya yalnız təlim və prosedurla birlikdə nəticə verir.</a:t>
            </a:r>
            <a:endParaRPr lang="en-US" sz="1600" dirty="0"/>
          </a:p>
        </p:txBody>
      </p:sp>
      <p:sp>
        <p:nvSpPr>
          <p:cNvPr id="12" name="shape298"/>
          <p:cNvSpPr/>
          <p:nvPr/>
        </p:nvSpPr>
        <p:spPr>
          <a:xfrm>
            <a:off x="8083296" y="1234440"/>
            <a:ext cx="3557016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3" name="shape299"/>
          <p:cNvSpPr/>
          <p:nvPr/>
        </p:nvSpPr>
        <p:spPr>
          <a:xfrm>
            <a:off x="8311896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300"/>
          <p:cNvSpPr txBox="1"/>
          <p:nvPr/>
        </p:nvSpPr>
        <p:spPr>
          <a:xfrm>
            <a:off x="831189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301"/>
          <p:cNvSpPr txBox="1"/>
          <p:nvPr/>
        </p:nvSpPr>
        <p:spPr>
          <a:xfrm>
            <a:off x="8311896" y="21031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Autentifikasiya və giriş nəzarəti hər sektorda əsas qorunmadır. Siyasət olmadan ayrı-ayrı alətlər sistem yaratmır.</a:t>
            </a:r>
            <a:endParaRPr lang="en-US" sz="1600" dirty="0"/>
          </a:p>
        </p:txBody>
      </p:sp>
      <p:sp>
        <p:nvSpPr>
          <p:cNvPr id="16" name="shape302"/>
          <p:cNvSpPr/>
          <p:nvPr/>
        </p:nvSpPr>
        <p:spPr>
          <a:xfrm>
            <a:off x="548640" y="4206240"/>
            <a:ext cx="11091672" cy="128016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</p:sp>
      <p:sp>
        <p:nvSpPr>
          <p:cNvPr id="17" name="text303"/>
          <p:cNvSpPr txBox="1"/>
          <p:nvPr/>
        </p:nvSpPr>
        <p:spPr>
          <a:xfrm>
            <a:off x="777240" y="416052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“</a:t>
            </a:r>
            <a:endParaRPr lang="en-US" sz="7200" dirty="0"/>
          </a:p>
        </p:txBody>
      </p:sp>
      <p:sp>
        <p:nvSpPr>
          <p:cNvPr id="18" name="text304"/>
          <p:cNvSpPr txBox="1"/>
          <p:nvPr/>
        </p:nvSpPr>
        <p:spPr>
          <a:xfrm>
            <a:off x="1645920" y="420624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Texniki qorunma insan davranışı olmadan işləmir.</a:t>
            </a:r>
            <a:endParaRPr lang="en-US" sz="2800" dirty="0"/>
          </a:p>
        </p:txBody>
      </p:sp>
      <p:sp>
        <p:nvSpPr>
          <p:cNvPr id="19" name="text305"/>
          <p:cNvSpPr txBox="1"/>
          <p:nvPr/>
        </p:nvSpPr>
        <p:spPr>
          <a:xfrm>
            <a:off x="548640" y="56692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</a:rPr>
              <a:t>Diqqətinizə görə təşəkkür edirik!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oSec">
  <a:themeElements>
    <a:clrScheme name="InfoSec">
      <a:dk1>
        <a:srgbClr val="0B1F33"/>
      </a:dk1>
      <a:lt1>
        <a:srgbClr val="FFFFFF"/>
      </a:lt1>
      <a:dk2>
        <a:srgbClr val="14324F"/>
      </a:dk2>
      <a:lt2>
        <a:srgbClr val="EAF0F5"/>
      </a:lt2>
      <a:accent1>
        <a:srgbClr val="0E8A8A"/>
      </a:accent1>
      <a:accent2>
        <a:srgbClr val="E0A030"/>
      </a:accent2>
      <a:accent3>
        <a:srgbClr val="D64933"/>
      </a:accent3>
      <a:accent4>
        <a:srgbClr val="3A6EA5"/>
      </a:accent4>
      <a:accent5>
        <a:srgbClr val="5E6F82"/>
      </a:accent5>
      <a:accent6>
        <a:srgbClr val="2E7D5B"/>
      </a:accent6>
      <a:hlink>
        <a:srgbClr val="3A6EA5"/>
      </a:hlink>
      <a:folHlink>
        <a:srgbClr val="5E6F82"/>
      </a:folHlink>
    </a:clrScheme>
    <a:fontScheme name="InfoSe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foSec">
  <a:themeElements>
    <a:clrScheme name="InfoSec">
      <a:dk1>
        <a:srgbClr val="0B1F33"/>
      </a:dk1>
      <a:lt1>
        <a:srgbClr val="FFFFFF"/>
      </a:lt1>
      <a:dk2>
        <a:srgbClr val="14324F"/>
      </a:dk2>
      <a:lt2>
        <a:srgbClr val="EAF0F5"/>
      </a:lt2>
      <a:accent1>
        <a:srgbClr val="0E8A8A"/>
      </a:accent1>
      <a:accent2>
        <a:srgbClr val="E0A030"/>
      </a:accent2>
      <a:accent3>
        <a:srgbClr val="D64933"/>
      </a:accent3>
      <a:accent4>
        <a:srgbClr val="3A6EA5"/>
      </a:accent4>
      <a:accent5>
        <a:srgbClr val="5E6F82"/>
      </a:accent5>
      <a:accent6>
        <a:srgbClr val="2E7D5B"/>
      </a:accent6>
      <a:hlink>
        <a:srgbClr val="3A6EA5"/>
      </a:hlink>
      <a:folHlink>
        <a:srgbClr val="5E6F82"/>
      </a:folHlink>
    </a:clrScheme>
    <a:fontScheme name="InfoSe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nfoSec">
  <a:themeElements>
    <a:clrScheme name="InfoSec">
      <a:dk1>
        <a:srgbClr val="0B1F33"/>
      </a:dk1>
      <a:lt1>
        <a:srgbClr val="FFFFFF"/>
      </a:lt1>
      <a:dk2>
        <a:srgbClr val="14324F"/>
      </a:dk2>
      <a:lt2>
        <a:srgbClr val="EAF0F5"/>
      </a:lt2>
      <a:accent1>
        <a:srgbClr val="0E8A8A"/>
      </a:accent1>
      <a:accent2>
        <a:srgbClr val="E0A030"/>
      </a:accent2>
      <a:accent3>
        <a:srgbClr val="D64933"/>
      </a:accent3>
      <a:accent4>
        <a:srgbClr val="3A6EA5"/>
      </a:accent4>
      <a:accent5>
        <a:srgbClr val="5E6F82"/>
      </a:accent5>
      <a:accent6>
        <a:srgbClr val="2E7D5B"/>
      </a:accent6>
      <a:hlink>
        <a:srgbClr val="3A6EA5"/>
      </a:hlink>
      <a:folHlink>
        <a:srgbClr val="5E6F82"/>
      </a:folHlink>
    </a:clrScheme>
    <a:fontScheme name="InfoSe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4000</Words>
  <Application>Microsoft Office PowerPoint</Application>
  <PresentationFormat>Widescreen</PresentationFormat>
  <Paragraphs>714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Cambria</vt:lpstr>
      <vt:lpstr>Google Sans</vt:lpstr>
      <vt:lpstr>InfoSec</vt:lpstr>
      <vt:lpstr>InfoSec</vt:lpstr>
      <vt:lpstr>İnformasiya Təhlükəsizliyi</vt:lpstr>
      <vt:lpstr>İnformasiya təhlükəsizliyi nədir?</vt:lpstr>
      <vt:lpstr>Nə üçün vacibdir?</vt:lpstr>
      <vt:lpstr>CIA üçlüyü</vt:lpstr>
      <vt:lpstr>Əsas terminlər zənciri</vt:lpstr>
      <vt:lpstr>Təhdidlərin təsnifatı</vt:lpstr>
      <vt:lpstr>Güncəl statistika</vt:lpstr>
      <vt:lpstr>Təhlükəsizliyi təmin etmək şərtləri</vt:lpstr>
      <vt:lpstr>Təhlükəsizlik mühiti niyə dəyişir?</vt:lpstr>
      <vt:lpstr>SDLC və Secure SDLC</vt:lpstr>
      <vt:lpstr>Hər mərhələdə nə edilir?</vt:lpstr>
      <vt:lpstr>Menecerin davamlı öhdəlikləri</vt:lpstr>
      <vt:lpstr>Nüfuzetmə testi</vt:lpstr>
      <vt:lpstr>CERT-in tarixçəsi</vt:lpstr>
      <vt:lpstr>CERT necə işləyir?</vt:lpstr>
      <vt:lpstr>Fiziki, informasiya və kibertəhlükəsizlik</vt:lpstr>
      <vt:lpstr>Üç sahə bir-birini tamamlayır</vt:lpstr>
      <vt:lpstr>Məqsəd və predmet</vt:lpstr>
      <vt:lpstr>Təhlükəsizlik siyasəti</vt:lpstr>
      <vt:lpstr>Yaxşı siyasət necə hazırlanır?</vt:lpstr>
      <vt:lpstr>Fiziki təhlükəsizlik və kimin məsuliyyəti</vt:lpstr>
      <vt:lpstr>HVAC: həm mühit, həm risk</vt:lpstr>
      <vt:lpstr>HVAC-ın idarə etdiyi dörd xüsusiyyət</vt:lpstr>
      <vt:lpstr>Şəxsi Hücum Təcrübəsi</vt:lpstr>
      <vt:lpstr>Saxta Sayt</vt:lpstr>
      <vt:lpstr>Hücumçunun serveri</vt:lpstr>
      <vt:lpstr>Təhlilin sərhədi və mövcud tədbirlər</vt:lpstr>
      <vt:lpstr>Boşluq 1, yalnız parolla giriş</vt:lpstr>
      <vt:lpstr>Boşluq 2, giriş nəzarətinin dövrədən çıxması</vt:lpstr>
      <vt:lpstr>Risk matrisi</vt:lpstr>
      <vt:lpstr>Fəaliyyət planı və yeni siyasət</vt:lpstr>
      <vt:lpstr>İşçi təlimi</vt:lpstr>
      <vt:lpstr>Bank sektoru, ikinci faktor</vt:lpstr>
      <vt:lpstr>Təhsil sektoru</vt:lpstr>
      <vt:lpstr>Səhiyyə sektoru</vt:lpstr>
      <vt:lpstr>Hərbi sektor</vt:lpstr>
      <vt:lpstr>Onlayn ticarət, fırıldaqçılığın aşkarlanması</vt:lpstr>
      <vt:lpstr>Yekun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İnformasiya Təhlükəsizliyi</dc:title>
  <dc:subject>PptxGenJS Presentation</dc:subject>
  <dc:creator>PptxGenJS</dc:creator>
  <cp:lastModifiedBy>Ferux</cp:lastModifiedBy>
  <cp:revision>11</cp:revision>
  <dcterms:created xsi:type="dcterms:W3CDTF">2026-10-11T13:10:55Z</dcterms:created>
  <dcterms:modified xsi:type="dcterms:W3CDTF">2026-10-11T19:47:51Z</dcterms:modified>
</cp:coreProperties>
</file>